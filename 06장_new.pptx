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87" r:id="rId5"/>
    <p:sldId id="259" r:id="rId6"/>
    <p:sldId id="260" r:id="rId7"/>
    <p:sldId id="273" r:id="rId8"/>
    <p:sldId id="262" r:id="rId9"/>
    <p:sldId id="281" r:id="rId10"/>
    <p:sldId id="289" r:id="rId11"/>
    <p:sldId id="290" r:id="rId12"/>
    <p:sldId id="291" r:id="rId13"/>
    <p:sldId id="295" r:id="rId14"/>
    <p:sldId id="292" r:id="rId15"/>
    <p:sldId id="293" r:id="rId16"/>
    <p:sldId id="261" r:id="rId17"/>
    <p:sldId id="276" r:id="rId18"/>
    <p:sldId id="263" r:id="rId19"/>
    <p:sldId id="272" r:id="rId20"/>
    <p:sldId id="285" r:id="rId21"/>
    <p:sldId id="277" r:id="rId22"/>
    <p:sldId id="282" r:id="rId23"/>
    <p:sldId id="278" r:id="rId24"/>
    <p:sldId id="265" r:id="rId25"/>
    <p:sldId id="286" r:id="rId26"/>
    <p:sldId id="264" r:id="rId27"/>
    <p:sldId id="266" r:id="rId28"/>
    <p:sldId id="283" r:id="rId29"/>
    <p:sldId id="284" r:id="rId30"/>
    <p:sldId id="279" r:id="rId31"/>
    <p:sldId id="268" r:id="rId32"/>
    <p:sldId id="267" r:id="rId33"/>
    <p:sldId id="269" r:id="rId34"/>
    <p:sldId id="270" r:id="rId35"/>
    <p:sldId id="288" r:id="rId36"/>
    <p:sldId id="271" r:id="rId37"/>
  </p:sldIdLst>
  <p:sldSz cx="9144000" cy="6858000" type="screen4x3"/>
  <p:notesSz cx="7102475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6" autoAdjust="0"/>
    <p:restoredTop sz="94660"/>
  </p:normalViewPr>
  <p:slideViewPr>
    <p:cSldViewPr>
      <p:cViewPr>
        <p:scale>
          <a:sx n="66" d="100"/>
          <a:sy n="66" d="100"/>
        </p:scale>
        <p:origin x="1452" y="3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2026-04-01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4000" b="0">
                <a:solidFill>
                  <a:schemeClr val="tx2"/>
                </a:solidFill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  <a:lvl2pPr>
              <a:defRPr b="0">
                <a:latin typeface="Rix고딕 M" panose="02020603020101020101" pitchFamily="18" charset="-127"/>
                <a:ea typeface="Rix고딕 M" panose="02020603020101020101" pitchFamily="18" charset="-127"/>
              </a:defRPr>
            </a:lvl2pPr>
            <a:lvl3pPr>
              <a:defRPr b="0">
                <a:latin typeface="Rix고딕 M" panose="02020603020101020101" pitchFamily="18" charset="-127"/>
                <a:ea typeface="Rix고딕 M" panose="02020603020101020101" pitchFamily="18" charset="-127"/>
              </a:defRPr>
            </a:lvl3pPr>
            <a:lvl4pPr>
              <a:defRPr b="0">
                <a:latin typeface="Rix고딕 M" panose="02020603020101020101" pitchFamily="18" charset="-127"/>
                <a:ea typeface="Rix고딕 M" panose="02020603020101020101" pitchFamily="18" charset="-127"/>
              </a:defRPr>
            </a:lvl4pPr>
            <a:lvl5pPr>
              <a:defRPr b="0">
                <a:latin typeface="Rix고딕 M" panose="02020603020101020101" pitchFamily="18" charset="-127"/>
                <a:ea typeface="Rix고딕 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2026-04-01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2026-04-01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2026-04-01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2026-04-01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2026-04-01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2026-04-01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2026-04-01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2026-04-01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2026-04-01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2026-04-01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1pPr>
          </a:lstStyle>
          <a:p>
            <a:fld id="{FB30EDBD-1C2D-4C1E-B459-B60219FAB484}" type="datetimeFigureOut">
              <a:rPr lang="ko-KR" altLang="en-US" smtClean="0"/>
              <a:pPr/>
              <a:t>2026-04-01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1pPr>
          </a:lstStyle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951746"/>
            <a:ext cx="7772400" cy="1470025"/>
          </a:xfrm>
        </p:spPr>
        <p:txBody>
          <a:bodyPr>
            <a:noAutofit/>
          </a:bodyPr>
          <a:lstStyle/>
          <a:p>
            <a:r>
              <a:rPr lang="ko-KR" altLang="en-US">
                <a:latin typeface="Rix고딕 B" panose="02020603020101020101" pitchFamily="18" charset="-127"/>
                <a:ea typeface="Rix고딕 B" panose="02020603020101020101" pitchFamily="18" charset="-127"/>
              </a:rPr>
              <a:t>제</a:t>
            </a:r>
            <a:r>
              <a:rPr lang="en-US" altLang="ko-KR">
                <a:latin typeface="Rix고딕 B" panose="02020603020101020101" pitchFamily="18" charset="-127"/>
                <a:ea typeface="Rix고딕 B" panose="02020603020101020101" pitchFamily="18" charset="-127"/>
              </a:rPr>
              <a:t>6</a:t>
            </a:r>
            <a:r>
              <a:rPr lang="ko-KR" altLang="en-US" dirty="0">
                <a:latin typeface="Rix고딕 B" panose="02020603020101020101" pitchFamily="18" charset="-127"/>
                <a:ea typeface="Rix고딕 B" panose="02020603020101020101" pitchFamily="18" charset="-127"/>
              </a:rPr>
              <a:t>장 </a:t>
            </a:r>
            <a:br>
              <a:rPr lang="en-US" altLang="ko-KR" dirty="0">
                <a:latin typeface="Rix고딕 B" panose="02020603020101020101" pitchFamily="18" charset="-127"/>
                <a:ea typeface="Rix고딕 B" panose="02020603020101020101" pitchFamily="18" charset="-127"/>
              </a:rPr>
            </a:br>
            <a:r>
              <a:rPr lang="ko-KR" altLang="en-US" dirty="0">
                <a:solidFill>
                  <a:srgbClr val="0000FF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응용 프레임워크</a:t>
            </a:r>
            <a:r>
              <a:rPr lang="ko-KR" altLang="en-US" dirty="0">
                <a:latin typeface="Rix고딕 B" panose="02020603020101020101" pitchFamily="18" charset="-127"/>
                <a:ea typeface="Rix고딕 B" panose="02020603020101020101" pitchFamily="18" charset="-127"/>
              </a:rPr>
              <a:t>와 </a:t>
            </a:r>
            <a:br>
              <a:rPr lang="en-US" altLang="ko-KR" dirty="0">
                <a:latin typeface="Rix고딕 B" panose="02020603020101020101" pitchFamily="18" charset="-127"/>
                <a:ea typeface="Rix고딕 B" panose="02020603020101020101" pitchFamily="18" charset="-127"/>
              </a:rPr>
            </a:br>
            <a:r>
              <a:rPr lang="ko-KR" altLang="en-US" dirty="0">
                <a:latin typeface="Rix고딕 B" panose="02020603020101020101" pitchFamily="18" charset="-127"/>
                <a:ea typeface="Rix고딕 B" panose="02020603020101020101" pitchFamily="18" charset="-127"/>
              </a:rPr>
              <a:t>가상함수의 만남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>
                <a:latin typeface="Rix고딕 B" panose="02020603020101020101" pitchFamily="18" charset="-127"/>
                <a:ea typeface="Rix고딕 B" panose="02020603020101020101" pitchFamily="18" charset="-127"/>
              </a:rPr>
              <a:t>변영철 교수</a:t>
            </a:r>
            <a:endParaRPr lang="en-US" altLang="ko-KR" dirty="0">
              <a:latin typeface="Rix고딕 B" panose="02020603020101020101" pitchFamily="18" charset="-127"/>
              <a:ea typeface="Rix고딕 B" panose="02020603020101020101" pitchFamily="18" charset="-127"/>
            </a:endParaRPr>
          </a:p>
          <a:p>
            <a:r>
              <a:rPr lang="en-US" altLang="ko-KR" dirty="0">
                <a:latin typeface="Rix고딕 B" panose="02020603020101020101" pitchFamily="18" charset="-127"/>
                <a:ea typeface="Rix고딕 B" panose="02020603020101020101" pitchFamily="18" charset="-127"/>
              </a:rPr>
              <a:t>(ycb@jejunu.ac.kr)</a:t>
            </a:r>
            <a:endParaRPr lang="ko-KR" altLang="en-US" dirty="0"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응용 프로그램들이 비슷한 이유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9324" y="1428668"/>
            <a:ext cx="5400600" cy="4525963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윈도우 특징</a:t>
            </a:r>
            <a:endParaRPr lang="en-US" altLang="ko-KR" sz="2400" dirty="0"/>
          </a:p>
          <a:p>
            <a:pPr lvl="1"/>
            <a:r>
              <a:rPr lang="en-US" altLang="ko-KR" sz="2000" dirty="0">
                <a:solidFill>
                  <a:srgbClr val="FF0000"/>
                </a:solidFill>
              </a:rPr>
              <a:t>GUI </a:t>
            </a:r>
            <a:r>
              <a:rPr lang="en-US" altLang="ko-KR" sz="2000" dirty="0"/>
              <a:t>(Graphic User Interface)</a:t>
            </a:r>
          </a:p>
          <a:p>
            <a:pPr lvl="1"/>
            <a:r>
              <a:rPr lang="ko-KR" altLang="en-US" sz="2000" dirty="0"/>
              <a:t>멀티 </a:t>
            </a:r>
            <a:r>
              <a:rPr lang="ko-KR" altLang="en-US" sz="2000" dirty="0" err="1"/>
              <a:t>태스킹</a:t>
            </a:r>
            <a:endParaRPr lang="en-US" altLang="ko-KR" sz="2000" dirty="0"/>
          </a:p>
          <a:p>
            <a:pPr marL="268288" indent="-268288"/>
            <a:r>
              <a:rPr lang="ko-KR" altLang="en-US" sz="2400" dirty="0"/>
              <a:t>응용 프로그램들이 </a:t>
            </a:r>
            <a:r>
              <a:rPr lang="ko-KR" altLang="en-US" sz="2400" dirty="0">
                <a:solidFill>
                  <a:srgbClr val="FF0000"/>
                </a:solidFill>
              </a:rPr>
              <a:t>서로 모양이 </a:t>
            </a:r>
            <a:r>
              <a:rPr lang="ko-KR" altLang="en-US" sz="2400" dirty="0" err="1">
                <a:solidFill>
                  <a:srgbClr val="FF0000"/>
                </a:solidFill>
              </a:rPr>
              <a:t>비슷</a:t>
            </a:r>
            <a:r>
              <a:rPr lang="ko-KR" altLang="en-US" sz="2400" dirty="0">
                <a:solidFill>
                  <a:srgbClr val="FF0000"/>
                </a:solidFill>
              </a:rPr>
              <a:t> </a:t>
            </a:r>
            <a:endParaRPr lang="en-US" altLang="ko-KR" sz="2400" dirty="0">
              <a:solidFill>
                <a:srgbClr val="FF0000"/>
              </a:solidFill>
            </a:endParaRPr>
          </a:p>
          <a:p>
            <a:pPr lvl="1"/>
            <a:r>
              <a:rPr lang="ko-KR" altLang="en-US" sz="2000" dirty="0"/>
              <a:t>겉 모습</a:t>
            </a:r>
            <a:endParaRPr lang="en-US" altLang="ko-KR" sz="2000" dirty="0"/>
          </a:p>
          <a:p>
            <a:pPr lvl="1"/>
            <a:r>
              <a:rPr lang="ko-KR" altLang="en-US" sz="2000" dirty="0"/>
              <a:t>내부 이벤트 처리</a:t>
            </a:r>
            <a:endParaRPr lang="en-US" altLang="ko-KR" sz="2000" dirty="0"/>
          </a:p>
          <a:p>
            <a:r>
              <a:rPr lang="ko-KR" altLang="en-US" sz="2400" dirty="0">
                <a:solidFill>
                  <a:srgbClr val="FF0000"/>
                </a:solidFill>
              </a:rPr>
              <a:t>중복되는 코드</a:t>
            </a:r>
            <a:r>
              <a:rPr lang="ko-KR" altLang="en-US" sz="2400" dirty="0"/>
              <a:t>가 많이 존재 </a:t>
            </a:r>
            <a:endParaRPr lang="en-US" altLang="ko-KR" sz="2400" dirty="0"/>
          </a:p>
          <a:p>
            <a:pPr lvl="1"/>
            <a:r>
              <a:rPr lang="ko-KR" altLang="en-US" sz="2000" dirty="0"/>
              <a:t>기본적으로 혹은 라이브러리로</a:t>
            </a:r>
            <a:r>
              <a:rPr lang="en-US" altLang="ko-KR" sz="2000" dirty="0"/>
              <a:t>… (</a:t>
            </a:r>
            <a:r>
              <a:rPr lang="ko-KR" altLang="en-US" sz="2000" dirty="0"/>
              <a:t>뼈대</a:t>
            </a:r>
            <a:r>
              <a:rPr lang="en-US" altLang="ko-KR" sz="2000" dirty="0"/>
              <a:t>)</a:t>
            </a:r>
            <a:r>
              <a:rPr lang="ko-KR" altLang="en-US" sz="2000" dirty="0"/>
              <a:t>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0490BD6-4214-7054-0EA0-D6B326FA3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155" y="4675032"/>
            <a:ext cx="1071570" cy="177707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E51A0F1-29BA-FDF9-D911-848962C2A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4635" y="4675033"/>
            <a:ext cx="2132101" cy="150404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78E887B-A1E8-4B54-B290-B7E11B7E49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9274" y="4675032"/>
            <a:ext cx="3319226" cy="206633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ED4D90A-3E3F-323F-67F7-A6A8256F1E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4128" y="1416893"/>
            <a:ext cx="2730548" cy="173051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응용 프로그램들이 비슷한 이유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MFC </a:t>
            </a:r>
            <a:r>
              <a:rPr lang="ko-KR" altLang="en-US" sz="2800" dirty="0"/>
              <a:t>응용 프로그램 작성의 예</a:t>
            </a:r>
            <a:endParaRPr lang="en-US" altLang="ko-KR" sz="2800" dirty="0"/>
          </a:p>
          <a:p>
            <a:pPr lvl="1"/>
            <a:r>
              <a:rPr lang="ko-KR" altLang="en-US" sz="2400" dirty="0"/>
              <a:t>기본적으로 많은 코드가 작성되어 있다</a:t>
            </a:r>
            <a:r>
              <a:rPr lang="en-US" altLang="ko-KR" sz="2400" dirty="0"/>
              <a:t>.</a:t>
            </a:r>
          </a:p>
          <a:p>
            <a:pPr lvl="2"/>
            <a:r>
              <a:rPr lang="ko-KR" altLang="en-US" sz="2000" dirty="0">
                <a:solidFill>
                  <a:srgbClr val="0000FF"/>
                </a:solidFill>
              </a:rPr>
              <a:t>파일</a:t>
            </a:r>
            <a:r>
              <a:rPr lang="en-US" altLang="ko-KR" sz="2000" dirty="0">
                <a:solidFill>
                  <a:srgbClr val="0000FF"/>
                </a:solidFill>
              </a:rPr>
              <a:t>(F) | </a:t>
            </a:r>
            <a:r>
              <a:rPr lang="ko-KR" altLang="en-US" sz="2000" dirty="0">
                <a:solidFill>
                  <a:srgbClr val="0000FF"/>
                </a:solidFill>
              </a:rPr>
              <a:t>새로 만들기</a:t>
            </a:r>
            <a:r>
              <a:rPr lang="en-US" altLang="ko-KR" sz="2000" dirty="0">
                <a:solidFill>
                  <a:srgbClr val="0000FF"/>
                </a:solidFill>
              </a:rPr>
              <a:t> | </a:t>
            </a:r>
            <a:r>
              <a:rPr lang="ko-KR" altLang="en-US" sz="2000" dirty="0">
                <a:solidFill>
                  <a:srgbClr val="0000FF"/>
                </a:solidFill>
              </a:rPr>
              <a:t>프로젝트</a:t>
            </a:r>
            <a:endParaRPr lang="en-US" altLang="ko-KR" sz="2000" dirty="0">
              <a:solidFill>
                <a:srgbClr val="0000FF"/>
              </a:solidFill>
            </a:endParaRPr>
          </a:p>
          <a:p>
            <a:pPr lvl="2"/>
            <a:r>
              <a:rPr lang="en-US" altLang="ko-KR" sz="2000" dirty="0">
                <a:solidFill>
                  <a:srgbClr val="0000FF"/>
                </a:solidFill>
              </a:rPr>
              <a:t>MFC </a:t>
            </a:r>
            <a:r>
              <a:rPr lang="ko-KR" altLang="en-US" sz="2000" dirty="0">
                <a:solidFill>
                  <a:srgbClr val="0000FF"/>
                </a:solidFill>
              </a:rPr>
              <a:t>앱 선택 후 만들기 </a:t>
            </a:r>
            <a:r>
              <a:rPr lang="en-US" altLang="ko-KR" sz="2000" dirty="0">
                <a:solidFill>
                  <a:srgbClr val="0000FF"/>
                </a:solidFill>
              </a:rPr>
              <a:t>| </a:t>
            </a:r>
            <a:r>
              <a:rPr lang="ko-KR" altLang="en-US" sz="2000" dirty="0">
                <a:solidFill>
                  <a:srgbClr val="0000FF"/>
                </a:solidFill>
              </a:rPr>
              <a:t>마침 </a:t>
            </a:r>
            <a:endParaRPr lang="en-US" altLang="ko-KR" sz="2000" dirty="0">
              <a:solidFill>
                <a:srgbClr val="0000FF"/>
              </a:solidFill>
            </a:endParaRPr>
          </a:p>
          <a:p>
            <a:pPr lvl="2"/>
            <a:r>
              <a:rPr lang="ko-KR" altLang="en-US" sz="2000" dirty="0">
                <a:solidFill>
                  <a:srgbClr val="0000FF"/>
                </a:solidFill>
              </a:rPr>
              <a:t>컴파일 후 실행해보자</a:t>
            </a:r>
            <a:r>
              <a:rPr lang="en-US" altLang="ko-KR" sz="2000" dirty="0">
                <a:solidFill>
                  <a:srgbClr val="0000FF"/>
                </a:solidFill>
              </a:rPr>
              <a:t>.</a:t>
            </a:r>
          </a:p>
          <a:p>
            <a:r>
              <a:rPr lang="ko-KR" altLang="en-US" sz="2800" dirty="0"/>
              <a:t>여러분이 할 일은</a:t>
            </a:r>
            <a:r>
              <a:rPr lang="en-US" altLang="ko-KR" sz="2800" dirty="0"/>
              <a:t>?</a:t>
            </a:r>
          </a:p>
          <a:p>
            <a:pPr lvl="1"/>
            <a:r>
              <a:rPr lang="ko-KR" altLang="en-US" sz="2400" dirty="0"/>
              <a:t>기존에 작성되어 있는 코드를 </a:t>
            </a:r>
            <a:r>
              <a:rPr lang="ko-KR" altLang="en-US" sz="2400" dirty="0">
                <a:solidFill>
                  <a:srgbClr val="FF0000"/>
                </a:solidFill>
              </a:rPr>
              <a:t>조금 바꾸거나</a:t>
            </a:r>
            <a:endParaRPr lang="en-US" altLang="ko-KR" sz="2400" dirty="0">
              <a:solidFill>
                <a:srgbClr val="FF0000"/>
              </a:solidFill>
            </a:endParaRPr>
          </a:p>
          <a:p>
            <a:pPr lvl="1"/>
            <a:r>
              <a:rPr lang="ko-KR" altLang="en-US" sz="2400" dirty="0"/>
              <a:t>새로운 코드를 </a:t>
            </a:r>
            <a:r>
              <a:rPr lang="ko-KR" altLang="en-US" sz="2400" dirty="0">
                <a:solidFill>
                  <a:srgbClr val="FF0000"/>
                </a:solidFill>
              </a:rPr>
              <a:t>추가하거나</a:t>
            </a:r>
            <a:endParaRPr lang="en-US" altLang="ko-KR" sz="2400" dirty="0">
              <a:solidFill>
                <a:srgbClr val="FF0000"/>
              </a:solidFill>
            </a:endParaRPr>
          </a:p>
          <a:p>
            <a:pPr lvl="1">
              <a:buNone/>
            </a:pPr>
            <a:r>
              <a:rPr lang="en-US" altLang="ko-KR" sz="2400" dirty="0"/>
              <a:t>→ </a:t>
            </a:r>
            <a:r>
              <a:rPr lang="ko-KR" altLang="en-US" sz="2400" dirty="0"/>
              <a:t>뼈대에 살을 붙이는 것</a:t>
            </a:r>
            <a:endParaRPr lang="en-US" altLang="ko-KR" sz="2400" dirty="0"/>
          </a:p>
          <a:p>
            <a:pPr lvl="1">
              <a:buNone/>
            </a:pPr>
            <a:endParaRPr lang="ko-KR" altLang="en-US" sz="2400" dirty="0"/>
          </a:p>
        </p:txBody>
      </p:sp>
      <p:pic>
        <p:nvPicPr>
          <p:cNvPr id="5" name="Picture 5" descr="C:\Documents and Settings\Administrator\Local Settings\Temporary Internet Files\Content.IE5\ZJ9FV6BV\MCj03456810000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92280" y="1421706"/>
            <a:ext cx="928694" cy="785335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308A3F-50E0-05F5-2CE1-514442F1E824}"/>
              </a:ext>
            </a:extLst>
          </p:cNvPr>
          <p:cNvSpPr txBox="1"/>
          <p:nvPr/>
        </p:nvSpPr>
        <p:spPr>
          <a:xfrm>
            <a:off x="2610030" y="5373216"/>
            <a:ext cx="541094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2B91AF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BOOL</a:t>
            </a:r>
            <a:r>
              <a:rPr lang="en-US" altLang="ko-KR" sz="1400" dirty="0">
                <a:solidFill>
                  <a:srgbClr val="000000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 </a:t>
            </a:r>
            <a:r>
              <a:rPr lang="en-US" altLang="ko-KR" sz="1400" dirty="0" err="1">
                <a:solidFill>
                  <a:srgbClr val="2B91AF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CMainFrame</a:t>
            </a:r>
            <a:r>
              <a:rPr lang="en-US" altLang="ko-KR" sz="1400" dirty="0">
                <a:solidFill>
                  <a:srgbClr val="000000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::</a:t>
            </a:r>
            <a:r>
              <a:rPr lang="en-US" altLang="ko-KR" sz="1400" dirty="0" err="1">
                <a:solidFill>
                  <a:srgbClr val="000000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PreCreateWindow</a:t>
            </a:r>
            <a:r>
              <a:rPr lang="en-US" altLang="ko-KR" sz="1400" dirty="0">
                <a:solidFill>
                  <a:srgbClr val="000000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(</a:t>
            </a:r>
            <a:r>
              <a:rPr lang="en-US" altLang="ko-KR" sz="1400" dirty="0">
                <a:solidFill>
                  <a:srgbClr val="2B91AF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CREATESTRUCT</a:t>
            </a:r>
            <a:r>
              <a:rPr lang="en-US" altLang="ko-KR" sz="1400" dirty="0">
                <a:solidFill>
                  <a:srgbClr val="000000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&amp; </a:t>
            </a:r>
            <a:r>
              <a:rPr lang="en-US" altLang="ko-KR" sz="1400" dirty="0">
                <a:solidFill>
                  <a:srgbClr val="808080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cs</a:t>
            </a:r>
            <a:r>
              <a:rPr lang="en-US" altLang="ko-KR" sz="1400" dirty="0">
                <a:solidFill>
                  <a:srgbClr val="000000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)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{</a:t>
            </a:r>
          </a:p>
          <a:p>
            <a:pPr lvl="1"/>
            <a:r>
              <a:rPr lang="en-US" altLang="ko-KR" sz="1400" dirty="0">
                <a:solidFill>
                  <a:srgbClr val="808080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cs</a:t>
            </a:r>
            <a:r>
              <a:rPr lang="en-US" altLang="ko-KR" sz="1400" dirty="0">
                <a:solidFill>
                  <a:srgbClr val="000000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.cx = 100;</a:t>
            </a:r>
          </a:p>
          <a:p>
            <a:pPr lvl="1"/>
            <a:r>
              <a:rPr lang="en-US" altLang="ko-KR" sz="1400" dirty="0">
                <a:solidFill>
                  <a:srgbClr val="808080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cs</a:t>
            </a:r>
            <a:r>
              <a:rPr lang="en-US" altLang="ko-KR" sz="1400" dirty="0">
                <a:solidFill>
                  <a:srgbClr val="000000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.cy = 200;</a:t>
            </a:r>
            <a:endParaRPr lang="ko-KR" altLang="en-US" sz="1400" dirty="0"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606E2029-E3AB-DB5C-B6CA-827B88B9E3CC}"/>
              </a:ext>
            </a:extLst>
          </p:cNvPr>
          <p:cNvSpPr txBox="1">
            <a:spLocks/>
          </p:cNvSpPr>
          <p:nvPr/>
        </p:nvSpPr>
        <p:spPr>
          <a:xfrm>
            <a:off x="5237820" y="2726512"/>
            <a:ext cx="3708920" cy="954107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8288" indent="-268288">
              <a:buFont typeface="+mj-lt"/>
              <a:buAutoNum type="arabicPeriod"/>
            </a:pPr>
            <a:r>
              <a:rPr lang="en-US" altLang="ko-KR" sz="1100" dirty="0">
                <a:solidFill>
                  <a:srgbClr val="0000FF"/>
                </a:solidFill>
              </a:rPr>
              <a:t>Visual Studio Installer </a:t>
            </a:r>
            <a:r>
              <a:rPr lang="ko-KR" altLang="en-US" sz="1100" dirty="0">
                <a:solidFill>
                  <a:srgbClr val="0000FF"/>
                </a:solidFill>
              </a:rPr>
              <a:t>실행 </a:t>
            </a:r>
            <a:r>
              <a:rPr lang="en-US" altLang="ko-KR" sz="1100" dirty="0">
                <a:solidFill>
                  <a:srgbClr val="0000FF"/>
                </a:solidFill>
              </a:rPr>
              <a:t>| ‘</a:t>
            </a:r>
            <a:r>
              <a:rPr lang="ko-KR" altLang="en-US" sz="1100" dirty="0">
                <a:solidFill>
                  <a:srgbClr val="0000FF"/>
                </a:solidFill>
              </a:rPr>
              <a:t>수정</a:t>
            </a:r>
            <a:r>
              <a:rPr lang="en-US" altLang="ko-KR" sz="1100" dirty="0">
                <a:solidFill>
                  <a:srgbClr val="0000FF"/>
                </a:solidFill>
              </a:rPr>
              <a:t>’ </a:t>
            </a:r>
            <a:r>
              <a:rPr lang="ko-KR" altLang="en-US" sz="1100" dirty="0">
                <a:solidFill>
                  <a:srgbClr val="0000FF"/>
                </a:solidFill>
              </a:rPr>
              <a:t>버튼 클릭</a:t>
            </a:r>
            <a:endParaRPr lang="en-US" altLang="ko-KR" sz="1100" dirty="0">
              <a:solidFill>
                <a:srgbClr val="0000FF"/>
              </a:solidFill>
            </a:endParaRPr>
          </a:p>
          <a:p>
            <a:pPr marL="268288" indent="-268288">
              <a:buFont typeface="+mj-lt"/>
              <a:buAutoNum type="arabicPeriod"/>
            </a:pPr>
            <a:r>
              <a:rPr lang="ko-KR" altLang="en-US" sz="1100" dirty="0">
                <a:solidFill>
                  <a:srgbClr val="0000FF"/>
                </a:solidFill>
              </a:rPr>
              <a:t>오른쪽 </a:t>
            </a:r>
            <a:r>
              <a:rPr lang="en-US" altLang="ko-KR" sz="1100" dirty="0">
                <a:solidFill>
                  <a:srgbClr val="0000FF"/>
                </a:solidFill>
              </a:rPr>
              <a:t>‘</a:t>
            </a:r>
            <a:r>
              <a:rPr lang="ko-KR" altLang="en-US" sz="1100" dirty="0">
                <a:solidFill>
                  <a:srgbClr val="0000FF"/>
                </a:solidFill>
              </a:rPr>
              <a:t>설치 세부 정보</a:t>
            </a:r>
            <a:r>
              <a:rPr lang="en-US" altLang="ko-KR" sz="1100" dirty="0">
                <a:solidFill>
                  <a:srgbClr val="0000FF"/>
                </a:solidFill>
              </a:rPr>
              <a:t>’</a:t>
            </a:r>
            <a:r>
              <a:rPr lang="ko-KR" altLang="en-US" sz="1100" dirty="0">
                <a:solidFill>
                  <a:srgbClr val="0000FF"/>
                </a:solidFill>
              </a:rPr>
              <a:t>에서 </a:t>
            </a:r>
            <a:r>
              <a:rPr lang="en-US" altLang="ko-KR" sz="1100" dirty="0">
                <a:solidFill>
                  <a:srgbClr val="0000FF"/>
                </a:solidFill>
              </a:rPr>
              <a:t>x64/x86</a:t>
            </a:r>
            <a:r>
              <a:rPr lang="ko-KR" altLang="en-US" sz="1100" dirty="0">
                <a:solidFill>
                  <a:srgbClr val="0000FF"/>
                </a:solidFill>
              </a:rPr>
              <a:t>용 </a:t>
            </a:r>
            <a:r>
              <a:rPr lang="en-US" altLang="ko-KR" sz="1100" dirty="0">
                <a:solidFill>
                  <a:srgbClr val="0000FF"/>
                </a:solidFill>
              </a:rPr>
              <a:t>C++ MFC</a:t>
            </a:r>
            <a:r>
              <a:rPr lang="ko-KR" altLang="en-US" sz="1100" dirty="0">
                <a:solidFill>
                  <a:srgbClr val="0000FF"/>
                </a:solidFill>
              </a:rPr>
              <a:t> 선택</a:t>
            </a:r>
            <a:endParaRPr lang="en-US" altLang="ko-KR" sz="1100" dirty="0">
              <a:solidFill>
                <a:srgbClr val="0000FF"/>
              </a:solidFill>
            </a:endParaRPr>
          </a:p>
          <a:p>
            <a:pPr marL="268288" indent="-268288">
              <a:buFont typeface="+mj-lt"/>
              <a:buAutoNum type="arabicPeriod"/>
            </a:pPr>
            <a:r>
              <a:rPr lang="ko-KR" altLang="en-US" sz="1100" dirty="0">
                <a:solidFill>
                  <a:srgbClr val="0000FF"/>
                </a:solidFill>
              </a:rPr>
              <a:t>오른쪽 맨 아래 </a:t>
            </a:r>
            <a:r>
              <a:rPr lang="en-US" altLang="ko-KR" sz="1100" dirty="0">
                <a:solidFill>
                  <a:srgbClr val="0000FF"/>
                </a:solidFill>
              </a:rPr>
              <a:t>‘</a:t>
            </a:r>
            <a:r>
              <a:rPr lang="ko-KR" altLang="en-US" sz="1100" dirty="0">
                <a:solidFill>
                  <a:srgbClr val="0000FF"/>
                </a:solidFill>
              </a:rPr>
              <a:t>수정</a:t>
            </a:r>
            <a:r>
              <a:rPr lang="en-US" altLang="ko-KR" sz="1100" dirty="0">
                <a:solidFill>
                  <a:srgbClr val="0000FF"/>
                </a:solidFill>
              </a:rPr>
              <a:t>’ </a:t>
            </a:r>
            <a:r>
              <a:rPr lang="ko-KR" altLang="en-US" sz="1100" dirty="0">
                <a:solidFill>
                  <a:srgbClr val="0000FF"/>
                </a:solidFill>
              </a:rPr>
              <a:t>버튼 클릭</a:t>
            </a:r>
            <a:endParaRPr lang="en-US" altLang="ko-KR" sz="1100" dirty="0">
              <a:solidFill>
                <a:srgbClr val="0000FF"/>
              </a:solidFill>
            </a:endParaRPr>
          </a:p>
          <a:p>
            <a:pPr marL="268288" indent="-268288">
              <a:buFont typeface="+mj-lt"/>
              <a:buAutoNum type="arabicPeriod"/>
            </a:pPr>
            <a:r>
              <a:rPr lang="ko-KR" altLang="en-US" sz="1100" dirty="0">
                <a:solidFill>
                  <a:srgbClr val="0000FF"/>
                </a:solidFill>
              </a:rPr>
              <a:t>비주얼 스튜디오 실행 </a:t>
            </a:r>
            <a:r>
              <a:rPr lang="en-US" altLang="ko-KR" sz="1100" dirty="0">
                <a:solidFill>
                  <a:srgbClr val="0000FF"/>
                </a:solidFill>
              </a:rPr>
              <a:t>| ‘MFC </a:t>
            </a:r>
            <a:r>
              <a:rPr lang="ko-KR" altLang="en-US" sz="1100" dirty="0">
                <a:solidFill>
                  <a:srgbClr val="0000FF"/>
                </a:solidFill>
              </a:rPr>
              <a:t>앱</a:t>
            </a:r>
            <a:r>
              <a:rPr lang="en-US" altLang="ko-KR" sz="1100" dirty="0">
                <a:solidFill>
                  <a:srgbClr val="0000FF"/>
                </a:solidFill>
              </a:rPr>
              <a:t>’ </a:t>
            </a:r>
            <a:r>
              <a:rPr lang="ko-KR" altLang="en-US" sz="1100" dirty="0">
                <a:solidFill>
                  <a:srgbClr val="0000FF"/>
                </a:solidFill>
              </a:rPr>
              <a:t>프로젝트</a:t>
            </a:r>
            <a:r>
              <a:rPr lang="en-US" altLang="ko-KR" sz="1100" dirty="0">
                <a:solidFill>
                  <a:srgbClr val="0000FF"/>
                </a:solidFill>
              </a:rPr>
              <a:t> </a:t>
            </a:r>
            <a:r>
              <a:rPr lang="ko-KR" altLang="en-US" sz="1100" dirty="0">
                <a:solidFill>
                  <a:srgbClr val="0000FF"/>
                </a:solidFill>
              </a:rPr>
              <a:t>선택</a:t>
            </a:r>
            <a:endParaRPr lang="en-US" altLang="ko-KR" sz="1100" dirty="0">
              <a:solidFill>
                <a:srgbClr val="0000FF"/>
              </a:solidFill>
            </a:endParaRPr>
          </a:p>
          <a:p>
            <a:pPr marL="268288" indent="-268288">
              <a:buFont typeface="+mj-lt"/>
              <a:buAutoNum type="arabicPeriod"/>
            </a:pPr>
            <a:endParaRPr lang="ko-KR" altLang="en-US" sz="11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B0390E-00B1-29F6-6FA4-954B619A9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640" y="1232756"/>
            <a:ext cx="6696744" cy="439248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</a:pPr>
            <a:r>
              <a:rPr lang="ko-KR" altLang="en-US" sz="3200" dirty="0">
                <a:solidFill>
                  <a:srgbClr val="0070C0"/>
                </a:solidFill>
              </a:rPr>
              <a:t>이미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많은 코드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응용 프레임워크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가 </a:t>
            </a:r>
            <a:b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ko-KR" altLang="en-US" sz="3200" dirty="0">
                <a:solidFill>
                  <a:srgbClr val="0070C0"/>
                </a:solidFill>
              </a:rPr>
              <a:t>준비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되어 있다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b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b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여기에 </a:t>
            </a:r>
            <a:r>
              <a:rPr lang="ko-KR" altLang="en-US" sz="3200" dirty="0">
                <a:solidFill>
                  <a:srgbClr val="0070C0"/>
                </a:solidFill>
              </a:rPr>
              <a:t>살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만 붙이자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b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</a:t>
            </a:r>
            <a:b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ko-KR" altLang="en-US" sz="3200" dirty="0">
                <a:solidFill>
                  <a:schemeClr val="accent2"/>
                </a:solidFill>
              </a:rPr>
              <a:t>이제부터 우리가 공부할 내용은</a:t>
            </a:r>
            <a:r>
              <a:rPr lang="en-US" altLang="ko-KR" sz="3200" dirty="0">
                <a:solidFill>
                  <a:schemeClr val="accent2"/>
                </a:solidFill>
              </a:rPr>
              <a:t>?</a:t>
            </a:r>
            <a:br>
              <a:rPr lang="en-US" altLang="ko-KR" sz="3200" dirty="0">
                <a:solidFill>
                  <a:schemeClr val="accent2"/>
                </a:solidFill>
              </a:rPr>
            </a:br>
            <a:r>
              <a:rPr lang="en-US" altLang="ko-KR" sz="3200" dirty="0">
                <a:solidFill>
                  <a:schemeClr val="tx1"/>
                </a:solidFill>
              </a:rPr>
              <a:t>→ </a:t>
            </a:r>
            <a:r>
              <a:rPr lang="ko-KR" altLang="en-US" sz="3200" dirty="0">
                <a:solidFill>
                  <a:schemeClr val="tx1"/>
                </a:solidFill>
              </a:rPr>
              <a:t>응용 프레임워크 이해</a:t>
            </a:r>
            <a:br>
              <a:rPr lang="en-US" altLang="ko-KR" sz="3200" dirty="0">
                <a:solidFill>
                  <a:schemeClr val="tx1"/>
                </a:solidFill>
              </a:rPr>
            </a:br>
            <a:r>
              <a:rPr lang="en-US" altLang="ko-KR" sz="3200" dirty="0">
                <a:solidFill>
                  <a:schemeClr val="tx1"/>
                </a:solidFill>
              </a:rPr>
              <a:t>→ </a:t>
            </a:r>
            <a:r>
              <a:rPr lang="ko-KR" altLang="en-US" sz="3200" dirty="0">
                <a:solidFill>
                  <a:schemeClr val="tx1"/>
                </a:solidFill>
              </a:rPr>
              <a:t>살을 붙이는 방법</a:t>
            </a:r>
          </a:p>
        </p:txBody>
      </p:sp>
    </p:spTree>
    <p:extLst>
      <p:ext uri="{BB962C8B-B14F-4D97-AF65-F5344CB8AC3E}">
        <p14:creationId xmlns:p14="http://schemas.microsoft.com/office/powerpoint/2010/main" val="3718308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Console4 </a:t>
            </a:r>
            <a:r>
              <a:rPr lang="ko-KR" altLang="en-US" dirty="0"/>
              <a:t>프로젝트 생성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525963"/>
          </a:xfrm>
        </p:spPr>
        <p:txBody>
          <a:bodyPr/>
          <a:lstStyle/>
          <a:p>
            <a:r>
              <a:rPr lang="en-US" altLang="ko-KR" dirty="0" err="1"/>
              <a:t>CBase</a:t>
            </a:r>
            <a:r>
              <a:rPr lang="en-US" altLang="ko-KR" dirty="0"/>
              <a:t> </a:t>
            </a:r>
            <a:r>
              <a:rPr lang="ko-KR" altLang="en-US" dirty="0"/>
              <a:t>클래스 작성하기</a:t>
            </a: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1071538" y="1867218"/>
            <a:ext cx="7358114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#include &lt;</a:t>
            </a:r>
            <a:r>
              <a:rPr kumimoji="1" lang="en-US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stdio.h</a:t>
            </a: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&gt;</a:t>
            </a:r>
            <a:endParaRPr kumimoji="1" lang="en-US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  </a:t>
            </a:r>
            <a:endParaRPr kumimoji="1" lang="en-US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class </a:t>
            </a:r>
            <a:r>
              <a:rPr kumimoji="1" lang="en-US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CBase</a:t>
            </a: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 </a:t>
            </a:r>
            <a:endParaRPr kumimoji="1" lang="en-US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{</a:t>
            </a:r>
            <a:endParaRPr kumimoji="1" lang="en-US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public:</a:t>
            </a:r>
            <a:endParaRPr kumimoji="1" lang="en-US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363538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void </a:t>
            </a:r>
            <a:r>
              <a:rPr kumimoji="1" lang="en-US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WhoAreYou</a:t>
            </a: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() </a:t>
            </a:r>
            <a:endParaRPr kumimoji="1" lang="en-US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363538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{</a:t>
            </a:r>
            <a:endParaRPr kumimoji="1" lang="en-US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71755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printf</a:t>
            </a: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("</a:t>
            </a:r>
            <a:r>
              <a:rPr kumimoji="1" lang="en-US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CBase</a:t>
            </a: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!\n");</a:t>
            </a:r>
            <a:endParaRPr kumimoji="1" lang="en-US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363538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}</a:t>
            </a:r>
            <a:endParaRPr kumimoji="1" lang="en-US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};</a:t>
            </a:r>
            <a:endParaRPr kumimoji="1" lang="en-US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  </a:t>
            </a:r>
            <a:endParaRPr kumimoji="1" lang="en-US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b="1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CBase</a:t>
            </a:r>
            <a:r>
              <a:rPr kumimoji="1" lang="en-US" altLang="ko-KR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 </a:t>
            </a:r>
            <a:r>
              <a:rPr kumimoji="1" lang="en-US" altLang="ko-KR" b="1" dirty="0" err="1">
                <a:solidFill>
                  <a:srgbClr val="0000FF"/>
                </a:solidFill>
                <a:latin typeface="+mj-lt"/>
                <a:ea typeface="돋움" pitchFamily="50" charset="-127"/>
                <a:cs typeface="굴림" pitchFamily="50" charset="-127"/>
              </a:rPr>
              <a:t>gildong</a:t>
            </a:r>
            <a:r>
              <a:rPr kumimoji="1" lang="en-US" altLang="ko-KR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;</a:t>
            </a:r>
            <a:endParaRPr kumimoji="1" lang="en-US" altLang="ko-KR" sz="1200" b="1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  </a:t>
            </a:r>
            <a:endParaRPr kumimoji="1" lang="en-US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void main()</a:t>
            </a:r>
            <a:endParaRPr kumimoji="1" lang="en-US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{</a:t>
            </a:r>
            <a:endParaRPr kumimoji="1" lang="en-US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363538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dirty="0" err="1">
                <a:solidFill>
                  <a:srgbClr val="000000"/>
                </a:solidFill>
                <a:latin typeface="+mj-lt"/>
                <a:ea typeface="돋움" pitchFamily="50" charset="-127"/>
                <a:cs typeface="굴림" pitchFamily="50" charset="-127"/>
              </a:rPr>
              <a:t>gildong</a:t>
            </a:r>
            <a:r>
              <a:rPr kumimoji="1" lang="en-US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.WhoAreYou</a:t>
            </a: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();</a:t>
            </a:r>
            <a:endParaRPr kumimoji="1" lang="en-US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}</a:t>
            </a:r>
            <a:endParaRPr kumimoji="1" lang="en-US" altLang="ko-KR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</p:txBody>
      </p:sp>
      <p:pic>
        <p:nvPicPr>
          <p:cNvPr id="6" name="Picture 5" descr="C:\Documents and Settings\Administrator\Local Settings\Temporary Internet Files\Content.IE5\ZJ9FV6BV\MCj03456810000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72264" y="3072293"/>
            <a:ext cx="928694" cy="785335"/>
          </a:xfrm>
          <a:prstGeom prst="rect">
            <a:avLst/>
          </a:prstGeom>
          <a:noFill/>
        </p:spPr>
      </p:pic>
      <p:sp>
        <p:nvSpPr>
          <p:cNvPr id="7" name="직사각형 6"/>
          <p:cNvSpPr/>
          <p:nvPr/>
        </p:nvSpPr>
        <p:spPr>
          <a:xfrm>
            <a:off x="1001273" y="2336218"/>
            <a:ext cx="5112568" cy="254148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 dirty="0" err="1"/>
              <a:t>CBase</a:t>
            </a:r>
            <a:r>
              <a:rPr lang="ko-KR" altLang="en-US" dirty="0"/>
              <a:t>를 항상 작성해야 한다면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반복해서 </a:t>
            </a:r>
            <a:r>
              <a:rPr lang="en-US" altLang="ko-KR" dirty="0" err="1"/>
              <a:t>CBase</a:t>
            </a:r>
            <a:r>
              <a:rPr lang="en-US" altLang="ko-KR" dirty="0"/>
              <a:t> </a:t>
            </a:r>
            <a:r>
              <a:rPr lang="ko-KR" altLang="en-US" dirty="0"/>
              <a:t>클래스를 작성하는 것이 귀찮다면 </a:t>
            </a:r>
            <a:r>
              <a:rPr lang="ko-KR" altLang="en-US" dirty="0">
                <a:solidFill>
                  <a:srgbClr val="0000FF"/>
                </a:solidFill>
              </a:rPr>
              <a:t>미리 만들어 두고 사용</a:t>
            </a:r>
            <a:r>
              <a:rPr lang="ko-KR" altLang="en-US" dirty="0"/>
              <a:t>하라</a:t>
            </a:r>
            <a:r>
              <a:rPr lang="en-US" altLang="ko-KR" dirty="0"/>
              <a:t>. (</a:t>
            </a:r>
            <a:r>
              <a:rPr lang="ko-KR" altLang="en-US" dirty="0">
                <a:solidFill>
                  <a:srgbClr val="FF0000"/>
                </a:solidFill>
              </a:rPr>
              <a:t>라이브러리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 err="1"/>
              <a:t>CBase</a:t>
            </a:r>
            <a:r>
              <a:rPr lang="en-US" altLang="ko-KR" dirty="0"/>
              <a:t> </a:t>
            </a:r>
            <a:r>
              <a:rPr lang="ko-KR" altLang="en-US" dirty="0"/>
              <a:t>클래스를 라이브러리로 생각하자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라이브러리는 여러 사람이 필요할 때마다 사용하는 것이므로 수정할 수 없다</a:t>
            </a:r>
            <a:r>
              <a:rPr lang="en-US" altLang="ko-KR" dirty="0"/>
              <a:t>. </a:t>
            </a:r>
          </a:p>
          <a:p>
            <a:pPr lvl="1"/>
            <a:r>
              <a:rPr lang="ko-KR" altLang="en-US" dirty="0"/>
              <a:t>라이브러리는 </a:t>
            </a:r>
            <a:r>
              <a:rPr lang="en-US" altLang="ko-KR" dirty="0"/>
              <a:t>(</a:t>
            </a:r>
            <a:r>
              <a:rPr lang="ko-KR" altLang="en-US" dirty="0"/>
              <a:t>일반적으로</a:t>
            </a:r>
            <a:r>
              <a:rPr lang="en-US" altLang="ko-KR" dirty="0"/>
              <a:t>) *.dll, *.lib </a:t>
            </a:r>
            <a:r>
              <a:rPr lang="ko-KR" altLang="en-US" dirty="0"/>
              <a:t>형태로 저장되어 소스 코드가 보이지 않는다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>
                <a:solidFill>
                  <a:srgbClr val="0000FF"/>
                </a:solidFill>
              </a:rPr>
              <a:t>“</a:t>
            </a:r>
            <a:r>
              <a:rPr lang="ko-KR" altLang="en-US" dirty="0">
                <a:solidFill>
                  <a:srgbClr val="0000FF"/>
                </a:solidFill>
              </a:rPr>
              <a:t>수정할 수도 없고 보이지도 않는다</a:t>
            </a:r>
            <a:r>
              <a:rPr lang="en-US" altLang="ko-KR" dirty="0">
                <a:solidFill>
                  <a:srgbClr val="0000FF"/>
                </a:solidFill>
              </a:rPr>
              <a:t>.”</a:t>
            </a:r>
          </a:p>
        </p:txBody>
      </p:sp>
      <p:pic>
        <p:nvPicPr>
          <p:cNvPr id="4" name="Picture 5" descr="C:\Documents and Settings\Administrator\Local Settings\Temporary Internet Files\Content.IE5\ZJ9FV6BV\MCj03456810000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29520" y="5214950"/>
            <a:ext cx="928694" cy="78533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318342" y="764704"/>
            <a:ext cx="6710042" cy="53245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#include &lt;</a:t>
            </a:r>
            <a:r>
              <a:rPr kumimoji="1" lang="en-US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stdio.h</a:t>
            </a: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&gt;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  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class </a:t>
            </a:r>
            <a:r>
              <a:rPr kumimoji="1" lang="en-US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CBase</a:t>
            </a: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 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{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public: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363538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void </a:t>
            </a:r>
            <a:r>
              <a:rPr kumimoji="1" lang="en-US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WhoAreYou</a:t>
            </a: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() 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363538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{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71755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printf</a:t>
            </a: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("</a:t>
            </a:r>
            <a:r>
              <a:rPr kumimoji="1" lang="en-US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CBase</a:t>
            </a: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!\n");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363538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}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};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  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1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CBase</a:t>
            </a:r>
            <a:r>
              <a:rPr kumimoji="1" lang="en-US" altLang="ko-KR" sz="20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 </a:t>
            </a:r>
            <a:r>
              <a:rPr kumimoji="1" lang="en-US" altLang="ko-KR" sz="2000" b="1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gildong</a:t>
            </a:r>
            <a:r>
              <a:rPr kumimoji="1" lang="en-US" altLang="ko-KR" sz="20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;</a:t>
            </a:r>
            <a:endParaRPr kumimoji="1" lang="en-US" altLang="ko-KR" sz="1400" b="1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  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void main()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{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363538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gildong.WhoAreYou</a:t>
            </a: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();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}</a:t>
            </a:r>
            <a:endParaRPr kumimoji="1" lang="en-US" altLang="ko-KR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187624" y="1328571"/>
            <a:ext cx="4320480" cy="26642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723268" y="1163322"/>
            <a:ext cx="2335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라이브러리 코드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ko-KR" altLang="en-US" dirty="0">
                <a:solidFill>
                  <a:srgbClr val="0000FF"/>
                </a:solidFill>
              </a:rPr>
              <a:t>기존에 있었던 </a:t>
            </a:r>
            <a:r>
              <a:rPr lang="ko-KR" altLang="en-US" dirty="0"/>
              <a:t>코드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322860" y="4786696"/>
            <a:ext cx="27975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라이브러리가 아닌 코드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>
                <a:solidFill>
                  <a:srgbClr val="0000FF"/>
                </a:solidFill>
              </a:rPr>
              <a:t>여러분이 작성하는 </a:t>
            </a:r>
            <a:r>
              <a:rPr lang="ko-KR" altLang="en-US" dirty="0"/>
              <a:t>코드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9" name="오른쪽 중괄호 8"/>
          <p:cNvSpPr/>
          <p:nvPr/>
        </p:nvSpPr>
        <p:spPr>
          <a:xfrm>
            <a:off x="4962820" y="4352907"/>
            <a:ext cx="257252" cy="1584176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/>
          <p:cNvCxnSpPr/>
          <p:nvPr/>
        </p:nvCxnSpPr>
        <p:spPr>
          <a:xfrm flipH="1">
            <a:off x="5508104" y="1832627"/>
            <a:ext cx="720080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마음에 들지 않으면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7901014" cy="4525963"/>
          </a:xfrm>
        </p:spPr>
        <p:txBody>
          <a:bodyPr/>
          <a:lstStyle/>
          <a:p>
            <a:pPr latinLnBrk="0"/>
            <a:r>
              <a:rPr lang="ko-KR" altLang="en-US" dirty="0"/>
              <a:t>이 프로그램을 실행하면</a:t>
            </a:r>
            <a:r>
              <a:rPr lang="en-US" altLang="ko-KR" dirty="0"/>
              <a:t>??</a:t>
            </a:r>
          </a:p>
          <a:p>
            <a:pPr latinLnBrk="0"/>
            <a:r>
              <a:rPr lang="ko-KR" altLang="en-US" dirty="0"/>
              <a:t>화면에 표시되는 문자열이 </a:t>
            </a:r>
            <a:r>
              <a:rPr lang="ko-KR" altLang="en-US" dirty="0">
                <a:solidFill>
                  <a:srgbClr val="FF0000"/>
                </a:solidFill>
              </a:rPr>
              <a:t>마음에 들지 않으면</a:t>
            </a:r>
            <a:r>
              <a:rPr lang="en-US" altLang="ko-KR" dirty="0"/>
              <a:t>?</a:t>
            </a:r>
          </a:p>
          <a:p>
            <a:pPr latinLnBrk="0"/>
            <a:r>
              <a:rPr lang="ko-KR" altLang="en-US" dirty="0"/>
              <a:t>라이브러리</a:t>
            </a:r>
            <a:r>
              <a:rPr lang="en-US" altLang="ko-KR" dirty="0"/>
              <a:t>(</a:t>
            </a:r>
            <a:r>
              <a:rPr lang="en-US" altLang="ko-KR" dirty="0" err="1"/>
              <a:t>CBase</a:t>
            </a:r>
            <a:r>
              <a:rPr lang="en-US" altLang="ko-KR" dirty="0"/>
              <a:t>)</a:t>
            </a:r>
            <a:r>
              <a:rPr lang="ko-KR" altLang="en-US" dirty="0"/>
              <a:t>는 수정할 수 없다</a:t>
            </a:r>
            <a:r>
              <a:rPr lang="en-US" altLang="ko-KR" dirty="0"/>
              <a:t>.</a:t>
            </a:r>
          </a:p>
          <a:p>
            <a:pPr latinLnBrk="0"/>
            <a:r>
              <a:rPr lang="en-US" altLang="ko-KR" dirty="0"/>
              <a:t>OOP</a:t>
            </a:r>
            <a:r>
              <a:rPr lang="ko-KR" altLang="en-US" dirty="0"/>
              <a:t>에서 마음에 들지 않은 코드를 직접 고치지 않으면서 고치는 세련된 방법 </a:t>
            </a:r>
            <a:r>
              <a:rPr lang="en-US" altLang="ko-KR" dirty="0"/>
              <a:t>: </a:t>
            </a:r>
            <a:r>
              <a:rPr lang="ko-KR" altLang="en-US" dirty="0">
                <a:solidFill>
                  <a:srgbClr val="0000FF"/>
                </a:solidFill>
              </a:rPr>
              <a:t>함수 재정의  </a:t>
            </a:r>
            <a:r>
              <a:rPr lang="en-US" altLang="ko-KR" dirty="0">
                <a:solidFill>
                  <a:srgbClr val="0000FF"/>
                </a:solidFill>
              </a:rPr>
              <a:t>(5</a:t>
            </a:r>
            <a:r>
              <a:rPr lang="ko-KR" altLang="en-US" dirty="0">
                <a:solidFill>
                  <a:srgbClr val="0000FF"/>
                </a:solidFill>
              </a:rPr>
              <a:t>장에서 공부한 내용</a:t>
            </a:r>
            <a:r>
              <a:rPr lang="en-US" altLang="ko-KR" dirty="0">
                <a:solidFill>
                  <a:srgbClr val="0000FF"/>
                </a:solidFill>
              </a:rPr>
              <a:t>)</a:t>
            </a:r>
            <a:endParaRPr lang="ko-KR" altLang="en-US" dirty="0">
              <a:solidFill>
                <a:srgbClr val="0000FF"/>
              </a:solidFill>
            </a:endParaRPr>
          </a:p>
        </p:txBody>
      </p:sp>
      <p:pic>
        <p:nvPicPr>
          <p:cNvPr id="4" name="Picture 5" descr="C:\Documents and Settings\Administrator\Local Settings\Temporary Internet Files\Content.IE5\ZJ9FV6BV\MCj03456810000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29520" y="5572140"/>
            <a:ext cx="928694" cy="78533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1318342" y="133765"/>
            <a:ext cx="6710042" cy="6586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#include &lt;</a:t>
            </a:r>
            <a:r>
              <a:rPr kumimoji="1" lang="en-US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stdio.h</a:t>
            </a:r>
            <a:r>
              <a:rPr kumimoji="1" lang="en-US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&gt;</a:t>
            </a:r>
            <a:endParaRPr kumimoji="1" lang="en-US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  </a:t>
            </a:r>
            <a:endParaRPr kumimoji="1" lang="en-US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600" b="0" i="0" u="none" strike="noStrike" cap="none" normalizeH="0" baseline="0" dirty="0">
                <a:ln>
                  <a:noFill/>
                </a:ln>
                <a:effectLst/>
                <a:latin typeface="+mj-lt"/>
                <a:ea typeface="돋움" pitchFamily="50" charset="-127"/>
                <a:cs typeface="굴림" pitchFamily="50" charset="-127"/>
              </a:rPr>
              <a:t>class </a:t>
            </a:r>
            <a:r>
              <a:rPr kumimoji="1" lang="en-US" altLang="ko-KR" sz="1600" b="0" i="0" u="none" strike="noStrike" cap="none" normalizeH="0" baseline="0" dirty="0" err="1">
                <a:ln>
                  <a:noFill/>
                </a:ln>
                <a:effectLst/>
                <a:latin typeface="+mj-lt"/>
                <a:ea typeface="돋움" pitchFamily="50" charset="-127"/>
                <a:cs typeface="굴림" pitchFamily="50" charset="-127"/>
              </a:rPr>
              <a:t>CBase</a:t>
            </a:r>
            <a:r>
              <a:rPr kumimoji="1" lang="en-US" altLang="ko-KR" sz="1600" b="0" i="0" u="none" strike="noStrike" cap="none" normalizeH="0" baseline="0" dirty="0">
                <a:ln>
                  <a:noFill/>
                </a:ln>
                <a:effectLst/>
                <a:latin typeface="+mj-lt"/>
                <a:ea typeface="돋움" pitchFamily="50" charset="-127"/>
                <a:cs typeface="굴림" pitchFamily="50" charset="-127"/>
              </a:rPr>
              <a:t> {</a:t>
            </a:r>
            <a:endParaRPr kumimoji="1" lang="en-US" altLang="ko-KR" sz="1100" b="0" i="0" u="none" strike="noStrike" cap="none" normalizeH="0" baseline="0" dirty="0">
              <a:ln>
                <a:noFill/>
              </a:ln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600" b="0" i="0" u="none" strike="noStrike" cap="none" normalizeH="0" baseline="0" dirty="0">
                <a:ln>
                  <a:noFill/>
                </a:ln>
                <a:effectLst/>
                <a:latin typeface="+mj-lt"/>
                <a:ea typeface="돋움" pitchFamily="50" charset="-127"/>
                <a:cs typeface="굴림" pitchFamily="50" charset="-127"/>
              </a:rPr>
              <a:t>public:</a:t>
            </a:r>
            <a:endParaRPr kumimoji="1" lang="en-US" altLang="ko-KR" sz="1100" b="0" i="0" u="none" strike="noStrike" cap="none" normalizeH="0" baseline="0" dirty="0">
              <a:ln>
                <a:noFill/>
              </a:ln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363538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void </a:t>
            </a:r>
            <a:r>
              <a:rPr kumimoji="1" lang="en-US" altLang="ko-KR" sz="16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WhoAreYou</a:t>
            </a:r>
            <a:r>
              <a:rPr kumimoji="1" lang="en-US" altLang="ko-KR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() </a:t>
            </a:r>
            <a:endParaRPr kumimoji="1" lang="en-US" altLang="ko-KR" sz="1100" b="0" i="0" u="none" strike="noStrike" cap="none" normalizeH="0" baseline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363538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{</a:t>
            </a:r>
            <a:endParaRPr kumimoji="1" lang="en-US" altLang="ko-KR" sz="1100" b="0" i="0" u="none" strike="noStrike" cap="none" normalizeH="0" baseline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71755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6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printf</a:t>
            </a:r>
            <a:r>
              <a:rPr kumimoji="1" lang="en-US" altLang="ko-KR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("</a:t>
            </a:r>
            <a:r>
              <a:rPr kumimoji="1" lang="en-US" altLang="ko-KR" sz="16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CBase</a:t>
            </a:r>
            <a:r>
              <a:rPr kumimoji="1" lang="en-US" altLang="ko-KR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!\n");</a:t>
            </a:r>
            <a:endParaRPr kumimoji="1" lang="en-US" altLang="ko-KR" sz="1100" b="0" i="0" u="none" strike="noStrike" cap="none" normalizeH="0" baseline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363538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}</a:t>
            </a:r>
            <a:endParaRPr kumimoji="1" lang="en-US" altLang="ko-KR" sz="1100" b="0" i="0" u="none" strike="noStrike" cap="none" normalizeH="0" baseline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600" b="0" i="0" u="none" strike="noStrike" cap="none" normalizeH="0" baseline="0" dirty="0">
                <a:ln>
                  <a:noFill/>
                </a:ln>
                <a:effectLst/>
                <a:latin typeface="+mj-lt"/>
                <a:ea typeface="돋움" pitchFamily="50" charset="-127"/>
                <a:cs typeface="굴림" pitchFamily="50" charset="-127"/>
              </a:rPr>
              <a:t>};</a:t>
            </a:r>
            <a:endParaRPr kumimoji="1" lang="en-US" altLang="ko-KR" sz="1100" b="0" i="0" u="none" strike="noStrike" cap="none" normalizeH="0" baseline="0" dirty="0">
              <a:ln>
                <a:noFill/>
              </a:ln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 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600" dirty="0">
                <a:solidFill>
                  <a:srgbClr val="000000"/>
                </a:solidFill>
                <a:latin typeface="+mj-lt"/>
                <a:ea typeface="돋움" pitchFamily="50" charset="-127"/>
                <a:cs typeface="굴림" pitchFamily="50" charset="-127"/>
              </a:rPr>
              <a:t>class </a:t>
            </a:r>
            <a:r>
              <a:rPr kumimoji="1" lang="en-US" altLang="ko-KR" sz="1600" dirty="0" err="1">
                <a:solidFill>
                  <a:srgbClr val="FF0000"/>
                </a:solidFill>
                <a:latin typeface="+mj-lt"/>
                <a:ea typeface="돋움" pitchFamily="50" charset="-127"/>
                <a:cs typeface="굴림" pitchFamily="50" charset="-127"/>
              </a:rPr>
              <a:t>CDerived</a:t>
            </a:r>
            <a:r>
              <a:rPr kumimoji="1" lang="en-US" altLang="ko-KR" sz="1600" dirty="0">
                <a:solidFill>
                  <a:srgbClr val="000000"/>
                </a:solidFill>
                <a:latin typeface="+mj-lt"/>
                <a:ea typeface="돋움" pitchFamily="50" charset="-127"/>
                <a:cs typeface="굴림" pitchFamily="50" charset="-127"/>
              </a:rPr>
              <a:t> : </a:t>
            </a:r>
            <a:r>
              <a:rPr kumimoji="1" lang="en-US" altLang="ko-KR" sz="1600" dirty="0">
                <a:solidFill>
                  <a:srgbClr val="0000FF"/>
                </a:solidFill>
                <a:latin typeface="+mj-lt"/>
                <a:ea typeface="돋움" pitchFamily="50" charset="-127"/>
                <a:cs typeface="굴림" pitchFamily="50" charset="-127"/>
              </a:rPr>
              <a:t>public </a:t>
            </a:r>
            <a:r>
              <a:rPr kumimoji="1" lang="en-US" altLang="ko-KR" sz="1600" dirty="0" err="1">
                <a:solidFill>
                  <a:srgbClr val="0000FF"/>
                </a:solidFill>
                <a:latin typeface="+mj-lt"/>
                <a:ea typeface="돋움" pitchFamily="50" charset="-127"/>
                <a:cs typeface="굴림" pitchFamily="50" charset="-127"/>
              </a:rPr>
              <a:t>CBase</a:t>
            </a:r>
            <a:r>
              <a:rPr kumimoji="1" lang="en-US" altLang="ko-KR" sz="1600" dirty="0">
                <a:solidFill>
                  <a:srgbClr val="0000FF"/>
                </a:solidFill>
                <a:latin typeface="+mj-lt"/>
                <a:ea typeface="돋움" pitchFamily="50" charset="-127"/>
                <a:cs typeface="굴림" pitchFamily="50" charset="-127"/>
              </a:rPr>
              <a:t> </a:t>
            </a:r>
            <a:r>
              <a:rPr kumimoji="1" lang="en-US" altLang="ko-KR" sz="1600" dirty="0">
                <a:solidFill>
                  <a:srgbClr val="000000"/>
                </a:solidFill>
                <a:latin typeface="+mj-lt"/>
                <a:ea typeface="돋움" pitchFamily="50" charset="-127"/>
                <a:cs typeface="굴림" pitchFamily="50" charset="-127"/>
              </a:rPr>
              <a:t>{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public:</a:t>
            </a:r>
          </a:p>
          <a:p>
            <a:pPr marL="363538"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dirty="0">
                <a:solidFill>
                  <a:srgbClr val="000000"/>
                </a:solidFill>
                <a:ea typeface="돋움" pitchFamily="50" charset="-127"/>
                <a:cs typeface="굴림" pitchFamily="50" charset="-127"/>
              </a:rPr>
              <a:t>void </a:t>
            </a:r>
            <a:r>
              <a:rPr kumimoji="1" lang="en-US" altLang="ko-KR" sz="1600" dirty="0" err="1">
                <a:solidFill>
                  <a:srgbClr val="000000"/>
                </a:solidFill>
                <a:ea typeface="돋움" pitchFamily="50" charset="-127"/>
                <a:cs typeface="굴림" pitchFamily="50" charset="-127"/>
              </a:rPr>
              <a:t>WhoAreYou</a:t>
            </a:r>
            <a:r>
              <a:rPr kumimoji="1" lang="en-US" altLang="ko-KR" sz="1600" dirty="0">
                <a:solidFill>
                  <a:srgbClr val="000000"/>
                </a:solidFill>
                <a:ea typeface="돋움" pitchFamily="50" charset="-127"/>
                <a:cs typeface="굴림" pitchFamily="50" charset="-127"/>
              </a:rPr>
              <a:t>() </a:t>
            </a:r>
            <a:endParaRPr kumimoji="1" lang="en-US" altLang="ko-KR" sz="1100" dirty="0">
              <a:ea typeface="굴림" pitchFamily="50" charset="-127"/>
              <a:cs typeface="굴림" pitchFamily="50" charset="-127"/>
            </a:endParaRPr>
          </a:p>
          <a:p>
            <a:pPr marL="363538"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dirty="0">
                <a:solidFill>
                  <a:srgbClr val="000000"/>
                </a:solidFill>
                <a:ea typeface="돋움" pitchFamily="50" charset="-127"/>
                <a:cs typeface="굴림" pitchFamily="50" charset="-127"/>
              </a:rPr>
              <a:t>{</a:t>
            </a:r>
            <a:endParaRPr kumimoji="1" lang="en-US" altLang="ko-KR" sz="1100" dirty="0">
              <a:ea typeface="굴림" pitchFamily="50" charset="-127"/>
              <a:cs typeface="굴림" pitchFamily="50" charset="-127"/>
            </a:endParaRPr>
          </a:p>
          <a:p>
            <a:pPr marL="717550"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dirty="0" err="1">
                <a:solidFill>
                  <a:srgbClr val="000000"/>
                </a:solidFill>
                <a:ea typeface="돋움" pitchFamily="50" charset="-127"/>
                <a:cs typeface="굴림" pitchFamily="50" charset="-127"/>
              </a:rPr>
              <a:t>printf</a:t>
            </a:r>
            <a:r>
              <a:rPr kumimoji="1" lang="en-US" altLang="ko-KR" sz="1600" dirty="0">
                <a:solidFill>
                  <a:srgbClr val="000000"/>
                </a:solidFill>
                <a:ea typeface="돋움" pitchFamily="50" charset="-127"/>
                <a:cs typeface="굴림" pitchFamily="50" charset="-127"/>
              </a:rPr>
              <a:t>(“---------------------\n");</a:t>
            </a:r>
          </a:p>
          <a:p>
            <a:pPr marL="71755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dirty="0" err="1">
                <a:solidFill>
                  <a:srgbClr val="000000"/>
                </a:solidFill>
                <a:ea typeface="돋움" pitchFamily="50" charset="-127"/>
                <a:cs typeface="굴림" pitchFamily="50" charset="-127"/>
              </a:rPr>
              <a:t>printf</a:t>
            </a:r>
            <a:r>
              <a:rPr kumimoji="1" lang="en-US" altLang="ko-KR" sz="1600" dirty="0">
                <a:solidFill>
                  <a:srgbClr val="000000"/>
                </a:solidFill>
                <a:ea typeface="돋움" pitchFamily="50" charset="-127"/>
                <a:cs typeface="굴림" pitchFamily="50" charset="-127"/>
              </a:rPr>
              <a:t>(“Hello, I am a </a:t>
            </a:r>
            <a:r>
              <a:rPr kumimoji="1" lang="en-US" altLang="ko-KR" sz="1600" dirty="0" err="1">
                <a:solidFill>
                  <a:srgbClr val="000000"/>
                </a:solidFill>
                <a:ea typeface="돋움" pitchFamily="50" charset="-127"/>
                <a:cs typeface="굴림" pitchFamily="50" charset="-127"/>
              </a:rPr>
              <a:t>CBase</a:t>
            </a:r>
            <a:r>
              <a:rPr kumimoji="1" lang="en-US" altLang="ko-KR" sz="1600" dirty="0">
                <a:solidFill>
                  <a:srgbClr val="000000"/>
                </a:solidFill>
                <a:ea typeface="돋움" pitchFamily="50" charset="-127"/>
                <a:cs typeface="굴림" pitchFamily="50" charset="-127"/>
              </a:rPr>
              <a:t>!\n");</a:t>
            </a:r>
          </a:p>
          <a:p>
            <a:pPr marL="71755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dirty="0" err="1">
                <a:solidFill>
                  <a:srgbClr val="000000"/>
                </a:solidFill>
                <a:ea typeface="돋움" pitchFamily="50" charset="-127"/>
                <a:cs typeface="굴림" pitchFamily="50" charset="-127"/>
              </a:rPr>
              <a:t>printf</a:t>
            </a:r>
            <a:r>
              <a:rPr kumimoji="1" lang="en-US" altLang="ko-KR" sz="1600" dirty="0">
                <a:solidFill>
                  <a:srgbClr val="000000"/>
                </a:solidFill>
                <a:ea typeface="돋움" pitchFamily="50" charset="-127"/>
                <a:cs typeface="굴림" pitchFamily="50" charset="-127"/>
              </a:rPr>
              <a:t>(“---------------------\n");</a:t>
            </a:r>
          </a:p>
          <a:p>
            <a:pPr marL="717550"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1" lang="en-US" altLang="ko-KR" sz="1100" dirty="0">
              <a:ea typeface="굴림" pitchFamily="50" charset="-127"/>
              <a:cs typeface="굴림" pitchFamily="50" charset="-127"/>
            </a:endParaRPr>
          </a:p>
          <a:p>
            <a:pPr marL="363538"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dirty="0">
                <a:solidFill>
                  <a:srgbClr val="000000"/>
                </a:solidFill>
                <a:ea typeface="돋움" pitchFamily="50" charset="-127"/>
                <a:cs typeface="굴림" pitchFamily="50" charset="-127"/>
              </a:rPr>
              <a:t>}</a:t>
            </a:r>
          </a:p>
          <a:p>
            <a:pPr marL="1588"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dirty="0">
                <a:solidFill>
                  <a:srgbClr val="000000"/>
                </a:solidFill>
                <a:ea typeface="돋움" pitchFamily="50" charset="-127"/>
                <a:cs typeface="굴림" pitchFamily="50" charset="-127"/>
              </a:rPr>
              <a:t>};</a:t>
            </a:r>
          </a:p>
          <a:p>
            <a:pPr marL="1588"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1" lang="en-US" altLang="ko-KR" sz="1100" dirty="0"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600" b="1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CDerived</a:t>
            </a:r>
            <a:r>
              <a:rPr kumimoji="1" lang="en-US" altLang="ko-KR" sz="16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 </a:t>
            </a:r>
            <a:r>
              <a:rPr kumimoji="1" lang="en-US" altLang="ko-KR" sz="1600" b="1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gildong</a:t>
            </a:r>
            <a:r>
              <a:rPr kumimoji="1" lang="en-US" altLang="ko-KR" sz="16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;</a:t>
            </a:r>
            <a:endParaRPr kumimoji="1" lang="en-US" altLang="ko-KR" sz="1100" b="1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  </a:t>
            </a:r>
            <a:endParaRPr kumimoji="1" lang="en-US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600" b="0" i="0" u="none" strike="noStrike" cap="none" normalizeH="0" baseline="0" dirty="0">
                <a:ln>
                  <a:noFill/>
                </a:ln>
                <a:effectLst/>
                <a:latin typeface="+mj-lt"/>
                <a:ea typeface="돋움" pitchFamily="50" charset="-127"/>
                <a:cs typeface="굴림" pitchFamily="50" charset="-127"/>
              </a:rPr>
              <a:t>void main() </a:t>
            </a:r>
            <a:endParaRPr kumimoji="1" lang="en-US" altLang="ko-KR" sz="1100" b="0" i="0" u="none" strike="noStrike" cap="none" normalizeH="0" baseline="0" dirty="0">
              <a:ln>
                <a:noFill/>
              </a:ln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600" b="0" i="0" u="none" strike="noStrike" cap="none" normalizeH="0" baseline="0" dirty="0">
                <a:ln>
                  <a:noFill/>
                </a:ln>
                <a:effectLst/>
                <a:latin typeface="+mj-lt"/>
                <a:ea typeface="돋움" pitchFamily="50" charset="-127"/>
                <a:cs typeface="굴림" pitchFamily="50" charset="-127"/>
              </a:rPr>
              <a:t>{</a:t>
            </a:r>
            <a:endParaRPr kumimoji="1" lang="en-US" altLang="ko-KR" sz="1100" b="0" i="0" u="none" strike="noStrike" cap="none" normalizeH="0" baseline="0" dirty="0">
              <a:ln>
                <a:noFill/>
              </a:ln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363538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600" b="0" i="0" u="none" strike="noStrike" cap="none" normalizeH="0" baseline="0" dirty="0" err="1">
                <a:ln>
                  <a:noFill/>
                </a:ln>
                <a:effectLst/>
                <a:latin typeface="+mj-lt"/>
                <a:ea typeface="돋움" pitchFamily="50" charset="-127"/>
                <a:cs typeface="굴림" pitchFamily="50" charset="-127"/>
              </a:rPr>
              <a:t>gildong.WhoAreYou</a:t>
            </a:r>
            <a:r>
              <a:rPr kumimoji="1" lang="en-US" altLang="ko-KR" sz="1600" b="0" i="0" u="none" strike="noStrike" cap="none" normalizeH="0" baseline="0" dirty="0">
                <a:ln>
                  <a:noFill/>
                </a:ln>
                <a:effectLst/>
                <a:latin typeface="+mj-lt"/>
                <a:ea typeface="돋움" pitchFamily="50" charset="-127"/>
                <a:cs typeface="굴림" pitchFamily="50" charset="-127"/>
              </a:rPr>
              <a:t>();</a:t>
            </a:r>
            <a:endParaRPr kumimoji="1" lang="en-US" altLang="ko-KR" sz="1100" b="0" i="0" u="none" strike="noStrike" cap="none" normalizeH="0" baseline="0" dirty="0">
              <a:ln>
                <a:noFill/>
              </a:ln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600" b="0" i="0" u="none" strike="noStrike" cap="none" normalizeH="0" baseline="0" dirty="0">
                <a:ln>
                  <a:noFill/>
                </a:ln>
                <a:effectLst/>
                <a:latin typeface="+mj-lt"/>
                <a:ea typeface="돋움" pitchFamily="50" charset="-127"/>
                <a:cs typeface="굴림" pitchFamily="50" charset="-127"/>
              </a:rPr>
              <a:t>}</a:t>
            </a:r>
            <a:endParaRPr kumimoji="1" lang="en-US" altLang="ko-KR" sz="4000" b="0" i="0" u="none" strike="noStrike" cap="none" normalizeH="0" baseline="0" dirty="0">
              <a:ln>
                <a:noFill/>
              </a:ln>
              <a:effectLst/>
              <a:latin typeface="+mj-lt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54B8A4-5852-59F7-8F97-26F2D9E097F8}"/>
              </a:ext>
            </a:extLst>
          </p:cNvPr>
          <p:cNvSpPr txBox="1"/>
          <p:nvPr/>
        </p:nvSpPr>
        <p:spPr>
          <a:xfrm>
            <a:off x="5148064" y="1196752"/>
            <a:ext cx="3456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2"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마음에</a:t>
            </a:r>
            <a:r>
              <a:rPr lang="ko-KR" altLang="en-US" dirty="0">
                <a:solidFill>
                  <a:schemeClr val="accent1"/>
                </a:solidFill>
                <a:latin typeface="Rix고딕 B" panose="02020603020101020101" pitchFamily="18" charset="-127"/>
                <a:ea typeface="Rix고딕 B" panose="02020603020101020101" pitchFamily="18" charset="-127"/>
                <a:cs typeface="+mj-cs"/>
              </a:rPr>
              <a:t> </a:t>
            </a:r>
            <a:r>
              <a:rPr lang="ko-KR" altLang="en-US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2"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들지 않아 재정의</a:t>
            </a:r>
            <a:r>
              <a:rPr lang="en-US" altLang="ko-KR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2"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F983F8-7BE4-9BCE-8A8E-2D1E48CFFF36}"/>
              </a:ext>
            </a:extLst>
          </p:cNvPr>
          <p:cNvSpPr txBox="1"/>
          <p:nvPr/>
        </p:nvSpPr>
        <p:spPr>
          <a:xfrm>
            <a:off x="5255568" y="1566084"/>
            <a:ext cx="3348880" cy="33855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indent="0">
              <a:buSzPct val="85000"/>
              <a:buNone/>
              <a:defRPr sz="3000" b="0" spc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defRPr>
            </a:lvl1pPr>
          </a:lstStyle>
          <a:p>
            <a:pPr marL="123825" indent="-123825" fontAlgn="base" latinLnBrk="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l"/>
            </a:pPr>
            <a:r>
              <a:rPr lang="ko-KR" altLang="en-US" sz="11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기존에 있던 </a:t>
            </a:r>
            <a:r>
              <a:rPr lang="en-US" altLang="ko-KR" sz="1100" b="1" spc="-50" dirty="0" err="1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WhoAreYou</a:t>
            </a:r>
            <a:r>
              <a:rPr lang="en-US" altLang="ko-KR" sz="11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1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함수가 마음에 들지 않으니 재정의</a:t>
            </a:r>
          </a:p>
          <a:p>
            <a:pPr marL="123825" indent="-123825" fontAlgn="base" latinLnBrk="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l"/>
            </a:pPr>
            <a:r>
              <a:rPr lang="ko-KR" altLang="en-US" sz="11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마음에 들었다면</a:t>
            </a:r>
            <a:r>
              <a:rPr lang="en-US" altLang="ko-KR" sz="11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? </a:t>
            </a:r>
            <a:r>
              <a:rPr lang="ko-KR" altLang="en-US" sz="11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재정의하지 않았을 것</a:t>
            </a:r>
            <a:r>
              <a:rPr lang="en-US" altLang="ko-KR" sz="11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!</a:t>
            </a:r>
            <a:endParaRPr lang="ko-KR" altLang="en-US" sz="1100" b="1" spc="-50" dirty="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  <a:alpha val="72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FDCC324-BCCA-B9C5-8C49-99A99E8D844B}"/>
              </a:ext>
            </a:extLst>
          </p:cNvPr>
          <p:cNvSpPr txBox="1"/>
          <p:nvPr/>
        </p:nvSpPr>
        <p:spPr>
          <a:xfrm>
            <a:off x="914152" y="260648"/>
            <a:ext cx="4572000" cy="601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ea typeface="돋움체" panose="020B0609000101010101" pitchFamily="49" charset="-127"/>
              </a:rPr>
              <a:t>#include &lt;</a:t>
            </a:r>
            <a:r>
              <a:rPr lang="en-US" altLang="ko-KR" sz="1100" dirty="0" err="1">
                <a:ea typeface="돋움체" panose="020B0609000101010101" pitchFamily="49" charset="-127"/>
              </a:rPr>
              <a:t>stdio.h</a:t>
            </a:r>
            <a:r>
              <a:rPr lang="en-US" altLang="ko-KR" sz="1100" dirty="0">
                <a:ea typeface="돋움체" panose="020B0609000101010101" pitchFamily="49" charset="-127"/>
              </a:rPr>
              <a:t>&gt;</a:t>
            </a:r>
          </a:p>
          <a:p>
            <a:endParaRPr lang="en-US" altLang="ko-KR" sz="1100" dirty="0">
              <a:ea typeface="돋움체" panose="020B0609000101010101" pitchFamily="49" charset="-127"/>
            </a:endParaRPr>
          </a:p>
          <a:p>
            <a:r>
              <a:rPr lang="en-US" altLang="ko-KR" sz="1100" dirty="0">
                <a:ea typeface="돋움체" panose="020B0609000101010101" pitchFamily="49" charset="-127"/>
              </a:rPr>
              <a:t>class </a:t>
            </a:r>
            <a:r>
              <a:rPr lang="en-US" altLang="ko-KR" sz="1100" dirty="0" err="1">
                <a:ea typeface="돋움체" panose="020B0609000101010101" pitchFamily="49" charset="-127"/>
              </a:rPr>
              <a:t>CBase</a:t>
            </a:r>
            <a:r>
              <a:rPr lang="en-US" altLang="ko-KR" sz="1100" dirty="0">
                <a:ea typeface="돋움체" panose="020B0609000101010101" pitchFamily="49" charset="-127"/>
              </a:rPr>
              <a:t> {</a:t>
            </a:r>
          </a:p>
          <a:p>
            <a:r>
              <a:rPr lang="en-US" altLang="ko-KR" sz="1100" dirty="0">
                <a:ea typeface="돋움체" panose="020B0609000101010101" pitchFamily="49" charset="-127"/>
              </a:rPr>
              <a:t>Public:</a:t>
            </a:r>
          </a:p>
          <a:p>
            <a:r>
              <a:rPr lang="en-US" altLang="ko-KR" sz="1100" dirty="0">
                <a:ea typeface="돋움체" panose="020B0609000101010101" pitchFamily="49" charset="-127"/>
              </a:rPr>
              <a:t>        void </a:t>
            </a:r>
            <a:r>
              <a:rPr lang="en-US" altLang="ko-KR" sz="1100" dirty="0" err="1">
                <a:ea typeface="돋움체" panose="020B0609000101010101" pitchFamily="49" charset="-127"/>
              </a:rPr>
              <a:t>WhoAreYou</a:t>
            </a:r>
            <a:r>
              <a:rPr lang="en-US" altLang="ko-KR" sz="1100" dirty="0">
                <a:ea typeface="돋움체" panose="020B0609000101010101" pitchFamily="49" charset="-127"/>
              </a:rPr>
              <a:t>() {</a:t>
            </a:r>
          </a:p>
          <a:p>
            <a:r>
              <a:rPr lang="en-US" altLang="ko-KR" sz="1100" dirty="0">
                <a:ea typeface="돋움체" panose="020B0609000101010101" pitchFamily="49" charset="-127"/>
              </a:rPr>
              <a:t>    </a:t>
            </a:r>
            <a:r>
              <a:rPr lang="en-US" altLang="ko-KR" sz="1100" dirty="0">
                <a:solidFill>
                  <a:srgbClr val="FF0000"/>
                </a:solidFill>
                <a:ea typeface="돋움체" panose="020B0609000101010101" pitchFamily="49" charset="-127"/>
              </a:rPr>
              <a:t>	</a:t>
            </a:r>
            <a:r>
              <a:rPr lang="en-US" altLang="ko-KR" sz="1100" dirty="0" err="1">
                <a:solidFill>
                  <a:srgbClr val="FF0000"/>
                </a:solidFill>
                <a:ea typeface="돋움체" panose="020B0609000101010101" pitchFamily="49" charset="-127"/>
              </a:rPr>
              <a:t>printf</a:t>
            </a:r>
            <a:r>
              <a:rPr lang="en-US" altLang="ko-KR" sz="1100" dirty="0">
                <a:solidFill>
                  <a:srgbClr val="FF0000"/>
                </a:solidFill>
                <a:ea typeface="돋움체" panose="020B0609000101010101" pitchFamily="49" charset="-127"/>
              </a:rPr>
              <a:t>(“</a:t>
            </a:r>
            <a:r>
              <a:rPr lang="en-US" altLang="ko-KR" sz="1100" dirty="0" err="1">
                <a:solidFill>
                  <a:srgbClr val="FF0000"/>
                </a:solidFill>
                <a:ea typeface="돋움체" panose="020B0609000101010101" pitchFamily="49" charset="-127"/>
              </a:rPr>
              <a:t>CBase</a:t>
            </a:r>
            <a:r>
              <a:rPr lang="en-US" altLang="ko-KR" sz="1100" dirty="0">
                <a:solidFill>
                  <a:srgbClr val="FF0000"/>
                </a:solidFill>
                <a:ea typeface="돋움체" panose="020B0609000101010101" pitchFamily="49" charset="-127"/>
              </a:rPr>
              <a:t>!\n”);</a:t>
            </a:r>
          </a:p>
          <a:p>
            <a:r>
              <a:rPr lang="en-US" altLang="ko-KR" sz="1100" dirty="0">
                <a:solidFill>
                  <a:srgbClr val="0000FF"/>
                </a:solidFill>
                <a:ea typeface="돋움체" panose="020B0609000101010101" pitchFamily="49" charset="-127"/>
              </a:rPr>
              <a:t>	</a:t>
            </a:r>
            <a:r>
              <a:rPr lang="en-US" altLang="ko-KR" sz="1100" dirty="0" err="1">
                <a:solidFill>
                  <a:srgbClr val="0000FF"/>
                </a:solidFill>
                <a:ea typeface="돋움체" panose="020B0609000101010101" pitchFamily="49" charset="-127"/>
              </a:rPr>
              <a:t>printf</a:t>
            </a:r>
            <a:r>
              <a:rPr lang="en-US" altLang="ko-KR" sz="1100" dirty="0">
                <a:solidFill>
                  <a:srgbClr val="0000FF"/>
                </a:solidFill>
                <a:ea typeface="돋움체" panose="020B0609000101010101" pitchFamily="49" charset="-127"/>
              </a:rPr>
              <a:t>(“------------------------\n”);</a:t>
            </a:r>
          </a:p>
          <a:p>
            <a:r>
              <a:rPr lang="en-US" altLang="ko-KR" sz="1100" dirty="0">
                <a:solidFill>
                  <a:srgbClr val="0000FF"/>
                </a:solidFill>
                <a:ea typeface="돋움체" panose="020B0609000101010101" pitchFamily="49" charset="-127"/>
              </a:rPr>
              <a:t>	</a:t>
            </a:r>
            <a:r>
              <a:rPr lang="en-US" altLang="ko-KR" sz="1100" dirty="0" err="1">
                <a:solidFill>
                  <a:srgbClr val="0000FF"/>
                </a:solidFill>
                <a:ea typeface="돋움체" panose="020B0609000101010101" pitchFamily="49" charset="-127"/>
              </a:rPr>
              <a:t>printf</a:t>
            </a:r>
            <a:r>
              <a:rPr lang="en-US" altLang="ko-KR" sz="1100" dirty="0">
                <a:solidFill>
                  <a:srgbClr val="0000FF"/>
                </a:solidFill>
                <a:ea typeface="돋움체" panose="020B0609000101010101" pitchFamily="49" charset="-127"/>
              </a:rPr>
              <a:t>(“Copyright (c)\n”);</a:t>
            </a:r>
          </a:p>
          <a:p>
            <a:r>
              <a:rPr lang="en-US" altLang="ko-KR" sz="1100" dirty="0">
                <a:solidFill>
                  <a:srgbClr val="0000FF"/>
                </a:solidFill>
                <a:ea typeface="돋움체" panose="020B0609000101010101" pitchFamily="49" charset="-127"/>
              </a:rPr>
              <a:t>	</a:t>
            </a:r>
            <a:r>
              <a:rPr lang="en-US" altLang="ko-KR" sz="1100" dirty="0" err="1">
                <a:solidFill>
                  <a:srgbClr val="0000FF"/>
                </a:solidFill>
                <a:ea typeface="돋움체" panose="020B0609000101010101" pitchFamily="49" charset="-127"/>
              </a:rPr>
              <a:t>printf</a:t>
            </a:r>
            <a:r>
              <a:rPr lang="en-US" altLang="ko-KR" sz="1100" dirty="0">
                <a:solidFill>
                  <a:srgbClr val="0000FF"/>
                </a:solidFill>
                <a:ea typeface="돋움체" panose="020B0609000101010101" pitchFamily="49" charset="-127"/>
              </a:rPr>
              <a:t>(“2025\n”);</a:t>
            </a:r>
          </a:p>
          <a:p>
            <a:r>
              <a:rPr lang="en-US" altLang="ko-KR" sz="1100" dirty="0">
                <a:solidFill>
                  <a:srgbClr val="0000FF"/>
                </a:solidFill>
                <a:ea typeface="돋움체" panose="020B0609000101010101" pitchFamily="49" charset="-127"/>
              </a:rPr>
              <a:t>	</a:t>
            </a:r>
            <a:r>
              <a:rPr lang="en-US" altLang="ko-KR" sz="1100" dirty="0" err="1">
                <a:solidFill>
                  <a:srgbClr val="0000FF"/>
                </a:solidFill>
                <a:ea typeface="돋움체" panose="020B0609000101010101" pitchFamily="49" charset="-127"/>
              </a:rPr>
              <a:t>printf</a:t>
            </a:r>
            <a:r>
              <a:rPr lang="en-US" altLang="ko-KR" sz="1100" dirty="0">
                <a:solidFill>
                  <a:srgbClr val="0000FF"/>
                </a:solidFill>
                <a:ea typeface="돋움체" panose="020B0609000101010101" pitchFamily="49" charset="-127"/>
              </a:rPr>
              <a:t>(“Jeju Island\n”);</a:t>
            </a:r>
          </a:p>
          <a:p>
            <a:r>
              <a:rPr lang="en-US" altLang="ko-KR" sz="1100" dirty="0">
                <a:solidFill>
                  <a:srgbClr val="0000FF"/>
                </a:solidFill>
                <a:ea typeface="돋움체" panose="020B0609000101010101" pitchFamily="49" charset="-127"/>
              </a:rPr>
              <a:t>	</a:t>
            </a:r>
            <a:r>
              <a:rPr lang="en-US" altLang="ko-KR" sz="1100" dirty="0" err="1">
                <a:solidFill>
                  <a:srgbClr val="0000FF"/>
                </a:solidFill>
                <a:ea typeface="돋움체" panose="020B0609000101010101" pitchFamily="49" charset="-127"/>
              </a:rPr>
              <a:t>printf</a:t>
            </a:r>
            <a:r>
              <a:rPr lang="en-US" altLang="ko-KR" sz="1100" dirty="0">
                <a:solidFill>
                  <a:srgbClr val="0000FF"/>
                </a:solidFill>
                <a:ea typeface="돋움체" panose="020B0609000101010101" pitchFamily="49" charset="-127"/>
              </a:rPr>
              <a:t>(“Jeju\n”);</a:t>
            </a:r>
          </a:p>
          <a:p>
            <a:r>
              <a:rPr lang="en-US" altLang="ko-KR" sz="1100" dirty="0">
                <a:solidFill>
                  <a:srgbClr val="0000FF"/>
                </a:solidFill>
                <a:ea typeface="돋움체" panose="020B0609000101010101" pitchFamily="49" charset="-127"/>
              </a:rPr>
              <a:t>	</a:t>
            </a:r>
            <a:r>
              <a:rPr lang="en-US" altLang="ko-KR" sz="1100" dirty="0" err="1">
                <a:solidFill>
                  <a:srgbClr val="0000FF"/>
                </a:solidFill>
                <a:ea typeface="돋움체" panose="020B0609000101010101" pitchFamily="49" charset="-127"/>
              </a:rPr>
              <a:t>printf</a:t>
            </a:r>
            <a:r>
              <a:rPr lang="en-US" altLang="ko-KR" sz="1100" dirty="0">
                <a:solidFill>
                  <a:srgbClr val="0000FF"/>
                </a:solidFill>
                <a:ea typeface="돋움체" panose="020B0609000101010101" pitchFamily="49" charset="-127"/>
              </a:rPr>
              <a:t>(“All Rights Reserved.\n”);</a:t>
            </a:r>
          </a:p>
          <a:p>
            <a:r>
              <a:rPr lang="en-US" altLang="ko-KR" sz="1100" dirty="0">
                <a:ea typeface="돋움체" panose="020B0609000101010101" pitchFamily="49" charset="-127"/>
              </a:rPr>
              <a:t>        }</a:t>
            </a:r>
          </a:p>
          <a:p>
            <a:r>
              <a:rPr lang="en-US" altLang="ko-KR" sz="1100" dirty="0">
                <a:ea typeface="돋움체" panose="020B0609000101010101" pitchFamily="49" charset="-127"/>
              </a:rPr>
              <a:t>};</a:t>
            </a:r>
          </a:p>
          <a:p>
            <a:endParaRPr lang="en-US" altLang="ko-KR" sz="1100" dirty="0">
              <a:ea typeface="돋움체" panose="020B0609000101010101" pitchFamily="49" charset="-127"/>
            </a:endParaRPr>
          </a:p>
          <a:p>
            <a:r>
              <a:rPr lang="en-US" altLang="ko-KR" sz="1100" dirty="0">
                <a:ea typeface="돋움체" panose="020B0609000101010101" pitchFamily="49" charset="-127"/>
              </a:rPr>
              <a:t>class </a:t>
            </a:r>
            <a:r>
              <a:rPr lang="en-US" altLang="ko-KR" sz="1100" dirty="0" err="1">
                <a:ea typeface="돋움체" panose="020B0609000101010101" pitchFamily="49" charset="-127"/>
              </a:rPr>
              <a:t>CDerived</a:t>
            </a:r>
            <a:r>
              <a:rPr lang="en-US" altLang="ko-KR" sz="1100" dirty="0">
                <a:ea typeface="돋움체" panose="020B0609000101010101" pitchFamily="49" charset="-127"/>
              </a:rPr>
              <a:t> : public </a:t>
            </a:r>
            <a:r>
              <a:rPr lang="en-US" altLang="ko-KR" sz="1100" dirty="0" err="1">
                <a:ea typeface="돋움체" panose="020B0609000101010101" pitchFamily="49" charset="-127"/>
              </a:rPr>
              <a:t>CBase</a:t>
            </a:r>
            <a:r>
              <a:rPr lang="en-US" altLang="ko-KR" sz="1100" dirty="0">
                <a:ea typeface="돋움체" panose="020B0609000101010101" pitchFamily="49" charset="-127"/>
              </a:rPr>
              <a:t> {</a:t>
            </a:r>
          </a:p>
          <a:p>
            <a:r>
              <a:rPr lang="en-US" altLang="ko-KR" sz="1100" dirty="0">
                <a:ea typeface="돋움체" panose="020B0609000101010101" pitchFamily="49" charset="-127"/>
              </a:rPr>
              <a:t>Public:</a:t>
            </a:r>
          </a:p>
          <a:p>
            <a:r>
              <a:rPr lang="en-US" altLang="ko-KR" sz="1100" dirty="0">
                <a:ea typeface="돋움체" panose="020B0609000101010101" pitchFamily="49" charset="-127"/>
              </a:rPr>
              <a:t>        void </a:t>
            </a:r>
            <a:r>
              <a:rPr lang="en-US" altLang="ko-KR" sz="1100" dirty="0" err="1">
                <a:ea typeface="돋움체" panose="020B0609000101010101" pitchFamily="49" charset="-127"/>
              </a:rPr>
              <a:t>WhoAreYou</a:t>
            </a:r>
            <a:r>
              <a:rPr lang="en-US" altLang="ko-KR" sz="1100" dirty="0">
                <a:ea typeface="돋움체" panose="020B0609000101010101" pitchFamily="49" charset="-127"/>
              </a:rPr>
              <a:t>() {</a:t>
            </a:r>
          </a:p>
          <a:p>
            <a:r>
              <a:rPr lang="en-US" altLang="ko-KR" sz="1100" dirty="0">
                <a:solidFill>
                  <a:srgbClr val="FF0000"/>
                </a:solidFill>
                <a:ea typeface="돋움체" panose="020B0609000101010101" pitchFamily="49" charset="-127"/>
              </a:rPr>
              <a:t>	</a:t>
            </a:r>
            <a:r>
              <a:rPr lang="en-US" altLang="ko-KR" sz="1100" dirty="0" err="1">
                <a:solidFill>
                  <a:srgbClr val="FF0000"/>
                </a:solidFill>
                <a:ea typeface="돋움체" panose="020B0609000101010101" pitchFamily="49" charset="-127"/>
              </a:rPr>
              <a:t>printf</a:t>
            </a:r>
            <a:r>
              <a:rPr lang="en-US" altLang="ko-KR" sz="1100" dirty="0">
                <a:solidFill>
                  <a:srgbClr val="FF0000"/>
                </a:solidFill>
                <a:ea typeface="돋움체" panose="020B0609000101010101" pitchFamily="49" charset="-127"/>
              </a:rPr>
              <a:t>(“Hello, I am a </a:t>
            </a:r>
            <a:r>
              <a:rPr lang="en-US" altLang="ko-KR" sz="1100" dirty="0" err="1">
                <a:solidFill>
                  <a:srgbClr val="FF0000"/>
                </a:solidFill>
                <a:ea typeface="돋움체" panose="020B0609000101010101" pitchFamily="49" charset="-127"/>
              </a:rPr>
              <a:t>CBase</a:t>
            </a:r>
            <a:r>
              <a:rPr lang="en-US" altLang="ko-KR" sz="1100" dirty="0">
                <a:solidFill>
                  <a:srgbClr val="FF0000"/>
                </a:solidFill>
                <a:ea typeface="돋움체" panose="020B0609000101010101" pitchFamily="49" charset="-127"/>
              </a:rPr>
              <a:t>!\n”);</a:t>
            </a:r>
          </a:p>
          <a:p>
            <a:r>
              <a:rPr lang="en-US" altLang="ko-KR" sz="1100" dirty="0">
                <a:ea typeface="돋움체" panose="020B0609000101010101" pitchFamily="49" charset="-127"/>
              </a:rPr>
              <a:t>	</a:t>
            </a:r>
            <a:r>
              <a:rPr lang="en-US" altLang="ko-KR" sz="1100" dirty="0" err="1">
                <a:solidFill>
                  <a:srgbClr val="0000FF"/>
                </a:solidFill>
                <a:ea typeface="돋움체" panose="020B0609000101010101" pitchFamily="49" charset="-127"/>
              </a:rPr>
              <a:t>printf</a:t>
            </a:r>
            <a:r>
              <a:rPr lang="en-US" altLang="ko-KR" sz="1100" dirty="0">
                <a:solidFill>
                  <a:srgbClr val="0000FF"/>
                </a:solidFill>
                <a:ea typeface="돋움체" panose="020B0609000101010101" pitchFamily="49" charset="-127"/>
              </a:rPr>
              <a:t>(“------------------------\n”);</a:t>
            </a:r>
          </a:p>
          <a:p>
            <a:r>
              <a:rPr lang="en-US" altLang="ko-KR" sz="1100" dirty="0">
                <a:solidFill>
                  <a:srgbClr val="0000FF"/>
                </a:solidFill>
                <a:ea typeface="돋움체" panose="020B0609000101010101" pitchFamily="49" charset="-127"/>
              </a:rPr>
              <a:t>	</a:t>
            </a:r>
            <a:r>
              <a:rPr lang="en-US" altLang="ko-KR" sz="1100" dirty="0" err="1">
                <a:solidFill>
                  <a:srgbClr val="0000FF"/>
                </a:solidFill>
                <a:ea typeface="돋움체" panose="020B0609000101010101" pitchFamily="49" charset="-127"/>
              </a:rPr>
              <a:t>printf</a:t>
            </a:r>
            <a:r>
              <a:rPr lang="en-US" altLang="ko-KR" sz="1100" dirty="0">
                <a:solidFill>
                  <a:srgbClr val="0000FF"/>
                </a:solidFill>
                <a:ea typeface="돋움체" panose="020B0609000101010101" pitchFamily="49" charset="-127"/>
              </a:rPr>
              <a:t>(“Copyright ©\n”);</a:t>
            </a:r>
          </a:p>
          <a:p>
            <a:r>
              <a:rPr lang="en-US" altLang="ko-KR" sz="1100" dirty="0">
                <a:solidFill>
                  <a:srgbClr val="0000FF"/>
                </a:solidFill>
                <a:ea typeface="돋움체" panose="020B0609000101010101" pitchFamily="49" charset="-127"/>
              </a:rPr>
              <a:t>	</a:t>
            </a:r>
            <a:r>
              <a:rPr lang="en-US" altLang="ko-KR" sz="1100" dirty="0" err="1">
                <a:solidFill>
                  <a:srgbClr val="0000FF"/>
                </a:solidFill>
                <a:ea typeface="돋움체" panose="020B0609000101010101" pitchFamily="49" charset="-127"/>
              </a:rPr>
              <a:t>printf</a:t>
            </a:r>
            <a:r>
              <a:rPr lang="en-US" altLang="ko-KR" sz="1100" dirty="0">
                <a:solidFill>
                  <a:srgbClr val="0000FF"/>
                </a:solidFill>
                <a:ea typeface="돋움체" panose="020B0609000101010101" pitchFamily="49" charset="-127"/>
              </a:rPr>
              <a:t>(“2025\n”); </a:t>
            </a:r>
          </a:p>
          <a:p>
            <a:r>
              <a:rPr lang="en-US" altLang="ko-KR" sz="1100" dirty="0">
                <a:solidFill>
                  <a:srgbClr val="0000FF"/>
                </a:solidFill>
                <a:ea typeface="돋움체" panose="020B0609000101010101" pitchFamily="49" charset="-127"/>
              </a:rPr>
              <a:t>	</a:t>
            </a:r>
            <a:r>
              <a:rPr lang="en-US" altLang="ko-KR" sz="1100" dirty="0" err="1">
                <a:solidFill>
                  <a:srgbClr val="0000FF"/>
                </a:solidFill>
                <a:ea typeface="돋움체" panose="020B0609000101010101" pitchFamily="49" charset="-127"/>
              </a:rPr>
              <a:t>printf</a:t>
            </a:r>
            <a:r>
              <a:rPr lang="en-US" altLang="ko-KR" sz="1100" dirty="0">
                <a:solidFill>
                  <a:srgbClr val="0000FF"/>
                </a:solidFill>
                <a:ea typeface="돋움체" panose="020B0609000101010101" pitchFamily="49" charset="-127"/>
              </a:rPr>
              <a:t>(“Jeju Island\n”);</a:t>
            </a:r>
          </a:p>
          <a:p>
            <a:r>
              <a:rPr lang="en-US" altLang="ko-KR" sz="1100" dirty="0">
                <a:solidFill>
                  <a:srgbClr val="0000FF"/>
                </a:solidFill>
                <a:ea typeface="돋움체" panose="020B0609000101010101" pitchFamily="49" charset="-127"/>
              </a:rPr>
              <a:t>	</a:t>
            </a:r>
            <a:r>
              <a:rPr lang="en-US" altLang="ko-KR" sz="1100" dirty="0" err="1">
                <a:solidFill>
                  <a:srgbClr val="0000FF"/>
                </a:solidFill>
                <a:ea typeface="돋움체" panose="020B0609000101010101" pitchFamily="49" charset="-127"/>
              </a:rPr>
              <a:t>printf</a:t>
            </a:r>
            <a:r>
              <a:rPr lang="en-US" altLang="ko-KR" sz="1100" dirty="0">
                <a:solidFill>
                  <a:srgbClr val="0000FF"/>
                </a:solidFill>
                <a:ea typeface="돋움체" panose="020B0609000101010101" pitchFamily="49" charset="-127"/>
              </a:rPr>
              <a:t>(“Jeju\n”);</a:t>
            </a:r>
          </a:p>
          <a:p>
            <a:r>
              <a:rPr lang="en-US" altLang="ko-KR" sz="1100" dirty="0">
                <a:solidFill>
                  <a:srgbClr val="0000FF"/>
                </a:solidFill>
                <a:ea typeface="돋움체" panose="020B0609000101010101" pitchFamily="49" charset="-127"/>
              </a:rPr>
              <a:t>	</a:t>
            </a:r>
            <a:r>
              <a:rPr lang="en-US" altLang="ko-KR" sz="1100" dirty="0" err="1">
                <a:solidFill>
                  <a:srgbClr val="0000FF"/>
                </a:solidFill>
                <a:ea typeface="돋움체" panose="020B0609000101010101" pitchFamily="49" charset="-127"/>
              </a:rPr>
              <a:t>printf</a:t>
            </a:r>
            <a:r>
              <a:rPr lang="en-US" altLang="ko-KR" sz="1100" dirty="0">
                <a:solidFill>
                  <a:srgbClr val="0000FF"/>
                </a:solidFill>
                <a:ea typeface="돋움체" panose="020B0609000101010101" pitchFamily="49" charset="-127"/>
              </a:rPr>
              <a:t>(“All Rights Reserved.\n”);</a:t>
            </a:r>
          </a:p>
          <a:p>
            <a:r>
              <a:rPr lang="en-US" altLang="ko-KR" sz="1100" dirty="0">
                <a:ea typeface="돋움체" panose="020B0609000101010101" pitchFamily="49" charset="-127"/>
              </a:rPr>
              <a:t>        }</a:t>
            </a:r>
          </a:p>
          <a:p>
            <a:r>
              <a:rPr lang="en-US" altLang="ko-KR" sz="1100" dirty="0">
                <a:ea typeface="돋움체" panose="020B0609000101010101" pitchFamily="49" charset="-127"/>
              </a:rPr>
              <a:t>};</a:t>
            </a:r>
          </a:p>
          <a:p>
            <a:endParaRPr lang="en-US" altLang="ko-KR" sz="1100" dirty="0">
              <a:ea typeface="돋움체" panose="020B0609000101010101" pitchFamily="49" charset="-127"/>
            </a:endParaRPr>
          </a:p>
          <a:p>
            <a:r>
              <a:rPr lang="en-US" altLang="ko-KR" sz="1100" dirty="0" err="1">
                <a:ea typeface="돋움체" panose="020B0609000101010101" pitchFamily="49" charset="-127"/>
              </a:rPr>
              <a:t>CDerived</a:t>
            </a:r>
            <a:r>
              <a:rPr lang="en-US" altLang="ko-KR" sz="1100" dirty="0">
                <a:ea typeface="돋움체" panose="020B0609000101010101" pitchFamily="49" charset="-127"/>
              </a:rPr>
              <a:t> </a:t>
            </a:r>
            <a:r>
              <a:rPr lang="en-US" altLang="ko-KR" sz="1100" dirty="0" err="1">
                <a:ea typeface="돋움체" panose="020B0609000101010101" pitchFamily="49" charset="-127"/>
              </a:rPr>
              <a:t>gildong</a:t>
            </a:r>
            <a:r>
              <a:rPr lang="en-US" altLang="ko-KR" sz="1100" dirty="0">
                <a:ea typeface="돋움체" panose="020B0609000101010101" pitchFamily="49" charset="-127"/>
              </a:rPr>
              <a:t>;</a:t>
            </a:r>
          </a:p>
          <a:p>
            <a:endParaRPr lang="en-US" altLang="ko-KR" sz="1100" dirty="0">
              <a:ea typeface="돋움체" panose="020B0609000101010101" pitchFamily="49" charset="-127"/>
            </a:endParaRPr>
          </a:p>
          <a:p>
            <a:r>
              <a:rPr lang="en-US" altLang="ko-KR" sz="1100" dirty="0">
                <a:ea typeface="돋움체" panose="020B0609000101010101" pitchFamily="49" charset="-127"/>
              </a:rPr>
              <a:t>void main()</a:t>
            </a:r>
          </a:p>
          <a:p>
            <a:r>
              <a:rPr lang="en-US" altLang="ko-KR" sz="1100" dirty="0"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100" dirty="0">
                <a:ea typeface="돋움체" panose="020B0609000101010101" pitchFamily="49" charset="-127"/>
              </a:rPr>
              <a:t>        </a:t>
            </a:r>
            <a:r>
              <a:rPr lang="en-US" altLang="ko-KR" sz="1100" dirty="0" err="1">
                <a:ea typeface="돋움체" panose="020B0609000101010101" pitchFamily="49" charset="-127"/>
              </a:rPr>
              <a:t>gildong.WhoAreYou</a:t>
            </a:r>
            <a:r>
              <a:rPr lang="en-US" altLang="ko-KR" sz="1100" dirty="0"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100" dirty="0">
                <a:ea typeface="돋움체" panose="020B0609000101010101" pitchFamily="49" charset="-127"/>
              </a:rPr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6DAD0B3-5EA6-87F3-EF48-683064B043A0}"/>
                  </a:ext>
                </a:extLst>
              </p:cNvPr>
              <p:cNvSpPr txBox="1"/>
              <p:nvPr/>
            </p:nvSpPr>
            <p:spPr>
              <a:xfrm>
                <a:off x="3955728" y="3214865"/>
                <a:ext cx="760288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80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ko-KR" altLang="en-US" sz="8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6DAD0B3-5EA6-87F3-EF48-683064B04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728" y="3214865"/>
                <a:ext cx="760288" cy="13234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7EDF5F4F-4BEC-11E1-8EF7-6014FDF3BCB6}"/>
              </a:ext>
            </a:extLst>
          </p:cNvPr>
          <p:cNvSpPr txBox="1"/>
          <p:nvPr/>
        </p:nvSpPr>
        <p:spPr>
          <a:xfrm>
            <a:off x="4773464" y="1475489"/>
            <a:ext cx="34563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20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2"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대부분은</a:t>
            </a:r>
            <a:r>
              <a:rPr lang="ko-KR" altLang="en-US" sz="2000" dirty="0">
                <a:solidFill>
                  <a:schemeClr val="accent1"/>
                </a:solidFill>
                <a:latin typeface="Rix고딕 B" panose="02020603020101020101" pitchFamily="18" charset="-127"/>
                <a:ea typeface="Rix고딕 B" panose="02020603020101020101" pitchFamily="18" charset="-127"/>
                <a:cs typeface="+mj-cs"/>
              </a:rPr>
              <a:t> </a:t>
            </a:r>
            <a:r>
              <a:rPr lang="ko-KR" altLang="en-US" sz="20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2"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마음에 들지만</a:t>
            </a:r>
            <a:endParaRPr lang="en-US" altLang="ko-KR" sz="2000" b="1" spc="-50" dirty="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2">
                  <a:alpha val="72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latinLnBrk="0"/>
            <a:r>
              <a:rPr lang="ko-KR" altLang="en-US" sz="20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rgbClr val="FF0000">
                    <a:alpha val="72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일부분</a:t>
            </a:r>
            <a:r>
              <a:rPr lang="ko-KR" altLang="en-US" sz="20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2"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 마음에 들지 않으면</a:t>
            </a:r>
            <a:r>
              <a:rPr lang="en-US" altLang="ko-KR" sz="20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2"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D1D35A-B383-9FD8-7820-3D19ED075B4A}"/>
              </a:ext>
            </a:extLst>
          </p:cNvPr>
          <p:cNvSpPr txBox="1"/>
          <p:nvPr/>
        </p:nvSpPr>
        <p:spPr>
          <a:xfrm>
            <a:off x="4932040" y="2276872"/>
            <a:ext cx="3579464" cy="50141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indent="0">
              <a:buSzPct val="85000"/>
              <a:buNone/>
              <a:defRPr sz="3000" b="0" spc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defRPr>
            </a:lvl1pPr>
          </a:lstStyle>
          <a:p>
            <a:pPr marL="182563" indent="-182563" fontAlgn="base" latinLnBrk="0">
              <a:lnSpc>
                <a:spcPct val="120000"/>
              </a:lnSpc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l"/>
            </a:pPr>
            <a:r>
              <a:rPr lang="ko-KR" altLang="en-US" sz="14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일부분만 마음에 들지 않아도 </a:t>
            </a:r>
            <a:r>
              <a:rPr lang="ko-KR" altLang="en-US" sz="14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accent6">
                    <a:lumMod val="7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전체</a:t>
            </a:r>
            <a:r>
              <a:rPr lang="en-US" altLang="ko-KR" sz="14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accent6">
                    <a:lumMod val="7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4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accent6">
                    <a:lumMod val="7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동일한 부분</a:t>
            </a:r>
            <a:r>
              <a:rPr lang="en-US" altLang="ko-KR" sz="14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accent6">
                    <a:lumMod val="7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  <a:r>
              <a:rPr lang="ko-KR" altLang="en-US" sz="14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accent6">
                    <a:lumMod val="7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를</a:t>
            </a:r>
            <a:r>
              <a:rPr lang="ko-KR" altLang="en-US" sz="14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다시 재정의 해야 하는 것은 짜증나는 일</a:t>
            </a:r>
            <a:endParaRPr lang="en-US" altLang="ko-KR" sz="1400" b="1" spc="-50" dirty="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accent6">
                  <a:lumMod val="75000"/>
                  <a:alpha val="72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F3A4AC76-EC23-5DBF-4A55-7726CDE1C56E}"/>
              </a:ext>
            </a:extLst>
          </p:cNvPr>
          <p:cNvCxnSpPr>
            <a:cxnSpLocks/>
          </p:cNvCxnSpPr>
          <p:nvPr/>
        </p:nvCxnSpPr>
        <p:spPr>
          <a:xfrm flipH="1" flipV="1">
            <a:off x="3131840" y="1196752"/>
            <a:ext cx="1584176" cy="504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282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FDCC324-BCCA-B9C5-8C49-99A99E8D844B}"/>
              </a:ext>
            </a:extLst>
          </p:cNvPr>
          <p:cNvSpPr txBox="1"/>
          <p:nvPr/>
        </p:nvSpPr>
        <p:spPr>
          <a:xfrm>
            <a:off x="683568" y="340124"/>
            <a:ext cx="45720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ea typeface="돋움체" panose="020B0609000101010101" pitchFamily="49" charset="-127"/>
              </a:rPr>
              <a:t>#include &lt;</a:t>
            </a:r>
            <a:r>
              <a:rPr lang="en-US" altLang="ko-KR" sz="1200" dirty="0" err="1">
                <a:ea typeface="돋움체" panose="020B0609000101010101" pitchFamily="49" charset="-127"/>
              </a:rPr>
              <a:t>stdio.h</a:t>
            </a:r>
            <a:r>
              <a:rPr lang="en-US" altLang="ko-KR" sz="1200" dirty="0">
                <a:ea typeface="돋움체" panose="020B0609000101010101" pitchFamily="49" charset="-127"/>
              </a:rPr>
              <a:t>&gt;</a:t>
            </a:r>
          </a:p>
          <a:p>
            <a:endParaRPr lang="en-US" altLang="ko-KR" sz="1200" dirty="0">
              <a:ea typeface="돋움체" panose="020B0609000101010101" pitchFamily="49" charset="-127"/>
            </a:endParaRPr>
          </a:p>
          <a:p>
            <a:r>
              <a:rPr lang="en-US" altLang="ko-KR" sz="1200" dirty="0">
                <a:ea typeface="돋움체" panose="020B0609000101010101" pitchFamily="49" charset="-127"/>
              </a:rPr>
              <a:t>class </a:t>
            </a:r>
            <a:r>
              <a:rPr lang="en-US" altLang="ko-KR" sz="1200" dirty="0" err="1">
                <a:ea typeface="돋움체" panose="020B0609000101010101" pitchFamily="49" charset="-127"/>
              </a:rPr>
              <a:t>CBase</a:t>
            </a:r>
            <a:r>
              <a:rPr lang="en-US" altLang="ko-KR" sz="1200" dirty="0">
                <a:ea typeface="돋움체" panose="020B0609000101010101" pitchFamily="49" charset="-127"/>
              </a:rPr>
              <a:t> {</a:t>
            </a:r>
          </a:p>
          <a:p>
            <a:r>
              <a:rPr lang="en-US" altLang="ko-KR" sz="1200" dirty="0">
                <a:ea typeface="돋움체" panose="020B0609000101010101" pitchFamily="49" charset="-127"/>
              </a:rPr>
              <a:t>Public:</a:t>
            </a:r>
          </a:p>
          <a:p>
            <a:r>
              <a:rPr lang="pt-BR" altLang="ko-KR" sz="1200" dirty="0">
                <a:solidFill>
                  <a:srgbClr val="00B050"/>
                </a:solidFill>
                <a:ea typeface="돋움체" panose="020B0609000101010101" pitchFamily="49" charset="-127"/>
              </a:rPr>
              <a:t>        </a:t>
            </a:r>
            <a:r>
              <a:rPr lang="pt-BR" altLang="ko-KR" sz="1200" b="1" u="sng" dirty="0">
                <a:solidFill>
                  <a:srgbClr val="FF0000"/>
                </a:solidFill>
                <a:ea typeface="돋움체" panose="020B0609000101010101" pitchFamily="49" charset="-127"/>
              </a:rPr>
              <a:t>virtual</a:t>
            </a:r>
            <a:r>
              <a:rPr lang="pt-BR" altLang="ko-KR" sz="1200" dirty="0">
                <a:solidFill>
                  <a:srgbClr val="00B050"/>
                </a:solidFill>
                <a:ea typeface="돋움체" panose="020B0609000101010101" pitchFamily="49" charset="-127"/>
              </a:rPr>
              <a:t> void xxx() {</a:t>
            </a:r>
          </a:p>
          <a:p>
            <a:r>
              <a:rPr lang="pt-BR" altLang="ko-KR" sz="1200" dirty="0">
                <a:solidFill>
                  <a:srgbClr val="00B050"/>
                </a:solidFill>
                <a:ea typeface="돋움체" panose="020B0609000101010101" pitchFamily="49" charset="-127"/>
              </a:rPr>
              <a:t>	printf("Base!\n");</a:t>
            </a:r>
          </a:p>
          <a:p>
            <a:r>
              <a:rPr lang="pt-BR" altLang="ko-KR" sz="1200" dirty="0">
                <a:solidFill>
                  <a:srgbClr val="00B050"/>
                </a:solidFill>
                <a:ea typeface="돋움체" panose="020B0609000101010101" pitchFamily="49" charset="-127"/>
              </a:rPr>
              <a:t>        }</a:t>
            </a:r>
          </a:p>
          <a:p>
            <a:endParaRPr lang="en-US" altLang="ko-KR" sz="1200" dirty="0">
              <a:ea typeface="돋움체" panose="020B0609000101010101" pitchFamily="49" charset="-127"/>
            </a:endParaRPr>
          </a:p>
          <a:p>
            <a:r>
              <a:rPr lang="en-US" altLang="ko-KR" sz="1200" dirty="0">
                <a:ea typeface="돋움체" panose="020B0609000101010101" pitchFamily="49" charset="-127"/>
              </a:rPr>
              <a:t>        void </a:t>
            </a:r>
            <a:r>
              <a:rPr lang="en-US" altLang="ko-KR" sz="1200" dirty="0" err="1">
                <a:ea typeface="돋움체" panose="020B0609000101010101" pitchFamily="49" charset="-127"/>
              </a:rPr>
              <a:t>WhoAreYou</a:t>
            </a:r>
            <a:r>
              <a:rPr lang="en-US" altLang="ko-KR" sz="1200" dirty="0">
                <a:ea typeface="돋움체" panose="020B0609000101010101" pitchFamily="49" charset="-127"/>
              </a:rPr>
              <a:t>() {</a:t>
            </a:r>
          </a:p>
          <a:p>
            <a:r>
              <a:rPr lang="en-US" altLang="ko-KR" sz="1200" dirty="0">
                <a:solidFill>
                  <a:srgbClr val="FF0000"/>
                </a:solidFill>
                <a:ea typeface="돋움체" panose="020B0609000101010101" pitchFamily="49" charset="-127"/>
              </a:rPr>
              <a:t>	xxx();</a:t>
            </a:r>
          </a:p>
          <a:p>
            <a:r>
              <a:rPr lang="en-US" altLang="ko-KR" sz="1200" dirty="0">
                <a:solidFill>
                  <a:srgbClr val="0000FF"/>
                </a:solidFill>
                <a:ea typeface="돋움체" panose="020B0609000101010101" pitchFamily="49" charset="-127"/>
              </a:rPr>
              <a:t>	</a:t>
            </a:r>
            <a:r>
              <a:rPr lang="en-US" altLang="ko-KR" sz="1200" dirty="0" err="1">
                <a:solidFill>
                  <a:srgbClr val="0000FF"/>
                </a:solidFill>
                <a:ea typeface="돋움체" panose="020B0609000101010101" pitchFamily="49" charset="-127"/>
              </a:rPr>
              <a:t>printf</a:t>
            </a:r>
            <a:r>
              <a:rPr lang="en-US" altLang="ko-KR" sz="1200" dirty="0">
                <a:solidFill>
                  <a:srgbClr val="0000FF"/>
                </a:solidFill>
                <a:ea typeface="돋움체" panose="020B0609000101010101" pitchFamily="49" charset="-127"/>
              </a:rPr>
              <a:t>(“------------------------\n”);</a:t>
            </a:r>
          </a:p>
          <a:p>
            <a:r>
              <a:rPr lang="en-US" altLang="ko-KR" sz="1200" dirty="0">
                <a:solidFill>
                  <a:srgbClr val="0000FF"/>
                </a:solidFill>
                <a:ea typeface="돋움체" panose="020B0609000101010101" pitchFamily="49" charset="-127"/>
              </a:rPr>
              <a:t>	</a:t>
            </a:r>
            <a:r>
              <a:rPr lang="en-US" altLang="ko-KR" sz="1200" dirty="0" err="1">
                <a:solidFill>
                  <a:srgbClr val="0000FF"/>
                </a:solidFill>
                <a:ea typeface="돋움체" panose="020B0609000101010101" pitchFamily="49" charset="-127"/>
              </a:rPr>
              <a:t>printf</a:t>
            </a:r>
            <a:r>
              <a:rPr lang="en-US" altLang="ko-KR" sz="1200" dirty="0">
                <a:solidFill>
                  <a:srgbClr val="0000FF"/>
                </a:solidFill>
                <a:ea typeface="돋움체" panose="020B0609000101010101" pitchFamily="49" charset="-127"/>
              </a:rPr>
              <a:t>(“Copyright (c)\n”);</a:t>
            </a:r>
          </a:p>
          <a:p>
            <a:r>
              <a:rPr lang="en-US" altLang="ko-KR" sz="1200" dirty="0">
                <a:solidFill>
                  <a:srgbClr val="0000FF"/>
                </a:solidFill>
                <a:ea typeface="돋움체" panose="020B0609000101010101" pitchFamily="49" charset="-127"/>
              </a:rPr>
              <a:t>	</a:t>
            </a:r>
            <a:r>
              <a:rPr lang="en-US" altLang="ko-KR" sz="1200" dirty="0" err="1">
                <a:solidFill>
                  <a:srgbClr val="0000FF"/>
                </a:solidFill>
                <a:ea typeface="돋움체" panose="020B0609000101010101" pitchFamily="49" charset="-127"/>
              </a:rPr>
              <a:t>printf</a:t>
            </a:r>
            <a:r>
              <a:rPr lang="en-US" altLang="ko-KR" sz="1200" dirty="0">
                <a:solidFill>
                  <a:srgbClr val="0000FF"/>
                </a:solidFill>
                <a:ea typeface="돋움체" panose="020B0609000101010101" pitchFamily="49" charset="-127"/>
              </a:rPr>
              <a:t>(“2025\n”);</a:t>
            </a:r>
          </a:p>
          <a:p>
            <a:r>
              <a:rPr lang="en-US" altLang="ko-KR" sz="1200" dirty="0">
                <a:solidFill>
                  <a:srgbClr val="0000FF"/>
                </a:solidFill>
                <a:ea typeface="돋움체" panose="020B0609000101010101" pitchFamily="49" charset="-127"/>
              </a:rPr>
              <a:t>	</a:t>
            </a:r>
            <a:r>
              <a:rPr lang="en-US" altLang="ko-KR" sz="1200" dirty="0" err="1">
                <a:solidFill>
                  <a:srgbClr val="0000FF"/>
                </a:solidFill>
                <a:ea typeface="돋움체" panose="020B0609000101010101" pitchFamily="49" charset="-127"/>
              </a:rPr>
              <a:t>printf</a:t>
            </a:r>
            <a:r>
              <a:rPr lang="en-US" altLang="ko-KR" sz="1200" dirty="0">
                <a:solidFill>
                  <a:srgbClr val="0000FF"/>
                </a:solidFill>
                <a:ea typeface="돋움체" panose="020B0609000101010101" pitchFamily="49" charset="-127"/>
              </a:rPr>
              <a:t>(“Jeju Island\n”);</a:t>
            </a:r>
          </a:p>
          <a:p>
            <a:r>
              <a:rPr lang="en-US" altLang="ko-KR" sz="1200" dirty="0">
                <a:solidFill>
                  <a:srgbClr val="0000FF"/>
                </a:solidFill>
                <a:ea typeface="돋움체" panose="020B0609000101010101" pitchFamily="49" charset="-127"/>
              </a:rPr>
              <a:t>	</a:t>
            </a:r>
            <a:r>
              <a:rPr lang="en-US" altLang="ko-KR" sz="1200" dirty="0" err="1">
                <a:solidFill>
                  <a:srgbClr val="0000FF"/>
                </a:solidFill>
                <a:ea typeface="돋움체" panose="020B0609000101010101" pitchFamily="49" charset="-127"/>
              </a:rPr>
              <a:t>printf</a:t>
            </a:r>
            <a:r>
              <a:rPr lang="en-US" altLang="ko-KR" sz="1200" dirty="0">
                <a:solidFill>
                  <a:srgbClr val="0000FF"/>
                </a:solidFill>
                <a:ea typeface="돋움체" panose="020B0609000101010101" pitchFamily="49" charset="-127"/>
              </a:rPr>
              <a:t>(“Jeju\n”);</a:t>
            </a:r>
          </a:p>
          <a:p>
            <a:r>
              <a:rPr lang="en-US" altLang="ko-KR" sz="1200" dirty="0">
                <a:solidFill>
                  <a:srgbClr val="0000FF"/>
                </a:solidFill>
                <a:ea typeface="돋움체" panose="020B0609000101010101" pitchFamily="49" charset="-127"/>
              </a:rPr>
              <a:t>	</a:t>
            </a:r>
            <a:r>
              <a:rPr lang="en-US" altLang="ko-KR" sz="1200" dirty="0" err="1">
                <a:solidFill>
                  <a:srgbClr val="0000FF"/>
                </a:solidFill>
                <a:ea typeface="돋움체" panose="020B0609000101010101" pitchFamily="49" charset="-127"/>
              </a:rPr>
              <a:t>printf</a:t>
            </a:r>
            <a:r>
              <a:rPr lang="en-US" altLang="ko-KR" sz="1200" dirty="0">
                <a:solidFill>
                  <a:srgbClr val="0000FF"/>
                </a:solidFill>
                <a:ea typeface="돋움체" panose="020B0609000101010101" pitchFamily="49" charset="-127"/>
              </a:rPr>
              <a:t>(“All Rights Reserved.\n”);</a:t>
            </a:r>
          </a:p>
          <a:p>
            <a:r>
              <a:rPr lang="en-US" altLang="ko-KR" sz="1200" dirty="0">
                <a:ea typeface="돋움체" panose="020B0609000101010101" pitchFamily="49" charset="-127"/>
              </a:rPr>
              <a:t>        }</a:t>
            </a:r>
          </a:p>
          <a:p>
            <a:r>
              <a:rPr lang="en-US" altLang="ko-KR" sz="1200" dirty="0">
                <a:ea typeface="돋움체" panose="020B0609000101010101" pitchFamily="49" charset="-127"/>
              </a:rPr>
              <a:t>};</a:t>
            </a:r>
          </a:p>
          <a:p>
            <a:endParaRPr lang="en-US" altLang="ko-KR" sz="1200" dirty="0">
              <a:ea typeface="돋움체" panose="020B0609000101010101" pitchFamily="49" charset="-127"/>
            </a:endParaRPr>
          </a:p>
          <a:p>
            <a:r>
              <a:rPr lang="en-US" altLang="ko-KR" sz="1200" dirty="0">
                <a:ea typeface="돋움체" panose="020B0609000101010101" pitchFamily="49" charset="-127"/>
              </a:rPr>
              <a:t>class </a:t>
            </a:r>
            <a:r>
              <a:rPr lang="en-US" altLang="ko-KR" sz="1200" b="1" dirty="0" err="1">
                <a:solidFill>
                  <a:schemeClr val="accent6"/>
                </a:solidFill>
                <a:ea typeface="돋움체" panose="020B0609000101010101" pitchFamily="49" charset="-127"/>
              </a:rPr>
              <a:t>CDerived</a:t>
            </a:r>
            <a:r>
              <a:rPr lang="en-US" altLang="ko-KR" sz="1200" dirty="0">
                <a:ea typeface="돋움체" panose="020B0609000101010101" pitchFamily="49" charset="-127"/>
              </a:rPr>
              <a:t> : public </a:t>
            </a:r>
            <a:r>
              <a:rPr lang="en-US" altLang="ko-KR" sz="1200" dirty="0" err="1">
                <a:ea typeface="돋움체" panose="020B0609000101010101" pitchFamily="49" charset="-127"/>
              </a:rPr>
              <a:t>CBase</a:t>
            </a:r>
            <a:r>
              <a:rPr lang="en-US" altLang="ko-KR" sz="1200" dirty="0">
                <a:ea typeface="돋움체" panose="020B0609000101010101" pitchFamily="49" charset="-127"/>
              </a:rPr>
              <a:t> {</a:t>
            </a:r>
          </a:p>
          <a:p>
            <a:r>
              <a:rPr lang="en-US" altLang="ko-KR" sz="1200" dirty="0">
                <a:ea typeface="돋움체" panose="020B0609000101010101" pitchFamily="49" charset="-127"/>
              </a:rPr>
              <a:t>Public:</a:t>
            </a:r>
          </a:p>
          <a:p>
            <a:r>
              <a:rPr lang="en-US" altLang="ko-KR" sz="1200" dirty="0">
                <a:solidFill>
                  <a:srgbClr val="00B050"/>
                </a:solidFill>
                <a:ea typeface="돋움체" panose="020B0609000101010101" pitchFamily="49" charset="-127"/>
              </a:rPr>
              <a:t>        void xxx() {</a:t>
            </a:r>
          </a:p>
          <a:p>
            <a:r>
              <a:rPr lang="en-US" altLang="ko-KR" sz="1200" dirty="0">
                <a:solidFill>
                  <a:srgbClr val="00B050"/>
                </a:solidFill>
                <a:ea typeface="돋움체" panose="020B0609000101010101" pitchFamily="49" charset="-127"/>
              </a:rPr>
              <a:t>	</a:t>
            </a:r>
            <a:r>
              <a:rPr lang="en-US" altLang="ko-KR" sz="1200" dirty="0" err="1">
                <a:solidFill>
                  <a:srgbClr val="00B050"/>
                </a:solidFill>
                <a:ea typeface="돋움체" panose="020B0609000101010101" pitchFamily="49" charset="-127"/>
              </a:rPr>
              <a:t>printf</a:t>
            </a:r>
            <a:r>
              <a:rPr lang="en-US" altLang="ko-KR" sz="1200" dirty="0">
                <a:solidFill>
                  <a:srgbClr val="00B050"/>
                </a:solidFill>
                <a:ea typeface="돋움체" panose="020B0609000101010101" pitchFamily="49" charset="-127"/>
              </a:rPr>
              <a:t>("My name is Base!\n");</a:t>
            </a:r>
          </a:p>
          <a:p>
            <a:r>
              <a:rPr lang="en-US" altLang="ko-KR" sz="1200" dirty="0">
                <a:solidFill>
                  <a:srgbClr val="00B050"/>
                </a:solidFill>
                <a:ea typeface="돋움체" panose="020B0609000101010101" pitchFamily="49" charset="-127"/>
              </a:rPr>
              <a:t>        }</a:t>
            </a:r>
          </a:p>
          <a:p>
            <a:r>
              <a:rPr lang="en-US" altLang="ko-KR" sz="1200" dirty="0">
                <a:ea typeface="돋움체" panose="020B0609000101010101" pitchFamily="49" charset="-127"/>
              </a:rPr>
              <a:t>};</a:t>
            </a:r>
          </a:p>
          <a:p>
            <a:endParaRPr lang="en-US" altLang="ko-KR" sz="1200" dirty="0">
              <a:ea typeface="돋움체" panose="020B0609000101010101" pitchFamily="49" charset="-127"/>
            </a:endParaRPr>
          </a:p>
          <a:p>
            <a:r>
              <a:rPr lang="en-US" altLang="ko-KR" sz="1200" b="1" dirty="0" err="1">
                <a:solidFill>
                  <a:schemeClr val="accent6"/>
                </a:solidFill>
                <a:ea typeface="돋움체" panose="020B0609000101010101" pitchFamily="49" charset="-127"/>
              </a:rPr>
              <a:t>CDerived</a:t>
            </a:r>
            <a:r>
              <a:rPr lang="en-US" altLang="ko-KR" sz="1200" dirty="0"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ea typeface="돋움체" panose="020B0609000101010101" pitchFamily="49" charset="-127"/>
              </a:rPr>
              <a:t>gildong</a:t>
            </a:r>
            <a:r>
              <a:rPr lang="en-US" altLang="ko-KR" sz="1200" dirty="0">
                <a:ea typeface="돋움체" panose="020B0609000101010101" pitchFamily="49" charset="-127"/>
              </a:rPr>
              <a:t>;</a:t>
            </a:r>
          </a:p>
          <a:p>
            <a:endParaRPr lang="en-US" altLang="ko-KR" sz="1200" dirty="0">
              <a:ea typeface="돋움체" panose="020B0609000101010101" pitchFamily="49" charset="-127"/>
            </a:endParaRPr>
          </a:p>
          <a:p>
            <a:r>
              <a:rPr lang="en-US" altLang="ko-KR" sz="1200" dirty="0">
                <a:ea typeface="돋움체" panose="020B0609000101010101" pitchFamily="49" charset="-127"/>
              </a:rPr>
              <a:t>void main()</a:t>
            </a:r>
          </a:p>
          <a:p>
            <a:r>
              <a:rPr lang="en-US" altLang="ko-KR" sz="1200" dirty="0"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ea typeface="돋움체" panose="020B0609000101010101" pitchFamily="49" charset="-127"/>
              </a:rPr>
              <a:t>        </a:t>
            </a:r>
            <a:r>
              <a:rPr lang="en-US" altLang="ko-KR" sz="1200" dirty="0" err="1">
                <a:ea typeface="돋움체" panose="020B0609000101010101" pitchFamily="49" charset="-127"/>
              </a:rPr>
              <a:t>gildong.WhoAreYou</a:t>
            </a:r>
            <a:r>
              <a:rPr lang="en-US" altLang="ko-KR" sz="1200" dirty="0"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200" dirty="0">
                <a:ea typeface="돋움체" panose="020B0609000101010101" pitchFamily="49" charset="-127"/>
              </a:rPr>
              <a:t>}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A38A385-38EF-D4EA-BB6A-361B3E6BE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985" y="4366867"/>
            <a:ext cx="4419048" cy="19809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F4A0E3B-B4F2-A440-AF20-0EE129A67FAF}"/>
              </a:ext>
            </a:extLst>
          </p:cNvPr>
          <p:cNvSpPr txBox="1"/>
          <p:nvPr/>
        </p:nvSpPr>
        <p:spPr>
          <a:xfrm>
            <a:off x="4531020" y="1052736"/>
            <a:ext cx="27052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2000" dirty="0">
                <a:solidFill>
                  <a:schemeClr val="accent1"/>
                </a:solidFill>
                <a:latin typeface="Rix고딕 B" panose="02020603020101020101" pitchFamily="18" charset="-127"/>
                <a:ea typeface="Rix고딕 B" panose="02020603020101020101" pitchFamily="18" charset="-127"/>
                <a:cs typeface="+mj-cs"/>
              </a:rPr>
              <a:t>마음에 들지 않는 부분만 </a:t>
            </a:r>
            <a:r>
              <a:rPr lang="ko-KR" altLang="en-US" sz="2000" dirty="0">
                <a:solidFill>
                  <a:schemeClr val="accent6">
                    <a:lumMod val="7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  <a:cs typeface="+mj-cs"/>
              </a:rPr>
              <a:t>콕 찍어서 </a:t>
            </a:r>
            <a:r>
              <a:rPr lang="ko-KR" altLang="en-US" sz="2000" dirty="0">
                <a:solidFill>
                  <a:schemeClr val="accent1"/>
                </a:solidFill>
                <a:latin typeface="Rix고딕 B" panose="02020603020101020101" pitchFamily="18" charset="-127"/>
                <a:ea typeface="Rix고딕 B" panose="02020603020101020101" pitchFamily="18" charset="-127"/>
                <a:cs typeface="+mj-cs"/>
              </a:rPr>
              <a:t>함수로</a:t>
            </a:r>
            <a:r>
              <a:rPr lang="en-US" altLang="ko-KR" sz="2000" dirty="0">
                <a:solidFill>
                  <a:schemeClr val="accent1"/>
                </a:solidFill>
                <a:latin typeface="Rix고딕 B" panose="02020603020101020101" pitchFamily="18" charset="-127"/>
                <a:ea typeface="Rix고딕 B" panose="02020603020101020101" pitchFamily="18" charset="-127"/>
                <a:cs typeface="+mj-cs"/>
              </a:rPr>
              <a:t>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556071-1944-6AD2-431C-6EF6DD7D10DF}"/>
              </a:ext>
            </a:extLst>
          </p:cNvPr>
          <p:cNvSpPr txBox="1"/>
          <p:nvPr/>
        </p:nvSpPr>
        <p:spPr>
          <a:xfrm>
            <a:off x="4693293" y="1867894"/>
            <a:ext cx="3888432" cy="101848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indent="0">
              <a:buSzPct val="85000"/>
              <a:buNone/>
              <a:defRPr sz="3000" b="0" spc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defRPr>
            </a:lvl1pPr>
          </a:lstStyle>
          <a:p>
            <a:pPr marL="182563" indent="-182563" fontAlgn="base" latinLnBrk="0">
              <a:lnSpc>
                <a:spcPct val="120000"/>
              </a:lnSpc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l"/>
            </a:pPr>
            <a:r>
              <a:rPr lang="ko-KR" altLang="en-US" sz="14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마음에 들지 않는 부분만 나중에 재정의 할 수 있도록 함수로 추상화</a:t>
            </a:r>
            <a:endParaRPr lang="en-US" altLang="ko-KR" sz="1400" b="1" spc="-50" dirty="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  <a:alpha val="72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182563" indent="-182563" fontAlgn="base" latinLnBrk="0">
              <a:lnSpc>
                <a:spcPct val="120000"/>
              </a:lnSpc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l"/>
            </a:pPr>
            <a:r>
              <a:rPr lang="ko-KR" altLang="en-US" sz="14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재정의할 경우 기존의 함수는 사라지도록</a:t>
            </a:r>
            <a:r>
              <a:rPr lang="en-US" altLang="ko-KR" sz="14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? </a:t>
            </a:r>
            <a:r>
              <a:rPr lang="ko-KR" altLang="en-US" sz="14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가상함수로 선언</a:t>
            </a:r>
          </a:p>
        </p:txBody>
      </p:sp>
    </p:spTree>
    <p:extLst>
      <p:ext uri="{BB962C8B-B14F-4D97-AF65-F5344CB8AC3E}">
        <p14:creationId xmlns:p14="http://schemas.microsoft.com/office/powerpoint/2010/main" val="17127456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F85171-2F0E-612E-D36A-E4BF5B8D75DD}"/>
              </a:ext>
            </a:extLst>
          </p:cNvPr>
          <p:cNvSpPr txBox="1"/>
          <p:nvPr/>
        </p:nvSpPr>
        <p:spPr>
          <a:xfrm>
            <a:off x="4572000" y="908720"/>
            <a:ext cx="3096344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latinLnBrk="0"/>
            <a:r>
              <a:rPr lang="ko-KR" altLang="en-US" dirty="0">
                <a:solidFill>
                  <a:schemeClr val="bg1"/>
                </a:solidFill>
                <a:latin typeface="Rix고딕 B" panose="02020603020101020101" pitchFamily="18" charset="-127"/>
                <a:ea typeface="Rix고딕 B" panose="02020603020101020101" pitchFamily="18" charset="-127"/>
                <a:cs typeface="+mj-cs"/>
              </a:rPr>
              <a:t>어떤 값을 넘겨주는 경우에는</a:t>
            </a:r>
            <a:r>
              <a:rPr lang="en-US" altLang="ko-KR" dirty="0">
                <a:solidFill>
                  <a:schemeClr val="bg1"/>
                </a:solidFill>
                <a:latin typeface="Rix고딕 B" panose="02020603020101020101" pitchFamily="18" charset="-127"/>
                <a:ea typeface="Rix고딕 B" panose="02020603020101020101" pitchFamily="18" charset="-127"/>
                <a:cs typeface="+mj-cs"/>
              </a:rPr>
              <a:t>?</a:t>
            </a:r>
            <a:endParaRPr lang="ko-KR" altLang="en-US" dirty="0">
              <a:solidFill>
                <a:schemeClr val="bg1"/>
              </a:solidFill>
              <a:latin typeface="Rix고딕 B" panose="02020603020101020101" pitchFamily="18" charset="-127"/>
              <a:ea typeface="Rix고딕 B" panose="02020603020101020101" pitchFamily="18" charset="-127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52038A-D211-972E-B328-0398D59B33D4}"/>
              </a:ext>
            </a:extLst>
          </p:cNvPr>
          <p:cNvSpPr txBox="1"/>
          <p:nvPr/>
        </p:nvSpPr>
        <p:spPr>
          <a:xfrm>
            <a:off x="683568" y="243512"/>
            <a:ext cx="457200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ea typeface="돋움체" panose="020B0609000101010101" pitchFamily="49" charset="-127"/>
              </a:rPr>
              <a:t>#include &lt;</a:t>
            </a:r>
            <a:r>
              <a:rPr lang="ko-KR" altLang="en-US" sz="1200" dirty="0" err="1">
                <a:ea typeface="돋움체" panose="020B0609000101010101" pitchFamily="49" charset="-127"/>
              </a:rPr>
              <a:t>stdio.h</a:t>
            </a:r>
            <a:r>
              <a:rPr lang="ko-KR" altLang="en-US" sz="1200" dirty="0">
                <a:ea typeface="돋움체" panose="020B0609000101010101" pitchFamily="49" charset="-127"/>
              </a:rPr>
              <a:t>&gt;</a:t>
            </a:r>
          </a:p>
          <a:p>
            <a:r>
              <a:rPr lang="ko-KR" altLang="en-US" sz="1200" dirty="0">
                <a:ea typeface="돋움체" panose="020B0609000101010101" pitchFamily="49" charset="-127"/>
              </a:rPr>
              <a:t>#include &lt;</a:t>
            </a:r>
            <a:r>
              <a:rPr lang="ko-KR" altLang="en-US" sz="1200" dirty="0" err="1">
                <a:ea typeface="돋움체" panose="020B0609000101010101" pitchFamily="49" charset="-127"/>
              </a:rPr>
              <a:t>atlstr.h</a:t>
            </a:r>
            <a:r>
              <a:rPr lang="ko-KR" altLang="en-US" sz="1200" dirty="0">
                <a:ea typeface="돋움체" panose="020B0609000101010101" pitchFamily="49" charset="-127"/>
              </a:rPr>
              <a:t>&gt;</a:t>
            </a:r>
            <a:endParaRPr lang="en-US" altLang="ko-KR" sz="1200" dirty="0">
              <a:ea typeface="돋움체" panose="020B0609000101010101" pitchFamily="49" charset="-127"/>
            </a:endParaRPr>
          </a:p>
          <a:p>
            <a:endParaRPr lang="ko-KR" altLang="en-US" sz="1200" dirty="0">
              <a:ea typeface="돋움체" panose="020B0609000101010101" pitchFamily="49" charset="-127"/>
            </a:endParaRPr>
          </a:p>
          <a:p>
            <a:r>
              <a:rPr lang="ko-KR" altLang="en-US" sz="1200" dirty="0" err="1">
                <a:ea typeface="돋움체" panose="020B0609000101010101" pitchFamily="49" charset="-127"/>
              </a:rPr>
              <a:t>class</a:t>
            </a:r>
            <a:r>
              <a:rPr lang="ko-KR" altLang="en-US" sz="1200" dirty="0">
                <a:ea typeface="돋움체" panose="020B0609000101010101" pitchFamily="49" charset="-127"/>
              </a:rPr>
              <a:t> </a:t>
            </a:r>
            <a:r>
              <a:rPr lang="ko-KR" altLang="en-US" sz="1200" dirty="0" err="1">
                <a:ea typeface="돋움체" panose="020B0609000101010101" pitchFamily="49" charset="-127"/>
              </a:rPr>
              <a:t>CBase</a:t>
            </a:r>
            <a:r>
              <a:rPr lang="ko-KR" altLang="en-US" sz="1200" dirty="0">
                <a:ea typeface="돋움체" panose="020B0609000101010101" pitchFamily="49" charset="-127"/>
              </a:rPr>
              <a:t> {</a:t>
            </a:r>
          </a:p>
          <a:p>
            <a:r>
              <a:rPr lang="ko-KR" altLang="en-US" sz="1200" dirty="0" err="1">
                <a:ea typeface="돋움체" panose="020B0609000101010101" pitchFamily="49" charset="-127"/>
              </a:rPr>
              <a:t>public</a:t>
            </a:r>
            <a:r>
              <a:rPr lang="ko-KR" altLang="en-US" sz="1200" dirty="0">
                <a:ea typeface="돋움체" panose="020B0609000101010101" pitchFamily="49" charset="-127"/>
              </a:rPr>
              <a:t>:</a:t>
            </a:r>
          </a:p>
          <a:p>
            <a:r>
              <a:rPr lang="ko-KR" altLang="en-US" sz="1200" b="1" dirty="0">
                <a:solidFill>
                  <a:srgbClr val="00B050"/>
                </a:solidFill>
                <a:ea typeface="돋움체" panose="020B0609000101010101" pitchFamily="49" charset="-127"/>
              </a:rPr>
              <a:t>        </a:t>
            </a:r>
            <a:r>
              <a:rPr lang="ko-KR" altLang="en-US" sz="1200" b="1" dirty="0" err="1">
                <a:solidFill>
                  <a:srgbClr val="00B050"/>
                </a:solidFill>
                <a:ea typeface="돋움체" panose="020B0609000101010101" pitchFamily="49" charset="-127"/>
              </a:rPr>
              <a:t>virtual</a:t>
            </a:r>
            <a:r>
              <a:rPr lang="ko-KR" altLang="en-US" sz="1200" b="1" dirty="0">
                <a:solidFill>
                  <a:srgbClr val="00B050"/>
                </a:solidFill>
                <a:ea typeface="돋움체" panose="020B0609000101010101" pitchFamily="49" charset="-127"/>
              </a:rPr>
              <a:t> </a:t>
            </a:r>
            <a:r>
              <a:rPr lang="ko-KR" altLang="en-US" sz="1200" b="1" dirty="0" err="1">
                <a:solidFill>
                  <a:srgbClr val="00B050"/>
                </a:solidFill>
                <a:ea typeface="돋움체" panose="020B0609000101010101" pitchFamily="49" charset="-127"/>
              </a:rPr>
              <a:t>CString</a:t>
            </a:r>
            <a:r>
              <a:rPr lang="ko-KR" altLang="en-US" sz="1200" b="1" dirty="0">
                <a:solidFill>
                  <a:srgbClr val="00B050"/>
                </a:solidFill>
                <a:ea typeface="돋움체" panose="020B0609000101010101" pitchFamily="49" charset="-127"/>
              </a:rPr>
              <a:t> </a:t>
            </a:r>
            <a:r>
              <a:rPr lang="ko-KR" altLang="en-US" sz="1200" b="1" dirty="0" err="1">
                <a:solidFill>
                  <a:srgbClr val="00B050"/>
                </a:solidFill>
                <a:ea typeface="돋움체" panose="020B0609000101010101" pitchFamily="49" charset="-127"/>
              </a:rPr>
              <a:t>xxx</a:t>
            </a:r>
            <a:r>
              <a:rPr lang="ko-KR" altLang="en-US" sz="1200" b="1" dirty="0">
                <a:solidFill>
                  <a:srgbClr val="00B050"/>
                </a:solidFill>
                <a:ea typeface="돋움체" panose="020B0609000101010101" pitchFamily="49" charset="-127"/>
              </a:rPr>
              <a:t>() {</a:t>
            </a:r>
          </a:p>
          <a:p>
            <a:r>
              <a:rPr lang="ko-KR" altLang="en-US" sz="1200" b="1" dirty="0">
                <a:solidFill>
                  <a:srgbClr val="00B050"/>
                </a:solidFill>
                <a:ea typeface="돋움체" panose="020B0609000101010101" pitchFamily="49" charset="-127"/>
              </a:rPr>
              <a:t>	</a:t>
            </a:r>
            <a:r>
              <a:rPr lang="ko-KR" altLang="en-US" sz="1200" b="1" dirty="0" err="1">
                <a:solidFill>
                  <a:srgbClr val="00B050"/>
                </a:solidFill>
                <a:ea typeface="돋움체" panose="020B0609000101010101" pitchFamily="49" charset="-127"/>
              </a:rPr>
              <a:t>return</a:t>
            </a:r>
            <a:r>
              <a:rPr lang="ko-KR" altLang="en-US" sz="1200" b="1" dirty="0">
                <a:solidFill>
                  <a:srgbClr val="00B050"/>
                </a:solidFill>
                <a:ea typeface="돋움체" panose="020B0609000101010101" pitchFamily="49" charset="-127"/>
              </a:rPr>
              <a:t> "</a:t>
            </a:r>
            <a:r>
              <a:rPr lang="ko-KR" altLang="en-US" sz="1200" b="1" dirty="0" err="1">
                <a:solidFill>
                  <a:srgbClr val="00B050"/>
                </a:solidFill>
                <a:ea typeface="돋움체" panose="020B0609000101010101" pitchFamily="49" charset="-127"/>
              </a:rPr>
              <a:t>CBase</a:t>
            </a:r>
            <a:r>
              <a:rPr lang="ko-KR" altLang="en-US" sz="1200" b="1" dirty="0">
                <a:solidFill>
                  <a:srgbClr val="00B050"/>
                </a:solidFill>
                <a:ea typeface="돋움체" panose="020B0609000101010101" pitchFamily="49" charset="-127"/>
              </a:rPr>
              <a:t>";</a:t>
            </a:r>
          </a:p>
          <a:p>
            <a:r>
              <a:rPr lang="ko-KR" altLang="en-US" sz="1200" b="1" dirty="0">
                <a:solidFill>
                  <a:srgbClr val="00B050"/>
                </a:solidFill>
                <a:ea typeface="돋움체" panose="020B0609000101010101" pitchFamily="49" charset="-127"/>
              </a:rPr>
              <a:t>        }</a:t>
            </a:r>
          </a:p>
          <a:p>
            <a:endParaRPr lang="ko-KR" altLang="en-US" sz="1200" dirty="0">
              <a:ea typeface="돋움체" panose="020B0609000101010101" pitchFamily="49" charset="-127"/>
            </a:endParaRPr>
          </a:p>
          <a:p>
            <a:r>
              <a:rPr lang="ko-KR" altLang="en-US" sz="1200" dirty="0">
                <a:ea typeface="돋움체" panose="020B0609000101010101" pitchFamily="49" charset="-127"/>
              </a:rPr>
              <a:t>        </a:t>
            </a:r>
            <a:r>
              <a:rPr lang="ko-KR" altLang="en-US" sz="1200" dirty="0" err="1">
                <a:ea typeface="돋움체" panose="020B0609000101010101" pitchFamily="49" charset="-127"/>
              </a:rPr>
              <a:t>void</a:t>
            </a:r>
            <a:r>
              <a:rPr lang="ko-KR" altLang="en-US" sz="1200" dirty="0">
                <a:ea typeface="돋움체" panose="020B0609000101010101" pitchFamily="49" charset="-127"/>
              </a:rPr>
              <a:t> </a:t>
            </a:r>
            <a:r>
              <a:rPr lang="ko-KR" altLang="en-US" sz="1200" dirty="0" err="1">
                <a:ea typeface="돋움체" panose="020B0609000101010101" pitchFamily="49" charset="-127"/>
              </a:rPr>
              <a:t>WhoAreYou</a:t>
            </a:r>
            <a:r>
              <a:rPr lang="ko-KR" altLang="en-US" sz="1200" dirty="0">
                <a:ea typeface="돋움체" panose="020B0609000101010101" pitchFamily="49" charset="-127"/>
              </a:rPr>
              <a:t>() {</a:t>
            </a:r>
          </a:p>
          <a:p>
            <a:r>
              <a:rPr lang="ko-KR" altLang="en-US" sz="1200" b="1" dirty="0">
                <a:solidFill>
                  <a:srgbClr val="00B050"/>
                </a:solidFill>
                <a:ea typeface="돋움체" panose="020B0609000101010101" pitchFamily="49" charset="-127"/>
              </a:rPr>
              <a:t>	</a:t>
            </a:r>
            <a:r>
              <a:rPr lang="ko-KR" altLang="en-US" sz="1200" b="1" dirty="0" err="1">
                <a:solidFill>
                  <a:srgbClr val="00B050"/>
                </a:solidFill>
                <a:ea typeface="돋움체" panose="020B0609000101010101" pitchFamily="49" charset="-127"/>
              </a:rPr>
              <a:t>CString</a:t>
            </a:r>
            <a:r>
              <a:rPr lang="ko-KR" altLang="en-US" sz="1200" b="1" dirty="0">
                <a:solidFill>
                  <a:srgbClr val="00B050"/>
                </a:solidFill>
                <a:ea typeface="돋움체" panose="020B0609000101010101" pitchFamily="49" charset="-127"/>
              </a:rPr>
              <a:t> </a:t>
            </a:r>
            <a:r>
              <a:rPr lang="ko-KR" altLang="en-US" sz="1200" b="1" dirty="0" err="1">
                <a:solidFill>
                  <a:srgbClr val="00B050"/>
                </a:solidFill>
                <a:ea typeface="돋움체" panose="020B0609000101010101" pitchFamily="49" charset="-127"/>
              </a:rPr>
              <a:t>msg</a:t>
            </a:r>
            <a:r>
              <a:rPr lang="ko-KR" altLang="en-US" sz="1200" b="1" dirty="0">
                <a:solidFill>
                  <a:srgbClr val="00B050"/>
                </a:solidFill>
                <a:ea typeface="돋움체" panose="020B0609000101010101" pitchFamily="49" charset="-127"/>
              </a:rPr>
              <a:t> = </a:t>
            </a:r>
            <a:r>
              <a:rPr lang="ko-KR" altLang="en-US" sz="1200" b="1" dirty="0" err="1">
                <a:solidFill>
                  <a:srgbClr val="00B050"/>
                </a:solidFill>
                <a:ea typeface="돋움체" panose="020B0609000101010101" pitchFamily="49" charset="-127"/>
              </a:rPr>
              <a:t>xxx</a:t>
            </a:r>
            <a:r>
              <a:rPr lang="ko-KR" altLang="en-US" sz="1200" b="1" dirty="0">
                <a:solidFill>
                  <a:srgbClr val="00B050"/>
                </a:solidFill>
                <a:ea typeface="돋움체" panose="020B0609000101010101" pitchFamily="49" charset="-127"/>
              </a:rPr>
              <a:t>();</a:t>
            </a:r>
          </a:p>
          <a:p>
            <a:r>
              <a:rPr lang="ko-KR" altLang="en-US" sz="1200" b="1" dirty="0">
                <a:solidFill>
                  <a:srgbClr val="00B050"/>
                </a:solidFill>
                <a:ea typeface="돋움체" panose="020B0609000101010101" pitchFamily="49" charset="-127"/>
              </a:rPr>
              <a:t>	</a:t>
            </a:r>
            <a:r>
              <a:rPr lang="ko-KR" altLang="en-US" sz="1200" b="1" dirty="0" err="1">
                <a:solidFill>
                  <a:srgbClr val="00B050"/>
                </a:solidFill>
                <a:ea typeface="돋움체" panose="020B0609000101010101" pitchFamily="49" charset="-127"/>
              </a:rPr>
              <a:t>printf</a:t>
            </a:r>
            <a:r>
              <a:rPr lang="ko-KR" altLang="en-US" sz="1200" b="1" dirty="0">
                <a:solidFill>
                  <a:srgbClr val="00B050"/>
                </a:solidFill>
                <a:ea typeface="돋움체" panose="020B0609000101010101" pitchFamily="49" charset="-127"/>
              </a:rPr>
              <a:t>("%</a:t>
            </a:r>
            <a:r>
              <a:rPr lang="ko-KR" altLang="en-US" sz="1200" b="1" dirty="0" err="1">
                <a:solidFill>
                  <a:srgbClr val="00B050"/>
                </a:solidFill>
                <a:ea typeface="돋움체" panose="020B0609000101010101" pitchFamily="49" charset="-127"/>
              </a:rPr>
              <a:t>S</a:t>
            </a:r>
            <a:r>
              <a:rPr lang="ko-KR" altLang="en-US" sz="1200" b="1" dirty="0">
                <a:solidFill>
                  <a:srgbClr val="00B050"/>
                </a:solidFill>
                <a:ea typeface="돋움체" panose="020B0609000101010101" pitchFamily="49" charset="-127"/>
              </a:rPr>
              <a:t>\</a:t>
            </a:r>
            <a:r>
              <a:rPr lang="ko-KR" altLang="en-US" sz="1200" b="1" dirty="0" err="1">
                <a:solidFill>
                  <a:srgbClr val="00B050"/>
                </a:solidFill>
                <a:ea typeface="돋움체" panose="020B0609000101010101" pitchFamily="49" charset="-127"/>
              </a:rPr>
              <a:t>n</a:t>
            </a:r>
            <a:r>
              <a:rPr lang="ko-KR" altLang="en-US" sz="1200" b="1" dirty="0">
                <a:solidFill>
                  <a:srgbClr val="00B050"/>
                </a:solidFill>
                <a:ea typeface="돋움체" panose="020B0609000101010101" pitchFamily="49" charset="-127"/>
              </a:rPr>
              <a:t>", </a:t>
            </a:r>
            <a:r>
              <a:rPr lang="ko-KR" altLang="en-US" sz="1200" b="1" dirty="0" err="1">
                <a:solidFill>
                  <a:srgbClr val="00B050"/>
                </a:solidFill>
                <a:ea typeface="돋움체" panose="020B0609000101010101" pitchFamily="49" charset="-127"/>
              </a:rPr>
              <a:t>msg</a:t>
            </a:r>
            <a:r>
              <a:rPr lang="ko-KR" altLang="en-US" sz="1200" b="1" dirty="0">
                <a:solidFill>
                  <a:srgbClr val="00B050"/>
                </a:solidFill>
                <a:ea typeface="돋움체" panose="020B0609000101010101" pitchFamily="49" charset="-127"/>
              </a:rPr>
              <a:t>);</a:t>
            </a:r>
          </a:p>
          <a:p>
            <a:r>
              <a:rPr lang="ko-KR" altLang="en-US" sz="1200" dirty="0">
                <a:ea typeface="돋움체" panose="020B0609000101010101" pitchFamily="49" charset="-127"/>
              </a:rPr>
              <a:t>	</a:t>
            </a:r>
            <a:r>
              <a:rPr lang="ko-KR" altLang="en-US" sz="1200" dirty="0" err="1">
                <a:ea typeface="돋움체" panose="020B0609000101010101" pitchFamily="49" charset="-127"/>
              </a:rPr>
              <a:t>printf</a:t>
            </a:r>
            <a:r>
              <a:rPr lang="ko-KR" altLang="en-US" sz="1200" dirty="0">
                <a:ea typeface="돋움체" panose="020B0609000101010101" pitchFamily="49" charset="-127"/>
              </a:rPr>
              <a:t>("------------------------\</a:t>
            </a:r>
            <a:r>
              <a:rPr lang="ko-KR" altLang="en-US" sz="1200" dirty="0" err="1">
                <a:ea typeface="돋움체" panose="020B0609000101010101" pitchFamily="49" charset="-127"/>
              </a:rPr>
              <a:t>n</a:t>
            </a:r>
            <a:r>
              <a:rPr lang="ko-KR" altLang="en-US" sz="1200" dirty="0">
                <a:ea typeface="돋움체" panose="020B0609000101010101" pitchFamily="49" charset="-127"/>
              </a:rPr>
              <a:t>");</a:t>
            </a:r>
          </a:p>
          <a:p>
            <a:r>
              <a:rPr lang="ko-KR" altLang="en-US" sz="1200" dirty="0">
                <a:ea typeface="돋움체" panose="020B0609000101010101" pitchFamily="49" charset="-127"/>
              </a:rPr>
              <a:t>	</a:t>
            </a:r>
            <a:r>
              <a:rPr lang="ko-KR" altLang="en-US" sz="1200" dirty="0" err="1">
                <a:ea typeface="돋움체" panose="020B0609000101010101" pitchFamily="49" charset="-127"/>
              </a:rPr>
              <a:t>printf</a:t>
            </a:r>
            <a:r>
              <a:rPr lang="ko-KR" altLang="en-US" sz="1200" dirty="0">
                <a:ea typeface="돋움체" panose="020B0609000101010101" pitchFamily="49" charset="-127"/>
              </a:rPr>
              <a:t>("</a:t>
            </a:r>
            <a:r>
              <a:rPr lang="ko-KR" altLang="en-US" sz="1200" dirty="0" err="1">
                <a:ea typeface="돋움체" panose="020B0609000101010101" pitchFamily="49" charset="-127"/>
              </a:rPr>
              <a:t>Copyright</a:t>
            </a:r>
            <a:r>
              <a:rPr lang="ko-KR" altLang="en-US" sz="1200" dirty="0">
                <a:ea typeface="돋움체" panose="020B0609000101010101" pitchFamily="49" charset="-127"/>
              </a:rPr>
              <a:t> (c)\</a:t>
            </a:r>
            <a:r>
              <a:rPr lang="ko-KR" altLang="en-US" sz="1200" dirty="0" err="1">
                <a:ea typeface="돋움체" panose="020B0609000101010101" pitchFamily="49" charset="-127"/>
              </a:rPr>
              <a:t>n</a:t>
            </a:r>
            <a:r>
              <a:rPr lang="ko-KR" altLang="en-US" sz="1200" dirty="0">
                <a:ea typeface="돋움체" panose="020B0609000101010101" pitchFamily="49" charset="-127"/>
              </a:rPr>
              <a:t>");</a:t>
            </a:r>
          </a:p>
          <a:p>
            <a:r>
              <a:rPr lang="ko-KR" altLang="en-US" sz="1200" dirty="0">
                <a:ea typeface="돋움체" panose="020B0609000101010101" pitchFamily="49" charset="-127"/>
              </a:rPr>
              <a:t>	</a:t>
            </a:r>
            <a:r>
              <a:rPr lang="ko-KR" altLang="en-US" sz="1200" dirty="0" err="1">
                <a:ea typeface="돋움체" panose="020B0609000101010101" pitchFamily="49" charset="-127"/>
              </a:rPr>
              <a:t>printf</a:t>
            </a:r>
            <a:r>
              <a:rPr lang="ko-KR" altLang="en-US" sz="1200" dirty="0">
                <a:ea typeface="돋움체" panose="020B0609000101010101" pitchFamily="49" charset="-127"/>
              </a:rPr>
              <a:t>("2025\</a:t>
            </a:r>
            <a:r>
              <a:rPr lang="ko-KR" altLang="en-US" sz="1200" dirty="0" err="1">
                <a:ea typeface="돋움체" panose="020B0609000101010101" pitchFamily="49" charset="-127"/>
              </a:rPr>
              <a:t>n</a:t>
            </a:r>
            <a:r>
              <a:rPr lang="ko-KR" altLang="en-US" sz="1200" dirty="0">
                <a:ea typeface="돋움체" panose="020B0609000101010101" pitchFamily="49" charset="-127"/>
              </a:rPr>
              <a:t>");</a:t>
            </a:r>
          </a:p>
          <a:p>
            <a:r>
              <a:rPr lang="ko-KR" altLang="en-US" sz="1200" dirty="0">
                <a:ea typeface="돋움체" panose="020B0609000101010101" pitchFamily="49" charset="-127"/>
              </a:rPr>
              <a:t>	</a:t>
            </a:r>
            <a:r>
              <a:rPr lang="ko-KR" altLang="en-US" sz="1200" dirty="0" err="1">
                <a:ea typeface="돋움체" panose="020B0609000101010101" pitchFamily="49" charset="-127"/>
              </a:rPr>
              <a:t>printf</a:t>
            </a:r>
            <a:r>
              <a:rPr lang="ko-KR" altLang="en-US" sz="1200" dirty="0">
                <a:ea typeface="돋움체" panose="020B0609000101010101" pitchFamily="49" charset="-127"/>
              </a:rPr>
              <a:t>("</a:t>
            </a:r>
            <a:r>
              <a:rPr lang="ko-KR" altLang="en-US" sz="1200" dirty="0" err="1">
                <a:ea typeface="돋움체" panose="020B0609000101010101" pitchFamily="49" charset="-127"/>
              </a:rPr>
              <a:t>Jeju</a:t>
            </a:r>
            <a:r>
              <a:rPr lang="ko-KR" altLang="en-US" sz="1200" dirty="0">
                <a:ea typeface="돋움체" panose="020B0609000101010101" pitchFamily="49" charset="-127"/>
              </a:rPr>
              <a:t> </a:t>
            </a:r>
            <a:r>
              <a:rPr lang="ko-KR" altLang="en-US" sz="1200" dirty="0" err="1">
                <a:ea typeface="돋움체" panose="020B0609000101010101" pitchFamily="49" charset="-127"/>
              </a:rPr>
              <a:t>Island</a:t>
            </a:r>
            <a:r>
              <a:rPr lang="ko-KR" altLang="en-US" sz="1200" dirty="0">
                <a:ea typeface="돋움체" panose="020B0609000101010101" pitchFamily="49" charset="-127"/>
              </a:rPr>
              <a:t>\</a:t>
            </a:r>
            <a:r>
              <a:rPr lang="ko-KR" altLang="en-US" sz="1200" dirty="0" err="1">
                <a:ea typeface="돋움체" panose="020B0609000101010101" pitchFamily="49" charset="-127"/>
              </a:rPr>
              <a:t>n</a:t>
            </a:r>
            <a:r>
              <a:rPr lang="ko-KR" altLang="en-US" sz="1200" dirty="0">
                <a:ea typeface="돋움체" panose="020B0609000101010101" pitchFamily="49" charset="-127"/>
              </a:rPr>
              <a:t>");</a:t>
            </a:r>
          </a:p>
          <a:p>
            <a:r>
              <a:rPr lang="ko-KR" altLang="en-US" sz="1200" dirty="0">
                <a:ea typeface="돋움체" panose="020B0609000101010101" pitchFamily="49" charset="-127"/>
              </a:rPr>
              <a:t>	</a:t>
            </a:r>
            <a:r>
              <a:rPr lang="ko-KR" altLang="en-US" sz="1200" dirty="0" err="1">
                <a:ea typeface="돋움체" panose="020B0609000101010101" pitchFamily="49" charset="-127"/>
              </a:rPr>
              <a:t>printf</a:t>
            </a:r>
            <a:r>
              <a:rPr lang="ko-KR" altLang="en-US" sz="1200" dirty="0">
                <a:ea typeface="돋움체" panose="020B0609000101010101" pitchFamily="49" charset="-127"/>
              </a:rPr>
              <a:t>("</a:t>
            </a:r>
            <a:r>
              <a:rPr lang="ko-KR" altLang="en-US" sz="1200" dirty="0" err="1">
                <a:ea typeface="돋움체" panose="020B0609000101010101" pitchFamily="49" charset="-127"/>
              </a:rPr>
              <a:t>Jeju</a:t>
            </a:r>
            <a:r>
              <a:rPr lang="ko-KR" altLang="en-US" sz="1200" dirty="0">
                <a:ea typeface="돋움체" panose="020B0609000101010101" pitchFamily="49" charset="-127"/>
              </a:rPr>
              <a:t>\</a:t>
            </a:r>
            <a:r>
              <a:rPr lang="ko-KR" altLang="en-US" sz="1200" dirty="0" err="1">
                <a:ea typeface="돋움체" panose="020B0609000101010101" pitchFamily="49" charset="-127"/>
              </a:rPr>
              <a:t>n</a:t>
            </a:r>
            <a:r>
              <a:rPr lang="ko-KR" altLang="en-US" sz="1200" dirty="0">
                <a:ea typeface="돋움체" panose="020B0609000101010101" pitchFamily="49" charset="-127"/>
              </a:rPr>
              <a:t>");</a:t>
            </a:r>
          </a:p>
          <a:p>
            <a:r>
              <a:rPr lang="ko-KR" altLang="en-US" sz="1200" dirty="0">
                <a:ea typeface="돋움체" panose="020B0609000101010101" pitchFamily="49" charset="-127"/>
              </a:rPr>
              <a:t>	</a:t>
            </a:r>
            <a:r>
              <a:rPr lang="ko-KR" altLang="en-US" sz="1200" dirty="0" err="1">
                <a:ea typeface="돋움체" panose="020B0609000101010101" pitchFamily="49" charset="-127"/>
              </a:rPr>
              <a:t>printf</a:t>
            </a:r>
            <a:r>
              <a:rPr lang="ko-KR" altLang="en-US" sz="1200" dirty="0">
                <a:ea typeface="돋움체" panose="020B0609000101010101" pitchFamily="49" charset="-127"/>
              </a:rPr>
              <a:t>("All </a:t>
            </a:r>
            <a:r>
              <a:rPr lang="ko-KR" altLang="en-US" sz="1200" dirty="0" err="1">
                <a:ea typeface="돋움체" panose="020B0609000101010101" pitchFamily="49" charset="-127"/>
              </a:rPr>
              <a:t>Rights</a:t>
            </a:r>
            <a:r>
              <a:rPr lang="ko-KR" altLang="en-US" sz="1200" dirty="0">
                <a:ea typeface="돋움체" panose="020B0609000101010101" pitchFamily="49" charset="-127"/>
              </a:rPr>
              <a:t> </a:t>
            </a:r>
            <a:r>
              <a:rPr lang="ko-KR" altLang="en-US" sz="1200" dirty="0" err="1">
                <a:ea typeface="돋움체" panose="020B0609000101010101" pitchFamily="49" charset="-127"/>
              </a:rPr>
              <a:t>Reserved</a:t>
            </a:r>
            <a:r>
              <a:rPr lang="ko-KR" altLang="en-US" sz="1200" dirty="0">
                <a:solidFill>
                  <a:srgbClr val="00B050"/>
                </a:solidFill>
                <a:ea typeface="돋움체" panose="020B0609000101010101" pitchFamily="49" charset="-127"/>
              </a:rPr>
              <a:t> </a:t>
            </a:r>
            <a:r>
              <a:rPr lang="ko-KR" altLang="en-US" sz="1200" b="1" dirty="0" err="1">
                <a:solidFill>
                  <a:srgbClr val="00B050"/>
                </a:solidFill>
                <a:ea typeface="돋움체" panose="020B0609000101010101" pitchFamily="49" charset="-127"/>
              </a:rPr>
              <a:t>by</a:t>
            </a:r>
            <a:r>
              <a:rPr lang="ko-KR" altLang="en-US" sz="1200" b="1" dirty="0">
                <a:solidFill>
                  <a:srgbClr val="00B050"/>
                </a:solidFill>
                <a:ea typeface="돋움체" panose="020B0609000101010101" pitchFamily="49" charset="-127"/>
              </a:rPr>
              <a:t> %</a:t>
            </a:r>
            <a:r>
              <a:rPr lang="ko-KR" altLang="en-US" sz="1200" b="1" dirty="0" err="1">
                <a:solidFill>
                  <a:srgbClr val="00B050"/>
                </a:solidFill>
                <a:ea typeface="돋움체" panose="020B0609000101010101" pitchFamily="49" charset="-127"/>
              </a:rPr>
              <a:t>S</a:t>
            </a:r>
            <a:r>
              <a:rPr lang="ko-KR" altLang="en-US" sz="1200" dirty="0">
                <a:solidFill>
                  <a:srgbClr val="00B050"/>
                </a:solidFill>
                <a:ea typeface="돋움체" panose="020B0609000101010101" pitchFamily="49" charset="-127"/>
              </a:rPr>
              <a:t>.</a:t>
            </a:r>
            <a:r>
              <a:rPr lang="ko-KR" altLang="en-US" sz="1200" dirty="0">
                <a:ea typeface="돋움체" panose="020B0609000101010101" pitchFamily="49" charset="-127"/>
              </a:rPr>
              <a:t>\</a:t>
            </a:r>
            <a:r>
              <a:rPr lang="ko-KR" altLang="en-US" sz="1200" dirty="0" err="1">
                <a:ea typeface="돋움체" panose="020B0609000101010101" pitchFamily="49" charset="-127"/>
              </a:rPr>
              <a:t>n</a:t>
            </a:r>
            <a:r>
              <a:rPr lang="ko-KR" altLang="en-US" sz="1200" dirty="0">
                <a:ea typeface="돋움체" panose="020B0609000101010101" pitchFamily="49" charset="-127"/>
              </a:rPr>
              <a:t>", </a:t>
            </a:r>
            <a:r>
              <a:rPr lang="ko-KR" altLang="en-US" sz="1200" b="1" dirty="0" err="1">
                <a:solidFill>
                  <a:srgbClr val="00B050"/>
                </a:solidFill>
                <a:ea typeface="돋움체" panose="020B0609000101010101" pitchFamily="49" charset="-127"/>
              </a:rPr>
              <a:t>msg</a:t>
            </a:r>
            <a:r>
              <a:rPr lang="ko-KR" altLang="en-US" sz="1200" dirty="0">
                <a:ea typeface="돋움체" panose="020B0609000101010101" pitchFamily="49" charset="-127"/>
              </a:rPr>
              <a:t>);</a:t>
            </a:r>
          </a:p>
          <a:p>
            <a:r>
              <a:rPr lang="ko-KR" altLang="en-US" sz="1200" dirty="0">
                <a:ea typeface="돋움체" panose="020B0609000101010101" pitchFamily="49" charset="-127"/>
              </a:rPr>
              <a:t>        }</a:t>
            </a:r>
          </a:p>
          <a:p>
            <a:r>
              <a:rPr lang="ko-KR" altLang="en-US" sz="1200" dirty="0">
                <a:ea typeface="돋움체" panose="020B0609000101010101" pitchFamily="49" charset="-127"/>
              </a:rPr>
              <a:t>};</a:t>
            </a:r>
          </a:p>
          <a:p>
            <a:endParaRPr lang="ko-KR" altLang="en-US" sz="1200" dirty="0">
              <a:ea typeface="돋움체" panose="020B0609000101010101" pitchFamily="49" charset="-127"/>
            </a:endParaRPr>
          </a:p>
          <a:p>
            <a:r>
              <a:rPr lang="ko-KR" altLang="en-US" sz="1200" dirty="0" err="1">
                <a:ea typeface="돋움체" panose="020B0609000101010101" pitchFamily="49" charset="-127"/>
              </a:rPr>
              <a:t>class</a:t>
            </a:r>
            <a:r>
              <a:rPr lang="ko-KR" altLang="en-US" sz="1200" dirty="0">
                <a:ea typeface="돋움체" panose="020B0609000101010101" pitchFamily="49" charset="-127"/>
              </a:rPr>
              <a:t> </a:t>
            </a:r>
            <a:r>
              <a:rPr lang="ko-KR" altLang="en-US" sz="1200" dirty="0" err="1">
                <a:ea typeface="돋움체" panose="020B0609000101010101" pitchFamily="49" charset="-127"/>
              </a:rPr>
              <a:t>CDerived</a:t>
            </a:r>
            <a:r>
              <a:rPr lang="ko-KR" altLang="en-US" sz="1200" dirty="0">
                <a:ea typeface="돋움체" panose="020B0609000101010101" pitchFamily="49" charset="-127"/>
              </a:rPr>
              <a:t> : </a:t>
            </a:r>
            <a:r>
              <a:rPr lang="ko-KR" altLang="en-US" sz="1200" dirty="0" err="1">
                <a:ea typeface="돋움체" panose="020B0609000101010101" pitchFamily="49" charset="-127"/>
              </a:rPr>
              <a:t>public</a:t>
            </a:r>
            <a:r>
              <a:rPr lang="ko-KR" altLang="en-US" sz="1200" dirty="0">
                <a:ea typeface="돋움체" panose="020B0609000101010101" pitchFamily="49" charset="-127"/>
              </a:rPr>
              <a:t> </a:t>
            </a:r>
            <a:r>
              <a:rPr lang="ko-KR" altLang="en-US" sz="1200" dirty="0" err="1">
                <a:ea typeface="돋움체" panose="020B0609000101010101" pitchFamily="49" charset="-127"/>
              </a:rPr>
              <a:t>CBase</a:t>
            </a:r>
            <a:r>
              <a:rPr lang="ko-KR" altLang="en-US" sz="1200" dirty="0">
                <a:ea typeface="돋움체" panose="020B0609000101010101" pitchFamily="49" charset="-127"/>
              </a:rPr>
              <a:t> {</a:t>
            </a:r>
          </a:p>
          <a:p>
            <a:r>
              <a:rPr lang="ko-KR" altLang="en-US" sz="1200" dirty="0" err="1">
                <a:ea typeface="돋움체" panose="020B0609000101010101" pitchFamily="49" charset="-127"/>
              </a:rPr>
              <a:t>public</a:t>
            </a:r>
            <a:r>
              <a:rPr lang="ko-KR" altLang="en-US" sz="1200" dirty="0">
                <a:ea typeface="돋움체" panose="020B0609000101010101" pitchFamily="49" charset="-127"/>
              </a:rPr>
              <a:t>:</a:t>
            </a:r>
          </a:p>
          <a:p>
            <a:r>
              <a:rPr lang="ko-KR" altLang="en-US" sz="1200" b="1" dirty="0">
                <a:solidFill>
                  <a:srgbClr val="0070C0"/>
                </a:solidFill>
                <a:ea typeface="돋움체" panose="020B0609000101010101" pitchFamily="49" charset="-127"/>
              </a:rPr>
              <a:t>        </a:t>
            </a:r>
            <a:r>
              <a:rPr lang="ko-KR" altLang="en-US" sz="1200" b="1" dirty="0" err="1">
                <a:solidFill>
                  <a:srgbClr val="0070C0"/>
                </a:solidFill>
                <a:ea typeface="돋움체" panose="020B0609000101010101" pitchFamily="49" charset="-127"/>
              </a:rPr>
              <a:t>CString</a:t>
            </a:r>
            <a:r>
              <a:rPr lang="ko-KR" altLang="en-US" sz="1200" b="1" dirty="0">
                <a:solidFill>
                  <a:srgbClr val="0070C0"/>
                </a:solidFill>
                <a:ea typeface="돋움체" panose="020B0609000101010101" pitchFamily="49" charset="-127"/>
              </a:rPr>
              <a:t> </a:t>
            </a:r>
            <a:r>
              <a:rPr lang="ko-KR" altLang="en-US" sz="1200" b="1" dirty="0" err="1">
                <a:solidFill>
                  <a:srgbClr val="0070C0"/>
                </a:solidFill>
                <a:ea typeface="돋움체" panose="020B0609000101010101" pitchFamily="49" charset="-127"/>
              </a:rPr>
              <a:t>xxx</a:t>
            </a:r>
            <a:r>
              <a:rPr lang="ko-KR" altLang="en-US" sz="1200" b="1" dirty="0">
                <a:solidFill>
                  <a:srgbClr val="0070C0"/>
                </a:solidFill>
                <a:ea typeface="돋움체" panose="020B0609000101010101" pitchFamily="49" charset="-127"/>
              </a:rPr>
              <a:t>() {</a:t>
            </a:r>
          </a:p>
          <a:p>
            <a:r>
              <a:rPr lang="ko-KR" altLang="en-US" sz="1200" b="1" dirty="0">
                <a:solidFill>
                  <a:srgbClr val="0070C0"/>
                </a:solidFill>
                <a:ea typeface="돋움체" panose="020B0609000101010101" pitchFamily="49" charset="-127"/>
              </a:rPr>
              <a:t>	</a:t>
            </a:r>
            <a:r>
              <a:rPr lang="ko-KR" altLang="en-US" sz="1200" b="1" dirty="0" err="1">
                <a:solidFill>
                  <a:srgbClr val="0070C0"/>
                </a:solidFill>
                <a:ea typeface="돋움체" panose="020B0609000101010101" pitchFamily="49" charset="-127"/>
              </a:rPr>
              <a:t>return</a:t>
            </a:r>
            <a:r>
              <a:rPr lang="ko-KR" altLang="en-US" sz="1200" b="1" dirty="0">
                <a:solidFill>
                  <a:srgbClr val="0070C0"/>
                </a:solidFill>
                <a:ea typeface="돋움체" panose="020B0609000101010101" pitchFamily="49" charset="-127"/>
              </a:rPr>
              <a:t> "</a:t>
            </a:r>
            <a:r>
              <a:rPr lang="ko-KR" altLang="en-US" sz="1200" b="1" dirty="0" err="1">
                <a:solidFill>
                  <a:srgbClr val="0070C0"/>
                </a:solidFill>
                <a:ea typeface="돋움체" panose="020B0609000101010101" pitchFamily="49" charset="-127"/>
              </a:rPr>
              <a:t>Hello</a:t>
            </a:r>
            <a:r>
              <a:rPr lang="ko-KR" altLang="en-US" sz="1200" b="1" dirty="0">
                <a:solidFill>
                  <a:srgbClr val="0070C0"/>
                </a:solidFill>
                <a:ea typeface="돋움체" panose="020B0609000101010101" pitchFamily="49" charset="-127"/>
              </a:rPr>
              <a:t>, </a:t>
            </a:r>
            <a:r>
              <a:rPr lang="ko-KR" altLang="en-US" sz="1200" b="1" dirty="0" err="1">
                <a:solidFill>
                  <a:srgbClr val="0070C0"/>
                </a:solidFill>
                <a:ea typeface="돋움체" panose="020B0609000101010101" pitchFamily="49" charset="-127"/>
              </a:rPr>
              <a:t>I</a:t>
            </a:r>
            <a:r>
              <a:rPr lang="ko-KR" altLang="en-US" sz="1200" b="1" dirty="0">
                <a:solidFill>
                  <a:srgbClr val="0070C0"/>
                </a:solidFill>
                <a:ea typeface="돋움체" panose="020B0609000101010101" pitchFamily="49" charset="-127"/>
              </a:rPr>
              <a:t> </a:t>
            </a:r>
            <a:r>
              <a:rPr lang="ko-KR" altLang="en-US" sz="1200" b="1" dirty="0" err="1">
                <a:solidFill>
                  <a:srgbClr val="0070C0"/>
                </a:solidFill>
                <a:ea typeface="돋움체" panose="020B0609000101010101" pitchFamily="49" charset="-127"/>
              </a:rPr>
              <a:t>am</a:t>
            </a:r>
            <a:r>
              <a:rPr lang="ko-KR" altLang="en-US" sz="1200" b="1" dirty="0">
                <a:solidFill>
                  <a:srgbClr val="0070C0"/>
                </a:solidFill>
                <a:ea typeface="돋움체" panose="020B0609000101010101" pitchFamily="49" charset="-127"/>
              </a:rPr>
              <a:t> </a:t>
            </a:r>
            <a:r>
              <a:rPr lang="ko-KR" altLang="en-US" sz="1200" b="1" dirty="0" err="1">
                <a:solidFill>
                  <a:srgbClr val="0070C0"/>
                </a:solidFill>
                <a:ea typeface="돋움체" panose="020B0609000101010101" pitchFamily="49" charset="-127"/>
              </a:rPr>
              <a:t>a</a:t>
            </a:r>
            <a:r>
              <a:rPr lang="ko-KR" altLang="en-US" sz="1200" b="1" dirty="0">
                <a:solidFill>
                  <a:srgbClr val="0070C0"/>
                </a:solidFill>
                <a:ea typeface="돋움체" panose="020B0609000101010101" pitchFamily="49" charset="-127"/>
              </a:rPr>
              <a:t> </a:t>
            </a:r>
            <a:r>
              <a:rPr lang="ko-KR" altLang="en-US" sz="1200" b="1" dirty="0" err="1">
                <a:solidFill>
                  <a:srgbClr val="0070C0"/>
                </a:solidFill>
                <a:ea typeface="돋움체" panose="020B0609000101010101" pitchFamily="49" charset="-127"/>
              </a:rPr>
              <a:t>CBase</a:t>
            </a:r>
            <a:r>
              <a:rPr lang="ko-KR" altLang="en-US" sz="1200" b="1" dirty="0">
                <a:solidFill>
                  <a:srgbClr val="0070C0"/>
                </a:solidFill>
                <a:ea typeface="돋움체" panose="020B0609000101010101" pitchFamily="49" charset="-127"/>
              </a:rPr>
              <a:t>!\</a:t>
            </a:r>
            <a:r>
              <a:rPr lang="ko-KR" altLang="en-US" sz="1200" b="1" dirty="0" err="1">
                <a:solidFill>
                  <a:srgbClr val="0070C0"/>
                </a:solidFill>
                <a:ea typeface="돋움체" panose="020B0609000101010101" pitchFamily="49" charset="-127"/>
              </a:rPr>
              <a:t>n</a:t>
            </a:r>
            <a:r>
              <a:rPr lang="ko-KR" altLang="en-US" sz="1200" b="1" dirty="0">
                <a:solidFill>
                  <a:srgbClr val="0070C0"/>
                </a:solidFill>
                <a:ea typeface="돋움체" panose="020B0609000101010101" pitchFamily="49" charset="-127"/>
              </a:rPr>
              <a:t>";</a:t>
            </a:r>
          </a:p>
          <a:p>
            <a:r>
              <a:rPr lang="ko-KR" altLang="en-US" sz="1200" b="1" dirty="0">
                <a:solidFill>
                  <a:srgbClr val="0070C0"/>
                </a:solidFill>
                <a:ea typeface="돋움체" panose="020B0609000101010101" pitchFamily="49" charset="-127"/>
              </a:rPr>
              <a:t>        }</a:t>
            </a:r>
          </a:p>
          <a:p>
            <a:r>
              <a:rPr lang="ko-KR" altLang="en-US" sz="1200" dirty="0">
                <a:ea typeface="돋움체" panose="020B0609000101010101" pitchFamily="49" charset="-127"/>
              </a:rPr>
              <a:t>};</a:t>
            </a:r>
          </a:p>
          <a:p>
            <a:endParaRPr lang="ko-KR" altLang="en-US" sz="1200" dirty="0">
              <a:ea typeface="돋움체" panose="020B0609000101010101" pitchFamily="49" charset="-127"/>
            </a:endParaRPr>
          </a:p>
          <a:p>
            <a:r>
              <a:rPr lang="ko-KR" altLang="en-US" sz="1200" dirty="0" err="1">
                <a:ea typeface="돋움체" panose="020B0609000101010101" pitchFamily="49" charset="-127"/>
              </a:rPr>
              <a:t>CDerived</a:t>
            </a:r>
            <a:r>
              <a:rPr lang="ko-KR" altLang="en-US" sz="1200" dirty="0">
                <a:ea typeface="돋움체" panose="020B0609000101010101" pitchFamily="49" charset="-127"/>
              </a:rPr>
              <a:t> </a:t>
            </a:r>
            <a:r>
              <a:rPr lang="ko-KR" altLang="en-US" sz="1200" dirty="0" err="1">
                <a:ea typeface="돋움체" panose="020B0609000101010101" pitchFamily="49" charset="-127"/>
              </a:rPr>
              <a:t>gildong</a:t>
            </a:r>
            <a:r>
              <a:rPr lang="ko-KR" altLang="en-US" sz="1200" dirty="0">
                <a:ea typeface="돋움체" panose="020B0609000101010101" pitchFamily="49" charset="-127"/>
              </a:rPr>
              <a:t>;</a:t>
            </a:r>
          </a:p>
          <a:p>
            <a:endParaRPr lang="ko-KR" altLang="en-US" sz="1200" dirty="0">
              <a:ea typeface="돋움체" panose="020B0609000101010101" pitchFamily="49" charset="-127"/>
            </a:endParaRPr>
          </a:p>
          <a:p>
            <a:r>
              <a:rPr lang="ko-KR" altLang="en-US" sz="1200" dirty="0" err="1">
                <a:ea typeface="돋움체" panose="020B0609000101010101" pitchFamily="49" charset="-127"/>
              </a:rPr>
              <a:t>void</a:t>
            </a:r>
            <a:r>
              <a:rPr lang="ko-KR" altLang="en-US" sz="1200" dirty="0">
                <a:ea typeface="돋움체" panose="020B0609000101010101" pitchFamily="49" charset="-127"/>
              </a:rPr>
              <a:t> </a:t>
            </a:r>
            <a:r>
              <a:rPr lang="ko-KR" altLang="en-US" sz="1200" dirty="0" err="1">
                <a:ea typeface="돋움체" panose="020B0609000101010101" pitchFamily="49" charset="-127"/>
              </a:rPr>
              <a:t>main</a:t>
            </a:r>
            <a:r>
              <a:rPr lang="ko-KR" altLang="en-US" sz="1200" dirty="0">
                <a:ea typeface="돋움체" panose="020B0609000101010101" pitchFamily="49" charset="-127"/>
              </a:rPr>
              <a:t>()</a:t>
            </a:r>
          </a:p>
          <a:p>
            <a:r>
              <a:rPr lang="ko-KR" altLang="en-US" sz="1200" dirty="0">
                <a:ea typeface="돋움체" panose="020B0609000101010101" pitchFamily="49" charset="-127"/>
              </a:rPr>
              <a:t>{</a:t>
            </a:r>
          </a:p>
          <a:p>
            <a:r>
              <a:rPr lang="ko-KR" altLang="en-US" sz="1200" dirty="0">
                <a:ea typeface="돋움체" panose="020B0609000101010101" pitchFamily="49" charset="-127"/>
              </a:rPr>
              <a:t>        </a:t>
            </a:r>
            <a:r>
              <a:rPr lang="ko-KR" altLang="en-US" sz="1200" dirty="0" err="1">
                <a:ea typeface="돋움체" panose="020B0609000101010101" pitchFamily="49" charset="-127"/>
              </a:rPr>
              <a:t>gildong.WhoAreYou</a:t>
            </a:r>
            <a:r>
              <a:rPr lang="ko-KR" altLang="en-US" sz="1200" dirty="0">
                <a:ea typeface="돋움체" panose="020B0609000101010101" pitchFamily="49" charset="-127"/>
              </a:rPr>
              <a:t>();</a:t>
            </a:r>
          </a:p>
          <a:p>
            <a:r>
              <a:rPr lang="ko-KR" altLang="en-US" sz="1200" dirty="0">
                <a:ea typeface="돋움체" panose="020B0609000101010101" pitchFamily="49" charset="-127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330B8A-1C88-4DB2-7B13-C2FEA36EED54}"/>
              </a:ext>
            </a:extLst>
          </p:cNvPr>
          <p:cNvSpPr txBox="1"/>
          <p:nvPr/>
        </p:nvSpPr>
        <p:spPr>
          <a:xfrm>
            <a:off x="4582808" y="1412776"/>
            <a:ext cx="3553587" cy="50141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indent="0">
              <a:buSzPct val="85000"/>
              <a:buNone/>
              <a:defRPr sz="3000" b="0" spc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defRPr>
            </a:lvl1pPr>
          </a:lstStyle>
          <a:p>
            <a:pPr marL="182563" indent="-182563" fontAlgn="base" latinLnBrk="0">
              <a:lnSpc>
                <a:spcPct val="120000"/>
              </a:lnSpc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l"/>
            </a:pPr>
            <a:r>
              <a:rPr lang="ko-KR" altLang="en-US" sz="14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우리가 어떤 값을 지정하고 싶을 때</a:t>
            </a:r>
            <a:endParaRPr lang="en-US" altLang="ko-KR" sz="1400" b="1" spc="-50" dirty="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  <a:alpha val="72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182563" indent="-182563" fontAlgn="base" latinLnBrk="0">
              <a:lnSpc>
                <a:spcPct val="120000"/>
              </a:lnSpc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l"/>
            </a:pPr>
            <a:r>
              <a:rPr lang="ko-KR" altLang="en-US" sz="14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값을 </a:t>
            </a:r>
            <a:r>
              <a:rPr lang="en-US" altLang="ko-KR" sz="14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return</a:t>
            </a:r>
            <a:r>
              <a:rPr lang="ko-KR" altLang="en-US" sz="14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하고</a:t>
            </a:r>
            <a:r>
              <a:rPr lang="en-US" altLang="ko-KR" sz="14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4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그것을 사용하도록</a:t>
            </a:r>
          </a:p>
        </p:txBody>
      </p:sp>
    </p:spTree>
    <p:extLst>
      <p:ext uri="{BB962C8B-B14F-4D97-AF65-F5344CB8AC3E}">
        <p14:creationId xmlns:p14="http://schemas.microsoft.com/office/powerpoint/2010/main" val="37089244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4FE2A3-55F3-6BC3-83E1-E55ADEAC3C06}"/>
              </a:ext>
            </a:extLst>
          </p:cNvPr>
          <p:cNvSpPr txBox="1"/>
          <p:nvPr/>
        </p:nvSpPr>
        <p:spPr>
          <a:xfrm>
            <a:off x="683568" y="243512"/>
            <a:ext cx="457200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ea typeface="돋움체" panose="020B0609000101010101" pitchFamily="49" charset="-127"/>
              </a:rPr>
              <a:t>#include &lt;</a:t>
            </a:r>
            <a:r>
              <a:rPr lang="ko-KR" altLang="en-US" sz="1200" dirty="0" err="1">
                <a:ea typeface="돋움체" panose="020B0609000101010101" pitchFamily="49" charset="-127"/>
              </a:rPr>
              <a:t>stdio.h</a:t>
            </a:r>
            <a:r>
              <a:rPr lang="ko-KR" altLang="en-US" sz="1200" dirty="0">
                <a:ea typeface="돋움체" panose="020B0609000101010101" pitchFamily="49" charset="-127"/>
              </a:rPr>
              <a:t>&gt;</a:t>
            </a:r>
          </a:p>
          <a:p>
            <a:r>
              <a:rPr lang="ko-KR" altLang="en-US" sz="1200" dirty="0">
                <a:ea typeface="돋움체" panose="020B0609000101010101" pitchFamily="49" charset="-127"/>
              </a:rPr>
              <a:t>#include &lt;</a:t>
            </a:r>
            <a:r>
              <a:rPr lang="ko-KR" altLang="en-US" sz="1200" dirty="0" err="1">
                <a:ea typeface="돋움체" panose="020B0609000101010101" pitchFamily="49" charset="-127"/>
              </a:rPr>
              <a:t>atlstr.h</a:t>
            </a:r>
            <a:r>
              <a:rPr lang="ko-KR" altLang="en-US" sz="1200" dirty="0">
                <a:ea typeface="돋움체" panose="020B0609000101010101" pitchFamily="49" charset="-127"/>
              </a:rPr>
              <a:t>&gt;</a:t>
            </a:r>
            <a:endParaRPr lang="en-US" altLang="ko-KR" sz="1200" dirty="0">
              <a:ea typeface="돋움체" panose="020B0609000101010101" pitchFamily="49" charset="-127"/>
            </a:endParaRPr>
          </a:p>
          <a:p>
            <a:endParaRPr lang="ko-KR" altLang="en-US" sz="1200" dirty="0">
              <a:ea typeface="돋움체" panose="020B0609000101010101" pitchFamily="49" charset="-127"/>
            </a:endParaRPr>
          </a:p>
          <a:p>
            <a:r>
              <a:rPr lang="ko-KR" altLang="en-US" sz="1200" dirty="0" err="1">
                <a:ea typeface="돋움체" panose="020B0609000101010101" pitchFamily="49" charset="-127"/>
              </a:rPr>
              <a:t>class</a:t>
            </a:r>
            <a:r>
              <a:rPr lang="ko-KR" altLang="en-US" sz="1200" dirty="0">
                <a:ea typeface="돋움체" panose="020B0609000101010101" pitchFamily="49" charset="-127"/>
              </a:rPr>
              <a:t> </a:t>
            </a:r>
            <a:r>
              <a:rPr lang="ko-KR" altLang="en-US" sz="1200" dirty="0" err="1">
                <a:ea typeface="돋움체" panose="020B0609000101010101" pitchFamily="49" charset="-127"/>
              </a:rPr>
              <a:t>CBase</a:t>
            </a:r>
            <a:r>
              <a:rPr lang="ko-KR" altLang="en-US" sz="1200" dirty="0">
                <a:ea typeface="돋움체" panose="020B0609000101010101" pitchFamily="49" charset="-127"/>
              </a:rPr>
              <a:t> {</a:t>
            </a:r>
            <a:endParaRPr lang="en-US" altLang="ko-KR" sz="1200" dirty="0">
              <a:ea typeface="돋움체" panose="020B0609000101010101" pitchFamily="49" charset="-127"/>
            </a:endParaRPr>
          </a:p>
          <a:p>
            <a:r>
              <a:rPr lang="en-US" altLang="ko-KR" sz="1200" b="1" dirty="0">
                <a:solidFill>
                  <a:srgbClr val="FF0000"/>
                </a:solidFill>
                <a:ea typeface="돋움체" panose="020B0609000101010101" pitchFamily="49" charset="-127"/>
              </a:rPr>
              <a:t>       </a:t>
            </a:r>
            <a:r>
              <a:rPr lang="en-US" altLang="ko-KR" sz="1200" b="1" dirty="0" err="1">
                <a:solidFill>
                  <a:srgbClr val="FF0000"/>
                </a:solidFill>
                <a:ea typeface="돋움체" panose="020B0609000101010101" pitchFamily="49" charset="-127"/>
              </a:rPr>
              <a:t>CString</a:t>
            </a:r>
            <a:r>
              <a:rPr lang="en-US" altLang="ko-KR" sz="1200" b="1" dirty="0">
                <a:solidFill>
                  <a:srgbClr val="FF0000"/>
                </a:solidFill>
                <a:ea typeface="돋움체" panose="020B0609000101010101" pitchFamily="49" charset="-127"/>
              </a:rPr>
              <a:t> msg;</a:t>
            </a:r>
            <a:endParaRPr lang="ko-KR" altLang="en-US" sz="1200" b="1" dirty="0">
              <a:solidFill>
                <a:srgbClr val="FF0000"/>
              </a:solidFill>
              <a:ea typeface="돋움체" panose="020B0609000101010101" pitchFamily="49" charset="-127"/>
            </a:endParaRPr>
          </a:p>
          <a:p>
            <a:r>
              <a:rPr lang="ko-KR" altLang="en-US" sz="1200" dirty="0" err="1">
                <a:ea typeface="돋움체" panose="020B0609000101010101" pitchFamily="49" charset="-127"/>
              </a:rPr>
              <a:t>public</a:t>
            </a:r>
            <a:r>
              <a:rPr lang="ko-KR" altLang="en-US" sz="1200" dirty="0">
                <a:ea typeface="돋움체" panose="020B0609000101010101" pitchFamily="49" charset="-127"/>
              </a:rPr>
              <a:t>:</a:t>
            </a:r>
          </a:p>
          <a:p>
            <a:r>
              <a:rPr lang="ko-KR" altLang="en-US" sz="1200" b="1" dirty="0">
                <a:solidFill>
                  <a:srgbClr val="00B050"/>
                </a:solidFill>
                <a:ea typeface="돋움체" panose="020B0609000101010101" pitchFamily="49" charset="-127"/>
              </a:rPr>
              <a:t>        </a:t>
            </a:r>
            <a:r>
              <a:rPr lang="ko-KR" altLang="en-US" sz="1200" b="1" dirty="0" err="1">
                <a:solidFill>
                  <a:srgbClr val="00B050"/>
                </a:solidFill>
                <a:ea typeface="돋움체" panose="020B0609000101010101" pitchFamily="49" charset="-127"/>
              </a:rPr>
              <a:t>virtual</a:t>
            </a:r>
            <a:r>
              <a:rPr lang="ko-KR" altLang="en-US" sz="1200" b="1" dirty="0">
                <a:solidFill>
                  <a:srgbClr val="00B050"/>
                </a:solidFill>
                <a:ea typeface="돋움체" panose="020B0609000101010101" pitchFamily="49" charset="-127"/>
              </a:rPr>
              <a:t> </a:t>
            </a:r>
            <a:r>
              <a:rPr lang="ko-KR" altLang="en-US" sz="1200" b="1" dirty="0" err="1">
                <a:solidFill>
                  <a:srgbClr val="00B050"/>
                </a:solidFill>
                <a:ea typeface="돋움체" panose="020B0609000101010101" pitchFamily="49" charset="-127"/>
              </a:rPr>
              <a:t>CString</a:t>
            </a:r>
            <a:r>
              <a:rPr lang="ko-KR" altLang="en-US" sz="1200" b="1" dirty="0">
                <a:solidFill>
                  <a:srgbClr val="00B050"/>
                </a:solidFill>
                <a:ea typeface="돋움체" panose="020B0609000101010101" pitchFamily="49" charset="-127"/>
              </a:rPr>
              <a:t> </a:t>
            </a:r>
            <a:r>
              <a:rPr lang="ko-KR" altLang="en-US" sz="1200" b="1" dirty="0" err="1">
                <a:solidFill>
                  <a:srgbClr val="00B050"/>
                </a:solidFill>
                <a:ea typeface="돋움체" panose="020B0609000101010101" pitchFamily="49" charset="-127"/>
              </a:rPr>
              <a:t>xxx</a:t>
            </a:r>
            <a:r>
              <a:rPr lang="ko-KR" altLang="en-US" sz="1200" b="1" dirty="0">
                <a:solidFill>
                  <a:srgbClr val="00B050"/>
                </a:solidFill>
                <a:ea typeface="돋움체" panose="020B0609000101010101" pitchFamily="49" charset="-127"/>
              </a:rPr>
              <a:t>() {</a:t>
            </a:r>
          </a:p>
          <a:p>
            <a:r>
              <a:rPr lang="ko-KR" altLang="en-US" sz="1200" b="1" dirty="0">
                <a:solidFill>
                  <a:srgbClr val="00B050"/>
                </a:solidFill>
                <a:ea typeface="돋움체" panose="020B0609000101010101" pitchFamily="49" charset="-127"/>
              </a:rPr>
              <a:t>	</a:t>
            </a:r>
            <a:r>
              <a:rPr lang="ko-KR" altLang="en-US" sz="1200" b="1" dirty="0" err="1">
                <a:solidFill>
                  <a:srgbClr val="00B050"/>
                </a:solidFill>
                <a:ea typeface="돋움체" panose="020B0609000101010101" pitchFamily="49" charset="-127"/>
              </a:rPr>
              <a:t>return</a:t>
            </a:r>
            <a:r>
              <a:rPr lang="ko-KR" altLang="en-US" sz="1200" b="1" dirty="0">
                <a:solidFill>
                  <a:srgbClr val="00B050"/>
                </a:solidFill>
                <a:ea typeface="돋움체" panose="020B0609000101010101" pitchFamily="49" charset="-127"/>
              </a:rPr>
              <a:t> "</a:t>
            </a:r>
            <a:r>
              <a:rPr lang="ko-KR" altLang="en-US" sz="1200" b="1" dirty="0" err="1">
                <a:solidFill>
                  <a:srgbClr val="00B050"/>
                </a:solidFill>
                <a:ea typeface="돋움체" panose="020B0609000101010101" pitchFamily="49" charset="-127"/>
              </a:rPr>
              <a:t>CBase</a:t>
            </a:r>
            <a:r>
              <a:rPr lang="ko-KR" altLang="en-US" sz="1200" b="1" dirty="0">
                <a:solidFill>
                  <a:srgbClr val="00B050"/>
                </a:solidFill>
                <a:ea typeface="돋움체" panose="020B0609000101010101" pitchFamily="49" charset="-127"/>
              </a:rPr>
              <a:t>";</a:t>
            </a:r>
          </a:p>
          <a:p>
            <a:r>
              <a:rPr lang="ko-KR" altLang="en-US" sz="1200" b="1" dirty="0">
                <a:solidFill>
                  <a:srgbClr val="00B050"/>
                </a:solidFill>
                <a:ea typeface="돋움체" panose="020B0609000101010101" pitchFamily="49" charset="-127"/>
              </a:rPr>
              <a:t>        }</a:t>
            </a:r>
          </a:p>
          <a:p>
            <a:endParaRPr lang="ko-KR" altLang="en-US" sz="1200" dirty="0">
              <a:ea typeface="돋움체" panose="020B0609000101010101" pitchFamily="49" charset="-127"/>
            </a:endParaRPr>
          </a:p>
          <a:p>
            <a:r>
              <a:rPr lang="ko-KR" altLang="en-US" sz="1200" dirty="0">
                <a:ea typeface="돋움체" panose="020B0609000101010101" pitchFamily="49" charset="-127"/>
              </a:rPr>
              <a:t>        </a:t>
            </a:r>
            <a:r>
              <a:rPr lang="ko-KR" altLang="en-US" sz="1200" dirty="0" err="1">
                <a:ea typeface="돋움체" panose="020B0609000101010101" pitchFamily="49" charset="-127"/>
              </a:rPr>
              <a:t>void</a:t>
            </a:r>
            <a:r>
              <a:rPr lang="ko-KR" altLang="en-US" sz="1200" dirty="0">
                <a:ea typeface="돋움체" panose="020B0609000101010101" pitchFamily="49" charset="-127"/>
              </a:rPr>
              <a:t> </a:t>
            </a:r>
            <a:r>
              <a:rPr lang="ko-KR" altLang="en-US" sz="1200" dirty="0" err="1">
                <a:ea typeface="돋움체" panose="020B0609000101010101" pitchFamily="49" charset="-127"/>
              </a:rPr>
              <a:t>WhoAreYou</a:t>
            </a:r>
            <a:r>
              <a:rPr lang="ko-KR" altLang="en-US" sz="1200" dirty="0">
                <a:ea typeface="돋움체" panose="020B0609000101010101" pitchFamily="49" charset="-127"/>
              </a:rPr>
              <a:t>() {</a:t>
            </a:r>
          </a:p>
          <a:p>
            <a:r>
              <a:rPr lang="ko-KR" altLang="en-US" sz="1200" b="1" dirty="0">
                <a:solidFill>
                  <a:srgbClr val="00B050"/>
                </a:solidFill>
                <a:ea typeface="돋움체" panose="020B0609000101010101" pitchFamily="49" charset="-127"/>
              </a:rPr>
              <a:t>	</a:t>
            </a:r>
            <a:r>
              <a:rPr lang="ko-KR" altLang="en-US" sz="1200" b="1" strike="sngStrike" dirty="0" err="1">
                <a:solidFill>
                  <a:schemeClr val="bg1">
                    <a:lumMod val="75000"/>
                  </a:schemeClr>
                </a:solidFill>
                <a:ea typeface="돋움체" panose="020B0609000101010101" pitchFamily="49" charset="-127"/>
              </a:rPr>
              <a:t>CString</a:t>
            </a:r>
            <a:r>
              <a:rPr lang="ko-KR" altLang="en-US" sz="1200" b="1" dirty="0">
                <a:solidFill>
                  <a:srgbClr val="00B050"/>
                </a:solidFill>
                <a:ea typeface="돋움체" panose="020B0609000101010101" pitchFamily="49" charset="-127"/>
              </a:rPr>
              <a:t> </a:t>
            </a:r>
            <a:r>
              <a:rPr lang="ko-KR" altLang="en-US" sz="1200" b="1" dirty="0" err="1">
                <a:solidFill>
                  <a:srgbClr val="00B050"/>
                </a:solidFill>
                <a:ea typeface="돋움체" panose="020B0609000101010101" pitchFamily="49" charset="-127"/>
              </a:rPr>
              <a:t>msg</a:t>
            </a:r>
            <a:r>
              <a:rPr lang="ko-KR" altLang="en-US" sz="1200" b="1" dirty="0">
                <a:solidFill>
                  <a:srgbClr val="00B050"/>
                </a:solidFill>
                <a:ea typeface="돋움체" panose="020B0609000101010101" pitchFamily="49" charset="-127"/>
              </a:rPr>
              <a:t> = </a:t>
            </a:r>
            <a:r>
              <a:rPr lang="ko-KR" altLang="en-US" sz="1200" b="1" dirty="0" err="1">
                <a:solidFill>
                  <a:srgbClr val="00B050"/>
                </a:solidFill>
                <a:ea typeface="돋움체" panose="020B0609000101010101" pitchFamily="49" charset="-127"/>
              </a:rPr>
              <a:t>xxx</a:t>
            </a:r>
            <a:r>
              <a:rPr lang="ko-KR" altLang="en-US" sz="1200" b="1" dirty="0">
                <a:solidFill>
                  <a:srgbClr val="00B050"/>
                </a:solidFill>
                <a:ea typeface="돋움체" panose="020B0609000101010101" pitchFamily="49" charset="-127"/>
              </a:rPr>
              <a:t>();</a:t>
            </a:r>
          </a:p>
          <a:p>
            <a:r>
              <a:rPr lang="ko-KR" altLang="en-US" sz="1200" b="1" dirty="0">
                <a:solidFill>
                  <a:srgbClr val="00B050"/>
                </a:solidFill>
                <a:ea typeface="돋움체" panose="020B0609000101010101" pitchFamily="49" charset="-127"/>
              </a:rPr>
              <a:t>	</a:t>
            </a:r>
            <a:r>
              <a:rPr lang="ko-KR" altLang="en-US" sz="1200" b="1" dirty="0" err="1">
                <a:solidFill>
                  <a:srgbClr val="00B050"/>
                </a:solidFill>
                <a:ea typeface="돋움체" panose="020B0609000101010101" pitchFamily="49" charset="-127"/>
              </a:rPr>
              <a:t>printf</a:t>
            </a:r>
            <a:r>
              <a:rPr lang="ko-KR" altLang="en-US" sz="1200" b="1" dirty="0">
                <a:solidFill>
                  <a:srgbClr val="00B050"/>
                </a:solidFill>
                <a:ea typeface="돋움체" panose="020B0609000101010101" pitchFamily="49" charset="-127"/>
              </a:rPr>
              <a:t>("%</a:t>
            </a:r>
            <a:r>
              <a:rPr lang="ko-KR" altLang="en-US" sz="1200" b="1" dirty="0" err="1">
                <a:solidFill>
                  <a:srgbClr val="00B050"/>
                </a:solidFill>
                <a:ea typeface="돋움체" panose="020B0609000101010101" pitchFamily="49" charset="-127"/>
              </a:rPr>
              <a:t>S</a:t>
            </a:r>
            <a:r>
              <a:rPr lang="ko-KR" altLang="en-US" sz="1200" b="1" dirty="0">
                <a:solidFill>
                  <a:srgbClr val="00B050"/>
                </a:solidFill>
                <a:ea typeface="돋움체" panose="020B0609000101010101" pitchFamily="49" charset="-127"/>
              </a:rPr>
              <a:t>\</a:t>
            </a:r>
            <a:r>
              <a:rPr lang="ko-KR" altLang="en-US" sz="1200" b="1" dirty="0" err="1">
                <a:solidFill>
                  <a:srgbClr val="00B050"/>
                </a:solidFill>
                <a:ea typeface="돋움체" panose="020B0609000101010101" pitchFamily="49" charset="-127"/>
              </a:rPr>
              <a:t>n</a:t>
            </a:r>
            <a:r>
              <a:rPr lang="ko-KR" altLang="en-US" sz="1200" b="1" dirty="0">
                <a:solidFill>
                  <a:srgbClr val="00B050"/>
                </a:solidFill>
                <a:ea typeface="돋움체" panose="020B0609000101010101" pitchFamily="49" charset="-127"/>
              </a:rPr>
              <a:t>", </a:t>
            </a:r>
            <a:r>
              <a:rPr lang="ko-KR" altLang="en-US" sz="1200" b="1" dirty="0" err="1">
                <a:solidFill>
                  <a:srgbClr val="00B050"/>
                </a:solidFill>
                <a:ea typeface="돋움체" panose="020B0609000101010101" pitchFamily="49" charset="-127"/>
              </a:rPr>
              <a:t>msg</a:t>
            </a:r>
            <a:r>
              <a:rPr lang="ko-KR" altLang="en-US" sz="1200" b="1" dirty="0">
                <a:solidFill>
                  <a:srgbClr val="00B050"/>
                </a:solidFill>
                <a:ea typeface="돋움체" panose="020B0609000101010101" pitchFamily="49" charset="-127"/>
              </a:rPr>
              <a:t>);</a:t>
            </a:r>
          </a:p>
          <a:p>
            <a:r>
              <a:rPr lang="ko-KR" altLang="en-US" sz="1200" dirty="0">
                <a:ea typeface="돋움체" panose="020B0609000101010101" pitchFamily="49" charset="-127"/>
              </a:rPr>
              <a:t>	</a:t>
            </a:r>
            <a:r>
              <a:rPr lang="ko-KR" altLang="en-US" sz="1200" dirty="0" err="1">
                <a:ea typeface="돋움체" panose="020B0609000101010101" pitchFamily="49" charset="-127"/>
              </a:rPr>
              <a:t>printf</a:t>
            </a:r>
            <a:r>
              <a:rPr lang="ko-KR" altLang="en-US" sz="1200" dirty="0">
                <a:ea typeface="돋움체" panose="020B0609000101010101" pitchFamily="49" charset="-127"/>
              </a:rPr>
              <a:t>("------------------------\</a:t>
            </a:r>
            <a:r>
              <a:rPr lang="ko-KR" altLang="en-US" sz="1200" dirty="0" err="1">
                <a:ea typeface="돋움체" panose="020B0609000101010101" pitchFamily="49" charset="-127"/>
              </a:rPr>
              <a:t>n</a:t>
            </a:r>
            <a:r>
              <a:rPr lang="ko-KR" altLang="en-US" sz="1200" dirty="0">
                <a:ea typeface="돋움체" panose="020B0609000101010101" pitchFamily="49" charset="-127"/>
              </a:rPr>
              <a:t>");</a:t>
            </a:r>
          </a:p>
          <a:p>
            <a:r>
              <a:rPr lang="ko-KR" altLang="en-US" sz="1200" dirty="0">
                <a:ea typeface="돋움체" panose="020B0609000101010101" pitchFamily="49" charset="-127"/>
              </a:rPr>
              <a:t>	</a:t>
            </a:r>
            <a:r>
              <a:rPr lang="ko-KR" altLang="en-US" sz="1200" dirty="0" err="1">
                <a:ea typeface="돋움체" panose="020B0609000101010101" pitchFamily="49" charset="-127"/>
              </a:rPr>
              <a:t>printf</a:t>
            </a:r>
            <a:r>
              <a:rPr lang="ko-KR" altLang="en-US" sz="1200" dirty="0">
                <a:ea typeface="돋움체" panose="020B0609000101010101" pitchFamily="49" charset="-127"/>
              </a:rPr>
              <a:t>("</a:t>
            </a:r>
            <a:r>
              <a:rPr lang="ko-KR" altLang="en-US" sz="1200" dirty="0" err="1">
                <a:ea typeface="돋움체" panose="020B0609000101010101" pitchFamily="49" charset="-127"/>
              </a:rPr>
              <a:t>Copyright</a:t>
            </a:r>
            <a:r>
              <a:rPr lang="ko-KR" altLang="en-US" sz="1200" dirty="0">
                <a:ea typeface="돋움체" panose="020B0609000101010101" pitchFamily="49" charset="-127"/>
              </a:rPr>
              <a:t> (c)\</a:t>
            </a:r>
            <a:r>
              <a:rPr lang="ko-KR" altLang="en-US" sz="1200" dirty="0" err="1">
                <a:ea typeface="돋움체" panose="020B0609000101010101" pitchFamily="49" charset="-127"/>
              </a:rPr>
              <a:t>n</a:t>
            </a:r>
            <a:r>
              <a:rPr lang="ko-KR" altLang="en-US" sz="1200" dirty="0">
                <a:ea typeface="돋움체" panose="020B0609000101010101" pitchFamily="49" charset="-127"/>
              </a:rPr>
              <a:t>");</a:t>
            </a:r>
          </a:p>
          <a:p>
            <a:r>
              <a:rPr lang="ko-KR" altLang="en-US" sz="1200" dirty="0">
                <a:ea typeface="돋움체" panose="020B0609000101010101" pitchFamily="49" charset="-127"/>
              </a:rPr>
              <a:t>	</a:t>
            </a:r>
            <a:r>
              <a:rPr lang="ko-KR" altLang="en-US" sz="1200" dirty="0" err="1">
                <a:ea typeface="돋움체" panose="020B0609000101010101" pitchFamily="49" charset="-127"/>
              </a:rPr>
              <a:t>printf</a:t>
            </a:r>
            <a:r>
              <a:rPr lang="ko-KR" altLang="en-US" sz="1200" dirty="0">
                <a:ea typeface="돋움체" panose="020B0609000101010101" pitchFamily="49" charset="-127"/>
              </a:rPr>
              <a:t>("2025\</a:t>
            </a:r>
            <a:r>
              <a:rPr lang="ko-KR" altLang="en-US" sz="1200" dirty="0" err="1">
                <a:ea typeface="돋움체" panose="020B0609000101010101" pitchFamily="49" charset="-127"/>
              </a:rPr>
              <a:t>n</a:t>
            </a:r>
            <a:r>
              <a:rPr lang="ko-KR" altLang="en-US" sz="1200" dirty="0">
                <a:ea typeface="돋움체" panose="020B0609000101010101" pitchFamily="49" charset="-127"/>
              </a:rPr>
              <a:t>");</a:t>
            </a:r>
          </a:p>
          <a:p>
            <a:r>
              <a:rPr lang="ko-KR" altLang="en-US" sz="1200" dirty="0">
                <a:ea typeface="돋움체" panose="020B0609000101010101" pitchFamily="49" charset="-127"/>
              </a:rPr>
              <a:t>	</a:t>
            </a:r>
            <a:r>
              <a:rPr lang="ko-KR" altLang="en-US" sz="1200" dirty="0" err="1">
                <a:ea typeface="돋움체" panose="020B0609000101010101" pitchFamily="49" charset="-127"/>
              </a:rPr>
              <a:t>printf</a:t>
            </a:r>
            <a:r>
              <a:rPr lang="ko-KR" altLang="en-US" sz="1200" dirty="0">
                <a:ea typeface="돋움체" panose="020B0609000101010101" pitchFamily="49" charset="-127"/>
              </a:rPr>
              <a:t>("</a:t>
            </a:r>
            <a:r>
              <a:rPr lang="ko-KR" altLang="en-US" sz="1200" dirty="0" err="1">
                <a:ea typeface="돋움체" panose="020B0609000101010101" pitchFamily="49" charset="-127"/>
              </a:rPr>
              <a:t>Jeju</a:t>
            </a:r>
            <a:r>
              <a:rPr lang="ko-KR" altLang="en-US" sz="1200" dirty="0">
                <a:ea typeface="돋움체" panose="020B0609000101010101" pitchFamily="49" charset="-127"/>
              </a:rPr>
              <a:t> </a:t>
            </a:r>
            <a:r>
              <a:rPr lang="ko-KR" altLang="en-US" sz="1200" dirty="0" err="1">
                <a:ea typeface="돋움체" panose="020B0609000101010101" pitchFamily="49" charset="-127"/>
              </a:rPr>
              <a:t>Island</a:t>
            </a:r>
            <a:r>
              <a:rPr lang="ko-KR" altLang="en-US" sz="1200" dirty="0">
                <a:ea typeface="돋움체" panose="020B0609000101010101" pitchFamily="49" charset="-127"/>
              </a:rPr>
              <a:t>\</a:t>
            </a:r>
            <a:r>
              <a:rPr lang="ko-KR" altLang="en-US" sz="1200" dirty="0" err="1">
                <a:ea typeface="돋움체" panose="020B0609000101010101" pitchFamily="49" charset="-127"/>
              </a:rPr>
              <a:t>n</a:t>
            </a:r>
            <a:r>
              <a:rPr lang="ko-KR" altLang="en-US" sz="1200" dirty="0">
                <a:ea typeface="돋움체" panose="020B0609000101010101" pitchFamily="49" charset="-127"/>
              </a:rPr>
              <a:t>");</a:t>
            </a:r>
          </a:p>
          <a:p>
            <a:r>
              <a:rPr lang="ko-KR" altLang="en-US" sz="1200" dirty="0">
                <a:ea typeface="돋움체" panose="020B0609000101010101" pitchFamily="49" charset="-127"/>
              </a:rPr>
              <a:t>	</a:t>
            </a:r>
            <a:r>
              <a:rPr lang="ko-KR" altLang="en-US" sz="1200" dirty="0" err="1">
                <a:ea typeface="돋움체" panose="020B0609000101010101" pitchFamily="49" charset="-127"/>
              </a:rPr>
              <a:t>printf</a:t>
            </a:r>
            <a:r>
              <a:rPr lang="ko-KR" altLang="en-US" sz="1200" dirty="0">
                <a:ea typeface="돋움체" panose="020B0609000101010101" pitchFamily="49" charset="-127"/>
              </a:rPr>
              <a:t>("</a:t>
            </a:r>
            <a:r>
              <a:rPr lang="ko-KR" altLang="en-US" sz="1200" dirty="0" err="1">
                <a:ea typeface="돋움체" panose="020B0609000101010101" pitchFamily="49" charset="-127"/>
              </a:rPr>
              <a:t>Jeju</a:t>
            </a:r>
            <a:r>
              <a:rPr lang="ko-KR" altLang="en-US" sz="1200" dirty="0">
                <a:ea typeface="돋움체" panose="020B0609000101010101" pitchFamily="49" charset="-127"/>
              </a:rPr>
              <a:t>\</a:t>
            </a:r>
            <a:r>
              <a:rPr lang="ko-KR" altLang="en-US" sz="1200" dirty="0" err="1">
                <a:ea typeface="돋움체" panose="020B0609000101010101" pitchFamily="49" charset="-127"/>
              </a:rPr>
              <a:t>n</a:t>
            </a:r>
            <a:r>
              <a:rPr lang="ko-KR" altLang="en-US" sz="1200" dirty="0">
                <a:ea typeface="돋움체" panose="020B0609000101010101" pitchFamily="49" charset="-127"/>
              </a:rPr>
              <a:t>");</a:t>
            </a:r>
          </a:p>
          <a:p>
            <a:r>
              <a:rPr lang="ko-KR" altLang="en-US" sz="1200" dirty="0">
                <a:ea typeface="돋움체" panose="020B0609000101010101" pitchFamily="49" charset="-127"/>
              </a:rPr>
              <a:t>	</a:t>
            </a:r>
            <a:r>
              <a:rPr lang="ko-KR" altLang="en-US" sz="1200" dirty="0" err="1">
                <a:ea typeface="돋움체" panose="020B0609000101010101" pitchFamily="49" charset="-127"/>
              </a:rPr>
              <a:t>printf</a:t>
            </a:r>
            <a:r>
              <a:rPr lang="ko-KR" altLang="en-US" sz="1200" dirty="0">
                <a:ea typeface="돋움체" panose="020B0609000101010101" pitchFamily="49" charset="-127"/>
              </a:rPr>
              <a:t>("All </a:t>
            </a:r>
            <a:r>
              <a:rPr lang="ko-KR" altLang="en-US" sz="1200" dirty="0" err="1">
                <a:ea typeface="돋움체" panose="020B0609000101010101" pitchFamily="49" charset="-127"/>
              </a:rPr>
              <a:t>Rights</a:t>
            </a:r>
            <a:r>
              <a:rPr lang="ko-KR" altLang="en-US" sz="1200" dirty="0">
                <a:ea typeface="돋움체" panose="020B0609000101010101" pitchFamily="49" charset="-127"/>
              </a:rPr>
              <a:t> </a:t>
            </a:r>
            <a:r>
              <a:rPr lang="ko-KR" altLang="en-US" sz="1200" dirty="0" err="1">
                <a:ea typeface="돋움체" panose="020B0609000101010101" pitchFamily="49" charset="-127"/>
              </a:rPr>
              <a:t>Reserved</a:t>
            </a:r>
            <a:r>
              <a:rPr lang="ko-KR" altLang="en-US" sz="1200" dirty="0">
                <a:solidFill>
                  <a:srgbClr val="00B050"/>
                </a:solidFill>
                <a:ea typeface="돋움체" panose="020B0609000101010101" pitchFamily="49" charset="-127"/>
              </a:rPr>
              <a:t> </a:t>
            </a:r>
            <a:r>
              <a:rPr lang="ko-KR" altLang="en-US" sz="1200" b="1" dirty="0" err="1">
                <a:solidFill>
                  <a:srgbClr val="00B050"/>
                </a:solidFill>
                <a:ea typeface="돋움체" panose="020B0609000101010101" pitchFamily="49" charset="-127"/>
              </a:rPr>
              <a:t>by</a:t>
            </a:r>
            <a:r>
              <a:rPr lang="ko-KR" altLang="en-US" sz="1200" b="1" dirty="0">
                <a:solidFill>
                  <a:srgbClr val="00B050"/>
                </a:solidFill>
                <a:ea typeface="돋움체" panose="020B0609000101010101" pitchFamily="49" charset="-127"/>
              </a:rPr>
              <a:t> %</a:t>
            </a:r>
            <a:r>
              <a:rPr lang="ko-KR" altLang="en-US" sz="1200" b="1" dirty="0" err="1">
                <a:solidFill>
                  <a:srgbClr val="00B050"/>
                </a:solidFill>
                <a:ea typeface="돋움체" panose="020B0609000101010101" pitchFamily="49" charset="-127"/>
              </a:rPr>
              <a:t>S</a:t>
            </a:r>
            <a:r>
              <a:rPr lang="ko-KR" altLang="en-US" sz="1200" dirty="0">
                <a:solidFill>
                  <a:srgbClr val="00B050"/>
                </a:solidFill>
                <a:ea typeface="돋움체" panose="020B0609000101010101" pitchFamily="49" charset="-127"/>
              </a:rPr>
              <a:t>.</a:t>
            </a:r>
            <a:r>
              <a:rPr lang="ko-KR" altLang="en-US" sz="1200" dirty="0">
                <a:ea typeface="돋움체" panose="020B0609000101010101" pitchFamily="49" charset="-127"/>
              </a:rPr>
              <a:t>\</a:t>
            </a:r>
            <a:r>
              <a:rPr lang="ko-KR" altLang="en-US" sz="1200" dirty="0" err="1">
                <a:ea typeface="돋움체" panose="020B0609000101010101" pitchFamily="49" charset="-127"/>
              </a:rPr>
              <a:t>n</a:t>
            </a:r>
            <a:r>
              <a:rPr lang="ko-KR" altLang="en-US" sz="1200" dirty="0">
                <a:ea typeface="돋움체" panose="020B0609000101010101" pitchFamily="49" charset="-127"/>
              </a:rPr>
              <a:t>", </a:t>
            </a:r>
            <a:r>
              <a:rPr lang="ko-KR" altLang="en-US" sz="1200" b="1" dirty="0" err="1">
                <a:solidFill>
                  <a:srgbClr val="00B050"/>
                </a:solidFill>
                <a:ea typeface="돋움체" panose="020B0609000101010101" pitchFamily="49" charset="-127"/>
              </a:rPr>
              <a:t>msg</a:t>
            </a:r>
            <a:r>
              <a:rPr lang="ko-KR" altLang="en-US" sz="1200" dirty="0">
                <a:ea typeface="돋움체" panose="020B0609000101010101" pitchFamily="49" charset="-127"/>
              </a:rPr>
              <a:t>);</a:t>
            </a:r>
          </a:p>
          <a:p>
            <a:r>
              <a:rPr lang="ko-KR" altLang="en-US" sz="1200" dirty="0">
                <a:ea typeface="돋움체" panose="020B0609000101010101" pitchFamily="49" charset="-127"/>
              </a:rPr>
              <a:t>        }</a:t>
            </a:r>
          </a:p>
          <a:p>
            <a:r>
              <a:rPr lang="ko-KR" altLang="en-US" sz="1200" dirty="0">
                <a:ea typeface="돋움체" panose="020B0609000101010101" pitchFamily="49" charset="-127"/>
              </a:rPr>
              <a:t>};</a:t>
            </a:r>
          </a:p>
          <a:p>
            <a:endParaRPr lang="ko-KR" altLang="en-US" sz="1200" dirty="0">
              <a:ea typeface="돋움체" panose="020B0609000101010101" pitchFamily="49" charset="-127"/>
            </a:endParaRPr>
          </a:p>
          <a:p>
            <a:r>
              <a:rPr lang="ko-KR" altLang="en-US" sz="1200" dirty="0" err="1">
                <a:ea typeface="돋움체" panose="020B0609000101010101" pitchFamily="49" charset="-127"/>
              </a:rPr>
              <a:t>class</a:t>
            </a:r>
            <a:r>
              <a:rPr lang="ko-KR" altLang="en-US" sz="1200" dirty="0">
                <a:ea typeface="돋움체" panose="020B0609000101010101" pitchFamily="49" charset="-127"/>
              </a:rPr>
              <a:t> </a:t>
            </a:r>
            <a:r>
              <a:rPr lang="ko-KR" altLang="en-US" sz="1200" dirty="0" err="1">
                <a:ea typeface="돋움체" panose="020B0609000101010101" pitchFamily="49" charset="-127"/>
              </a:rPr>
              <a:t>CDerived</a:t>
            </a:r>
            <a:r>
              <a:rPr lang="ko-KR" altLang="en-US" sz="1200" dirty="0">
                <a:ea typeface="돋움체" panose="020B0609000101010101" pitchFamily="49" charset="-127"/>
              </a:rPr>
              <a:t> : </a:t>
            </a:r>
            <a:r>
              <a:rPr lang="ko-KR" altLang="en-US" sz="1200" dirty="0" err="1">
                <a:ea typeface="돋움체" panose="020B0609000101010101" pitchFamily="49" charset="-127"/>
              </a:rPr>
              <a:t>public</a:t>
            </a:r>
            <a:r>
              <a:rPr lang="ko-KR" altLang="en-US" sz="1200" dirty="0">
                <a:ea typeface="돋움체" panose="020B0609000101010101" pitchFamily="49" charset="-127"/>
              </a:rPr>
              <a:t> </a:t>
            </a:r>
            <a:r>
              <a:rPr lang="ko-KR" altLang="en-US" sz="1200" dirty="0" err="1">
                <a:ea typeface="돋움체" panose="020B0609000101010101" pitchFamily="49" charset="-127"/>
              </a:rPr>
              <a:t>CBase</a:t>
            </a:r>
            <a:r>
              <a:rPr lang="ko-KR" altLang="en-US" sz="1200" dirty="0">
                <a:ea typeface="돋움체" panose="020B0609000101010101" pitchFamily="49" charset="-127"/>
              </a:rPr>
              <a:t> {</a:t>
            </a:r>
          </a:p>
          <a:p>
            <a:r>
              <a:rPr lang="ko-KR" altLang="en-US" sz="1200" dirty="0" err="1">
                <a:ea typeface="돋움체" panose="020B0609000101010101" pitchFamily="49" charset="-127"/>
              </a:rPr>
              <a:t>public</a:t>
            </a:r>
            <a:r>
              <a:rPr lang="ko-KR" altLang="en-US" sz="1200" dirty="0">
                <a:ea typeface="돋움체" panose="020B0609000101010101" pitchFamily="49" charset="-127"/>
              </a:rPr>
              <a:t>:</a:t>
            </a:r>
          </a:p>
          <a:p>
            <a:r>
              <a:rPr lang="ko-KR" altLang="en-US" sz="1200" b="1" dirty="0">
                <a:solidFill>
                  <a:srgbClr val="0070C0"/>
                </a:solidFill>
                <a:ea typeface="돋움체" panose="020B0609000101010101" pitchFamily="49" charset="-127"/>
              </a:rPr>
              <a:t>        </a:t>
            </a:r>
            <a:r>
              <a:rPr lang="ko-KR" altLang="en-US" sz="1200" b="1" dirty="0" err="1">
                <a:solidFill>
                  <a:srgbClr val="0070C0"/>
                </a:solidFill>
                <a:ea typeface="돋움체" panose="020B0609000101010101" pitchFamily="49" charset="-127"/>
              </a:rPr>
              <a:t>CString</a:t>
            </a:r>
            <a:r>
              <a:rPr lang="ko-KR" altLang="en-US" sz="1200" b="1" dirty="0">
                <a:solidFill>
                  <a:srgbClr val="0070C0"/>
                </a:solidFill>
                <a:ea typeface="돋움체" panose="020B0609000101010101" pitchFamily="49" charset="-127"/>
              </a:rPr>
              <a:t> </a:t>
            </a:r>
            <a:r>
              <a:rPr lang="ko-KR" altLang="en-US" sz="1200" b="1" dirty="0" err="1">
                <a:solidFill>
                  <a:srgbClr val="0070C0"/>
                </a:solidFill>
                <a:ea typeface="돋움체" panose="020B0609000101010101" pitchFamily="49" charset="-127"/>
              </a:rPr>
              <a:t>xxx</a:t>
            </a:r>
            <a:r>
              <a:rPr lang="ko-KR" altLang="en-US" sz="1200" b="1" dirty="0">
                <a:solidFill>
                  <a:srgbClr val="0070C0"/>
                </a:solidFill>
                <a:ea typeface="돋움체" panose="020B0609000101010101" pitchFamily="49" charset="-127"/>
              </a:rPr>
              <a:t>() {</a:t>
            </a:r>
          </a:p>
          <a:p>
            <a:r>
              <a:rPr lang="ko-KR" altLang="en-US" sz="1200" b="1" dirty="0">
                <a:solidFill>
                  <a:srgbClr val="0070C0"/>
                </a:solidFill>
                <a:ea typeface="돋움체" panose="020B0609000101010101" pitchFamily="49" charset="-127"/>
              </a:rPr>
              <a:t>	</a:t>
            </a:r>
            <a:r>
              <a:rPr lang="ko-KR" altLang="en-US" sz="1200" b="1" dirty="0" err="1">
                <a:solidFill>
                  <a:srgbClr val="0070C0"/>
                </a:solidFill>
                <a:ea typeface="돋움체" panose="020B0609000101010101" pitchFamily="49" charset="-127"/>
              </a:rPr>
              <a:t>return</a:t>
            </a:r>
            <a:r>
              <a:rPr lang="ko-KR" altLang="en-US" sz="1200" b="1" dirty="0">
                <a:solidFill>
                  <a:srgbClr val="0070C0"/>
                </a:solidFill>
                <a:ea typeface="돋움체" panose="020B0609000101010101" pitchFamily="49" charset="-127"/>
              </a:rPr>
              <a:t> "</a:t>
            </a:r>
            <a:r>
              <a:rPr lang="ko-KR" altLang="en-US" sz="1200" b="1" dirty="0" err="1">
                <a:solidFill>
                  <a:srgbClr val="0070C0"/>
                </a:solidFill>
                <a:ea typeface="돋움체" panose="020B0609000101010101" pitchFamily="49" charset="-127"/>
              </a:rPr>
              <a:t>Hello</a:t>
            </a:r>
            <a:r>
              <a:rPr lang="ko-KR" altLang="en-US" sz="1200" b="1" dirty="0">
                <a:solidFill>
                  <a:srgbClr val="0070C0"/>
                </a:solidFill>
                <a:ea typeface="돋움체" panose="020B0609000101010101" pitchFamily="49" charset="-127"/>
              </a:rPr>
              <a:t>, </a:t>
            </a:r>
            <a:r>
              <a:rPr lang="ko-KR" altLang="en-US" sz="1200" b="1" dirty="0" err="1">
                <a:solidFill>
                  <a:srgbClr val="0070C0"/>
                </a:solidFill>
                <a:ea typeface="돋움체" panose="020B0609000101010101" pitchFamily="49" charset="-127"/>
              </a:rPr>
              <a:t>I</a:t>
            </a:r>
            <a:r>
              <a:rPr lang="ko-KR" altLang="en-US" sz="1200" b="1" dirty="0">
                <a:solidFill>
                  <a:srgbClr val="0070C0"/>
                </a:solidFill>
                <a:ea typeface="돋움체" panose="020B0609000101010101" pitchFamily="49" charset="-127"/>
              </a:rPr>
              <a:t> </a:t>
            </a:r>
            <a:r>
              <a:rPr lang="ko-KR" altLang="en-US" sz="1200" b="1" dirty="0" err="1">
                <a:solidFill>
                  <a:srgbClr val="0070C0"/>
                </a:solidFill>
                <a:ea typeface="돋움체" panose="020B0609000101010101" pitchFamily="49" charset="-127"/>
              </a:rPr>
              <a:t>am</a:t>
            </a:r>
            <a:r>
              <a:rPr lang="ko-KR" altLang="en-US" sz="1200" b="1" dirty="0">
                <a:solidFill>
                  <a:srgbClr val="0070C0"/>
                </a:solidFill>
                <a:ea typeface="돋움체" panose="020B0609000101010101" pitchFamily="49" charset="-127"/>
              </a:rPr>
              <a:t> </a:t>
            </a:r>
            <a:r>
              <a:rPr lang="ko-KR" altLang="en-US" sz="1200" b="1" dirty="0" err="1">
                <a:solidFill>
                  <a:srgbClr val="0070C0"/>
                </a:solidFill>
                <a:ea typeface="돋움체" panose="020B0609000101010101" pitchFamily="49" charset="-127"/>
              </a:rPr>
              <a:t>a</a:t>
            </a:r>
            <a:r>
              <a:rPr lang="ko-KR" altLang="en-US" sz="1200" b="1" dirty="0">
                <a:solidFill>
                  <a:srgbClr val="0070C0"/>
                </a:solidFill>
                <a:ea typeface="돋움체" panose="020B0609000101010101" pitchFamily="49" charset="-127"/>
              </a:rPr>
              <a:t> </a:t>
            </a:r>
            <a:r>
              <a:rPr lang="ko-KR" altLang="en-US" sz="1200" b="1" dirty="0" err="1">
                <a:solidFill>
                  <a:srgbClr val="0070C0"/>
                </a:solidFill>
                <a:ea typeface="돋움체" panose="020B0609000101010101" pitchFamily="49" charset="-127"/>
              </a:rPr>
              <a:t>CBase</a:t>
            </a:r>
            <a:r>
              <a:rPr lang="ko-KR" altLang="en-US" sz="1200" b="1" dirty="0">
                <a:solidFill>
                  <a:srgbClr val="0070C0"/>
                </a:solidFill>
                <a:ea typeface="돋움체" panose="020B0609000101010101" pitchFamily="49" charset="-127"/>
              </a:rPr>
              <a:t>!\</a:t>
            </a:r>
            <a:r>
              <a:rPr lang="ko-KR" altLang="en-US" sz="1200" b="1" dirty="0" err="1">
                <a:solidFill>
                  <a:srgbClr val="0070C0"/>
                </a:solidFill>
                <a:ea typeface="돋움체" panose="020B0609000101010101" pitchFamily="49" charset="-127"/>
              </a:rPr>
              <a:t>n</a:t>
            </a:r>
            <a:r>
              <a:rPr lang="ko-KR" altLang="en-US" sz="1200" b="1" dirty="0">
                <a:solidFill>
                  <a:srgbClr val="0070C0"/>
                </a:solidFill>
                <a:ea typeface="돋움체" panose="020B0609000101010101" pitchFamily="49" charset="-127"/>
              </a:rPr>
              <a:t>";</a:t>
            </a:r>
          </a:p>
          <a:p>
            <a:r>
              <a:rPr lang="ko-KR" altLang="en-US" sz="1200" b="1" dirty="0">
                <a:solidFill>
                  <a:srgbClr val="0070C0"/>
                </a:solidFill>
                <a:ea typeface="돋움체" panose="020B0609000101010101" pitchFamily="49" charset="-127"/>
              </a:rPr>
              <a:t>        }</a:t>
            </a:r>
          </a:p>
          <a:p>
            <a:r>
              <a:rPr lang="ko-KR" altLang="en-US" sz="1200" dirty="0">
                <a:ea typeface="돋움체" panose="020B0609000101010101" pitchFamily="49" charset="-127"/>
              </a:rPr>
              <a:t>};</a:t>
            </a:r>
          </a:p>
          <a:p>
            <a:endParaRPr lang="ko-KR" altLang="en-US" sz="1200" dirty="0">
              <a:ea typeface="돋움체" panose="020B0609000101010101" pitchFamily="49" charset="-127"/>
            </a:endParaRPr>
          </a:p>
          <a:p>
            <a:r>
              <a:rPr lang="ko-KR" altLang="en-US" sz="1200" dirty="0" err="1">
                <a:ea typeface="돋움체" panose="020B0609000101010101" pitchFamily="49" charset="-127"/>
              </a:rPr>
              <a:t>CDerived</a:t>
            </a:r>
            <a:r>
              <a:rPr lang="ko-KR" altLang="en-US" sz="1200" dirty="0">
                <a:ea typeface="돋움체" panose="020B0609000101010101" pitchFamily="49" charset="-127"/>
              </a:rPr>
              <a:t> </a:t>
            </a:r>
            <a:r>
              <a:rPr lang="ko-KR" altLang="en-US" sz="1200" dirty="0" err="1">
                <a:ea typeface="돋움체" panose="020B0609000101010101" pitchFamily="49" charset="-127"/>
              </a:rPr>
              <a:t>gildong</a:t>
            </a:r>
            <a:r>
              <a:rPr lang="ko-KR" altLang="en-US" sz="1200" dirty="0">
                <a:ea typeface="돋움체" panose="020B0609000101010101" pitchFamily="49" charset="-127"/>
              </a:rPr>
              <a:t>;</a:t>
            </a:r>
          </a:p>
          <a:p>
            <a:endParaRPr lang="ko-KR" altLang="en-US" sz="1200" dirty="0">
              <a:ea typeface="돋움체" panose="020B0609000101010101" pitchFamily="49" charset="-127"/>
            </a:endParaRPr>
          </a:p>
          <a:p>
            <a:r>
              <a:rPr lang="ko-KR" altLang="en-US" sz="1200" dirty="0" err="1">
                <a:ea typeface="돋움체" panose="020B0609000101010101" pitchFamily="49" charset="-127"/>
              </a:rPr>
              <a:t>void</a:t>
            </a:r>
            <a:r>
              <a:rPr lang="ko-KR" altLang="en-US" sz="1200" dirty="0">
                <a:ea typeface="돋움체" panose="020B0609000101010101" pitchFamily="49" charset="-127"/>
              </a:rPr>
              <a:t> </a:t>
            </a:r>
            <a:r>
              <a:rPr lang="ko-KR" altLang="en-US" sz="1200" dirty="0" err="1">
                <a:ea typeface="돋움체" panose="020B0609000101010101" pitchFamily="49" charset="-127"/>
              </a:rPr>
              <a:t>main</a:t>
            </a:r>
            <a:r>
              <a:rPr lang="ko-KR" altLang="en-US" sz="1200" dirty="0">
                <a:ea typeface="돋움체" panose="020B0609000101010101" pitchFamily="49" charset="-127"/>
              </a:rPr>
              <a:t>()</a:t>
            </a:r>
          </a:p>
          <a:p>
            <a:r>
              <a:rPr lang="ko-KR" altLang="en-US" sz="1200" dirty="0">
                <a:ea typeface="돋움체" panose="020B0609000101010101" pitchFamily="49" charset="-127"/>
              </a:rPr>
              <a:t>{</a:t>
            </a:r>
          </a:p>
          <a:p>
            <a:r>
              <a:rPr lang="ko-KR" altLang="en-US" sz="1200" dirty="0">
                <a:ea typeface="돋움체" panose="020B0609000101010101" pitchFamily="49" charset="-127"/>
              </a:rPr>
              <a:t>        </a:t>
            </a:r>
            <a:r>
              <a:rPr lang="ko-KR" altLang="en-US" sz="1200" dirty="0" err="1">
                <a:ea typeface="돋움체" panose="020B0609000101010101" pitchFamily="49" charset="-127"/>
              </a:rPr>
              <a:t>gildong.WhoAreYou</a:t>
            </a:r>
            <a:r>
              <a:rPr lang="ko-KR" altLang="en-US" sz="1200" dirty="0">
                <a:ea typeface="돋움체" panose="020B0609000101010101" pitchFamily="49" charset="-127"/>
              </a:rPr>
              <a:t>();</a:t>
            </a:r>
          </a:p>
          <a:p>
            <a:r>
              <a:rPr lang="ko-KR" altLang="en-US" sz="1200" dirty="0">
                <a:ea typeface="돋움체" panose="020B0609000101010101" pitchFamily="49" charset="-127"/>
              </a:rPr>
              <a:t>}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2FF4579C-7208-8372-75FA-1D3B6EBCB3AD}"/>
              </a:ext>
            </a:extLst>
          </p:cNvPr>
          <p:cNvCxnSpPr>
            <a:cxnSpLocks/>
          </p:cNvCxnSpPr>
          <p:nvPr/>
        </p:nvCxnSpPr>
        <p:spPr>
          <a:xfrm flipH="1">
            <a:off x="2231136" y="1010345"/>
            <a:ext cx="2484880" cy="1113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CD179DE-2D0A-78AE-847F-266F29C08AA4}"/>
              </a:ext>
            </a:extLst>
          </p:cNvPr>
          <p:cNvCxnSpPr>
            <a:cxnSpLocks/>
          </p:cNvCxnSpPr>
          <p:nvPr/>
        </p:nvCxnSpPr>
        <p:spPr>
          <a:xfrm flipH="1">
            <a:off x="3275856" y="1010345"/>
            <a:ext cx="1440160" cy="15545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696AE171-E314-7E9C-E4FD-3ECB3E26DBED}"/>
              </a:ext>
            </a:extLst>
          </p:cNvPr>
          <p:cNvCxnSpPr>
            <a:cxnSpLocks/>
          </p:cNvCxnSpPr>
          <p:nvPr/>
        </p:nvCxnSpPr>
        <p:spPr>
          <a:xfrm flipH="1">
            <a:off x="4572000" y="1010345"/>
            <a:ext cx="144016" cy="25109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0FBC3D42-4D79-9817-94DE-4473A18EFB13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4716016" y="1010345"/>
            <a:ext cx="666074" cy="49284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408A8F5-741B-9D9A-476D-F4C7285870B3}"/>
              </a:ext>
            </a:extLst>
          </p:cNvPr>
          <p:cNvSpPr txBox="1"/>
          <p:nvPr/>
        </p:nvSpPr>
        <p:spPr>
          <a:xfrm>
            <a:off x="4247964" y="5938828"/>
            <a:ext cx="226825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/>
            <a:r>
              <a:rPr lang="ko-KR" altLang="en-US" sz="14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rgbClr val="00B0F0">
                    <a:alpha val="72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이렇게 해야 </a:t>
            </a:r>
            <a:endParaRPr lang="en-US" altLang="ko-KR" sz="1400" b="1" spc="-50" dirty="0">
              <a:ln>
                <a:solidFill>
                  <a:srgbClr val="6D88AF">
                    <a:alpha val="0"/>
                  </a:srgbClr>
                </a:solidFill>
              </a:ln>
              <a:solidFill>
                <a:srgbClr val="00B0F0">
                  <a:alpha val="72000"/>
                </a:srgb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 latinLnBrk="0"/>
            <a:r>
              <a:rPr lang="ko-KR" altLang="en-US" sz="14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rgbClr val="00B0F0">
                    <a:alpha val="72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다른 멤버 함수에서도 </a:t>
            </a:r>
            <a:r>
              <a:rPr lang="en-US" altLang="ko-KR" sz="14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rgbClr val="00B0F0">
                    <a:alpha val="72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msg </a:t>
            </a:r>
            <a:r>
              <a:rPr lang="ko-KR" altLang="en-US" sz="14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rgbClr val="00B0F0">
                    <a:alpha val="72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멤버 변수 사용 가능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89B660-207E-0172-9A1C-29CB7DE28D7E}"/>
              </a:ext>
            </a:extLst>
          </p:cNvPr>
          <p:cNvSpPr txBox="1"/>
          <p:nvPr/>
        </p:nvSpPr>
        <p:spPr>
          <a:xfrm>
            <a:off x="5040052" y="549840"/>
            <a:ext cx="3096344" cy="646331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latinLnBrk="0"/>
            <a:r>
              <a:rPr lang="ko-KR" altLang="en-US" dirty="0">
                <a:solidFill>
                  <a:schemeClr val="bg1"/>
                </a:solidFill>
                <a:latin typeface="Rix고딕 B" panose="02020603020101020101" pitchFamily="18" charset="-127"/>
                <a:ea typeface="Rix고딕 B" panose="02020603020101020101" pitchFamily="18" charset="-127"/>
                <a:cs typeface="+mj-cs"/>
              </a:rPr>
              <a:t>넘겨 받은 값을 다른 함수에서도 사용할 수 있을까</a:t>
            </a:r>
            <a:r>
              <a:rPr lang="en-US" altLang="ko-KR" dirty="0">
                <a:solidFill>
                  <a:schemeClr val="bg1"/>
                </a:solidFill>
                <a:latin typeface="Rix고딕 B" panose="02020603020101020101" pitchFamily="18" charset="-127"/>
                <a:ea typeface="Rix고딕 B" panose="02020603020101020101" pitchFamily="18" charset="-127"/>
                <a:cs typeface="+mj-cs"/>
              </a:rPr>
              <a:t>?</a:t>
            </a:r>
            <a:endParaRPr lang="ko-KR" altLang="en-US" dirty="0">
              <a:solidFill>
                <a:schemeClr val="bg1"/>
              </a:solidFill>
              <a:latin typeface="Rix고딕 B" panose="02020603020101020101" pitchFamily="18" charset="-127"/>
              <a:ea typeface="Rix고딕 B" panose="02020603020101020101" pitchFamily="18" charset="-127"/>
              <a:cs typeface="+mj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8E9D336-8430-0683-9B0B-D7F4670C5346}"/>
              </a:ext>
            </a:extLst>
          </p:cNvPr>
          <p:cNvSpPr txBox="1"/>
          <p:nvPr/>
        </p:nvSpPr>
        <p:spPr>
          <a:xfrm>
            <a:off x="5050861" y="1285050"/>
            <a:ext cx="3348880" cy="39395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indent="0">
              <a:buSzPct val="85000"/>
              <a:buNone/>
              <a:defRPr sz="3000" b="0" spc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defRPr>
            </a:lvl1pPr>
          </a:lstStyle>
          <a:p>
            <a:pPr marL="123825" indent="-123825" fontAlgn="base" latinLnBrk="0">
              <a:lnSpc>
                <a:spcPct val="120000"/>
              </a:lnSpc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l"/>
            </a:pPr>
            <a:r>
              <a:rPr lang="en-US" altLang="ko-KR" sz="11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1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멤버</a:t>
            </a:r>
            <a:r>
              <a:rPr lang="en-US" altLang="ko-KR" sz="11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1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함수</a:t>
            </a:r>
            <a:r>
              <a:rPr lang="en-US" altLang="ko-KR" sz="11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  <a:r>
              <a:rPr lang="ko-KR" altLang="en-US" sz="11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는 멤버</a:t>
            </a:r>
            <a:r>
              <a:rPr lang="en-US" altLang="ko-KR" sz="11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1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변수</a:t>
            </a:r>
            <a:r>
              <a:rPr lang="en-US" altLang="ko-KR" sz="11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  <a:r>
              <a:rPr lang="ko-KR" altLang="en-US" sz="11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를 액세스할 수 있다</a:t>
            </a:r>
            <a:r>
              <a:rPr lang="en-US" altLang="ko-KR" sz="11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.’ </a:t>
            </a:r>
            <a:r>
              <a:rPr lang="ko-KR" altLang="en-US" sz="11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즉</a:t>
            </a:r>
            <a:r>
              <a:rPr lang="en-US" altLang="ko-KR" sz="11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1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멤버 변수에 저장하여 다른 함수에서도 사용할 수 있도록 </a:t>
            </a:r>
          </a:p>
        </p:txBody>
      </p:sp>
    </p:spTree>
    <p:extLst>
      <p:ext uri="{BB962C8B-B14F-4D97-AF65-F5344CB8AC3E}">
        <p14:creationId xmlns:p14="http://schemas.microsoft.com/office/powerpoint/2010/main" val="37368325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E6C1107-9919-F089-A450-CAF07AAF3903}"/>
              </a:ext>
            </a:extLst>
          </p:cNvPr>
          <p:cNvSpPr txBox="1"/>
          <p:nvPr/>
        </p:nvSpPr>
        <p:spPr>
          <a:xfrm>
            <a:off x="539552" y="548680"/>
            <a:ext cx="4572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#include &lt;</a:t>
            </a:r>
            <a:r>
              <a:rPr lang="ko-KR" altLang="en-US" sz="1200" dirty="0" err="1"/>
              <a:t>stdio.h</a:t>
            </a:r>
            <a:r>
              <a:rPr lang="ko-KR" altLang="en-US" sz="1200" dirty="0"/>
              <a:t>&gt;</a:t>
            </a:r>
          </a:p>
          <a:p>
            <a:r>
              <a:rPr lang="ko-KR" altLang="en-US" sz="1200" dirty="0"/>
              <a:t>#include &lt;</a:t>
            </a:r>
            <a:r>
              <a:rPr lang="ko-KR" altLang="en-US" sz="1200" dirty="0" err="1"/>
              <a:t>atlstr.h</a:t>
            </a:r>
            <a:r>
              <a:rPr lang="ko-KR" altLang="en-US" sz="1200" dirty="0"/>
              <a:t>&gt;</a:t>
            </a:r>
            <a:endParaRPr lang="en-US" altLang="ko-KR" sz="1200" dirty="0"/>
          </a:p>
          <a:p>
            <a:endParaRPr lang="ko-KR" altLang="en-US" sz="1200" dirty="0"/>
          </a:p>
          <a:p>
            <a:r>
              <a:rPr lang="ko-KR" altLang="en-US" sz="1200" dirty="0" err="1"/>
              <a:t>class</a:t>
            </a:r>
            <a:r>
              <a:rPr lang="ko-KR" altLang="en-US" sz="1200" dirty="0"/>
              <a:t> </a:t>
            </a:r>
            <a:r>
              <a:rPr lang="ko-KR" altLang="en-US" sz="1200" dirty="0" err="1">
                <a:solidFill>
                  <a:srgbClr val="FF0000"/>
                </a:solidFill>
              </a:rPr>
              <a:t>CBase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r>
              <a:rPr lang="ko-KR" altLang="en-US" sz="1200" dirty="0"/>
              <a:t>{</a:t>
            </a:r>
          </a:p>
          <a:p>
            <a:r>
              <a:rPr lang="ko-KR" altLang="en-US" sz="1200" dirty="0" err="1"/>
              <a:t>public</a:t>
            </a:r>
            <a:r>
              <a:rPr lang="ko-KR" altLang="en-US" sz="1200" dirty="0"/>
              <a:t>:</a:t>
            </a:r>
          </a:p>
          <a:p>
            <a:r>
              <a:rPr lang="ko-KR" altLang="en-US" sz="1200" dirty="0"/>
              <a:t>        </a:t>
            </a:r>
            <a:r>
              <a:rPr lang="ko-KR" altLang="en-US" sz="1200" dirty="0" err="1"/>
              <a:t>virtual</a:t>
            </a:r>
            <a:r>
              <a:rPr lang="ko-KR" altLang="en-US" sz="1200" dirty="0"/>
              <a:t> </a:t>
            </a:r>
            <a:r>
              <a:rPr lang="ko-KR" altLang="en-US" sz="1200" dirty="0" err="1"/>
              <a:t>CString</a:t>
            </a:r>
            <a:r>
              <a:rPr lang="ko-KR" altLang="en-US" sz="1200" dirty="0"/>
              <a:t> </a:t>
            </a:r>
            <a:r>
              <a:rPr lang="ko-KR" altLang="en-US" sz="1200" dirty="0" err="1">
                <a:solidFill>
                  <a:srgbClr val="FF0000"/>
                </a:solidFill>
              </a:rPr>
              <a:t>xxx</a:t>
            </a:r>
            <a:r>
              <a:rPr lang="ko-KR" altLang="en-US" sz="1200" dirty="0">
                <a:solidFill>
                  <a:srgbClr val="FF0000"/>
                </a:solidFill>
              </a:rPr>
              <a:t>() = 0;</a:t>
            </a:r>
          </a:p>
          <a:p>
            <a:endParaRPr lang="ko-KR" altLang="en-US" sz="1200" dirty="0"/>
          </a:p>
          <a:p>
            <a:r>
              <a:rPr lang="ko-KR" altLang="en-US" sz="1200" dirty="0"/>
              <a:t>        </a:t>
            </a:r>
            <a:r>
              <a:rPr lang="ko-KR" altLang="en-US" sz="1200" dirty="0" err="1"/>
              <a:t>void</a:t>
            </a:r>
            <a:r>
              <a:rPr lang="ko-KR" altLang="en-US" sz="1200" dirty="0"/>
              <a:t> </a:t>
            </a:r>
            <a:r>
              <a:rPr lang="ko-KR" altLang="en-US" sz="1200" dirty="0" err="1"/>
              <a:t>WhoAreYou</a:t>
            </a:r>
            <a:r>
              <a:rPr lang="ko-KR" altLang="en-US" sz="1200" dirty="0"/>
              <a:t>() </a:t>
            </a:r>
            <a:endParaRPr lang="en-US" altLang="ko-KR" sz="1200" dirty="0"/>
          </a:p>
          <a:p>
            <a:r>
              <a:rPr lang="ko-KR" altLang="en-US" sz="1200" dirty="0"/>
              <a:t>        {</a:t>
            </a:r>
          </a:p>
          <a:p>
            <a:r>
              <a:rPr lang="ko-KR" altLang="en-US" sz="1200" dirty="0"/>
              <a:t>	</a:t>
            </a:r>
            <a:r>
              <a:rPr lang="ko-KR" altLang="en-US" sz="1200" dirty="0" err="1"/>
              <a:t>CString</a:t>
            </a:r>
            <a:r>
              <a:rPr lang="ko-KR" altLang="en-US" sz="1200" dirty="0"/>
              <a:t> </a:t>
            </a:r>
            <a:r>
              <a:rPr lang="ko-KR" altLang="en-US" sz="1200" dirty="0" err="1"/>
              <a:t>msg</a:t>
            </a:r>
            <a:r>
              <a:rPr lang="ko-KR" altLang="en-US" sz="1200" dirty="0"/>
              <a:t> = </a:t>
            </a:r>
            <a:r>
              <a:rPr lang="ko-KR" altLang="en-US" sz="1200" dirty="0" err="1"/>
              <a:t>xxx</a:t>
            </a:r>
            <a:r>
              <a:rPr lang="ko-KR" altLang="en-US" sz="1200" dirty="0"/>
              <a:t>();</a:t>
            </a:r>
          </a:p>
          <a:p>
            <a:r>
              <a:rPr lang="ko-KR" altLang="en-US" sz="1200" dirty="0"/>
              <a:t>	</a:t>
            </a:r>
            <a:r>
              <a:rPr lang="ko-KR" altLang="en-US" sz="1200" dirty="0" err="1"/>
              <a:t>printf</a:t>
            </a:r>
            <a:r>
              <a:rPr lang="ko-KR" altLang="en-US" sz="1200" dirty="0"/>
              <a:t>("%</a:t>
            </a:r>
            <a:r>
              <a:rPr lang="ko-KR" altLang="en-US" sz="1200" dirty="0" err="1"/>
              <a:t>S</a:t>
            </a:r>
            <a:r>
              <a:rPr lang="ko-KR" altLang="en-US" sz="1200" dirty="0"/>
              <a:t>\</a:t>
            </a:r>
            <a:r>
              <a:rPr lang="ko-KR" altLang="en-US" sz="1200" dirty="0" err="1"/>
              <a:t>n</a:t>
            </a:r>
            <a:r>
              <a:rPr lang="ko-KR" altLang="en-US" sz="1200" dirty="0"/>
              <a:t>", </a:t>
            </a:r>
            <a:r>
              <a:rPr lang="ko-KR" altLang="en-US" sz="1200" dirty="0" err="1"/>
              <a:t>msg</a:t>
            </a:r>
            <a:r>
              <a:rPr lang="ko-KR" altLang="en-US" sz="1200" dirty="0"/>
              <a:t>);</a:t>
            </a:r>
          </a:p>
          <a:p>
            <a:r>
              <a:rPr lang="ko-KR" altLang="en-US" sz="1200" dirty="0"/>
              <a:t>	</a:t>
            </a:r>
            <a:r>
              <a:rPr lang="ko-KR" altLang="en-US" sz="1200" dirty="0" err="1"/>
              <a:t>printf</a:t>
            </a:r>
            <a:r>
              <a:rPr lang="ko-KR" altLang="en-US" sz="1200" dirty="0"/>
              <a:t>("------------------------\</a:t>
            </a:r>
            <a:r>
              <a:rPr lang="ko-KR" altLang="en-US" sz="1200" dirty="0" err="1"/>
              <a:t>n</a:t>
            </a:r>
            <a:r>
              <a:rPr lang="ko-KR" altLang="en-US" sz="1200" dirty="0"/>
              <a:t>");</a:t>
            </a:r>
          </a:p>
          <a:p>
            <a:r>
              <a:rPr lang="ko-KR" altLang="en-US" sz="1200" dirty="0"/>
              <a:t>	</a:t>
            </a:r>
            <a:r>
              <a:rPr lang="ko-KR" altLang="en-US" sz="1200" dirty="0" err="1"/>
              <a:t>printf</a:t>
            </a:r>
            <a:r>
              <a:rPr lang="ko-KR" altLang="en-US" sz="1200" dirty="0"/>
              <a:t>("</a:t>
            </a:r>
            <a:r>
              <a:rPr lang="ko-KR" altLang="en-US" sz="1200" dirty="0" err="1"/>
              <a:t>Copyright</a:t>
            </a:r>
            <a:r>
              <a:rPr lang="ko-KR" altLang="en-US" sz="1200" dirty="0"/>
              <a:t> (c)\</a:t>
            </a:r>
            <a:r>
              <a:rPr lang="ko-KR" altLang="en-US" sz="1200" dirty="0" err="1"/>
              <a:t>n</a:t>
            </a:r>
            <a:r>
              <a:rPr lang="ko-KR" altLang="en-US" sz="1200" dirty="0"/>
              <a:t>");</a:t>
            </a:r>
          </a:p>
          <a:p>
            <a:r>
              <a:rPr lang="ko-KR" altLang="en-US" sz="1200" dirty="0"/>
              <a:t>	</a:t>
            </a:r>
            <a:r>
              <a:rPr lang="ko-KR" altLang="en-US" sz="1200" dirty="0" err="1"/>
              <a:t>printf</a:t>
            </a:r>
            <a:r>
              <a:rPr lang="ko-KR" altLang="en-US" sz="1200" dirty="0"/>
              <a:t>("2025\</a:t>
            </a:r>
            <a:r>
              <a:rPr lang="ko-KR" altLang="en-US" sz="1200" dirty="0" err="1"/>
              <a:t>n</a:t>
            </a:r>
            <a:r>
              <a:rPr lang="ko-KR" altLang="en-US" sz="1200" dirty="0"/>
              <a:t>");</a:t>
            </a:r>
          </a:p>
          <a:p>
            <a:r>
              <a:rPr lang="ko-KR" altLang="en-US" sz="1200" dirty="0"/>
              <a:t>	</a:t>
            </a:r>
            <a:r>
              <a:rPr lang="ko-KR" altLang="en-US" sz="1200" dirty="0" err="1"/>
              <a:t>printf</a:t>
            </a:r>
            <a:r>
              <a:rPr lang="ko-KR" altLang="en-US" sz="1200" dirty="0"/>
              <a:t>("</a:t>
            </a:r>
            <a:r>
              <a:rPr lang="ko-KR" altLang="en-US" sz="1200" dirty="0" err="1"/>
              <a:t>Jeju</a:t>
            </a:r>
            <a:r>
              <a:rPr lang="ko-KR" altLang="en-US" sz="1200" dirty="0"/>
              <a:t> </a:t>
            </a:r>
            <a:r>
              <a:rPr lang="ko-KR" altLang="en-US" sz="1200" dirty="0" err="1"/>
              <a:t>Island</a:t>
            </a:r>
            <a:r>
              <a:rPr lang="ko-KR" altLang="en-US" sz="1200" dirty="0"/>
              <a:t>\</a:t>
            </a:r>
            <a:r>
              <a:rPr lang="ko-KR" altLang="en-US" sz="1200" dirty="0" err="1"/>
              <a:t>n</a:t>
            </a:r>
            <a:r>
              <a:rPr lang="ko-KR" altLang="en-US" sz="1200" dirty="0"/>
              <a:t>");</a:t>
            </a:r>
          </a:p>
          <a:p>
            <a:r>
              <a:rPr lang="ko-KR" altLang="en-US" sz="1200" dirty="0"/>
              <a:t>	</a:t>
            </a:r>
            <a:r>
              <a:rPr lang="ko-KR" altLang="en-US" sz="1200" dirty="0" err="1"/>
              <a:t>printf</a:t>
            </a:r>
            <a:r>
              <a:rPr lang="ko-KR" altLang="en-US" sz="1200" dirty="0"/>
              <a:t>("</a:t>
            </a:r>
            <a:r>
              <a:rPr lang="ko-KR" altLang="en-US" sz="1200" dirty="0" err="1"/>
              <a:t>Jeju</a:t>
            </a:r>
            <a:r>
              <a:rPr lang="ko-KR" altLang="en-US" sz="1200" dirty="0"/>
              <a:t>\</a:t>
            </a:r>
            <a:r>
              <a:rPr lang="ko-KR" altLang="en-US" sz="1200" dirty="0" err="1"/>
              <a:t>n</a:t>
            </a:r>
            <a:r>
              <a:rPr lang="ko-KR" altLang="en-US" sz="1200" dirty="0"/>
              <a:t>");</a:t>
            </a:r>
          </a:p>
          <a:p>
            <a:r>
              <a:rPr lang="ko-KR" altLang="en-US" sz="1200" dirty="0"/>
              <a:t>	</a:t>
            </a:r>
            <a:r>
              <a:rPr lang="ko-KR" altLang="en-US" sz="1200" dirty="0" err="1"/>
              <a:t>printf</a:t>
            </a:r>
            <a:r>
              <a:rPr lang="ko-KR" altLang="en-US" sz="1200" dirty="0"/>
              <a:t>("All </a:t>
            </a:r>
            <a:r>
              <a:rPr lang="ko-KR" altLang="en-US" sz="1200" dirty="0" err="1"/>
              <a:t>Rights</a:t>
            </a:r>
            <a:r>
              <a:rPr lang="ko-KR" altLang="en-US" sz="1200" dirty="0"/>
              <a:t> </a:t>
            </a:r>
            <a:r>
              <a:rPr lang="ko-KR" altLang="en-US" sz="1200" dirty="0" err="1"/>
              <a:t>Reserved</a:t>
            </a:r>
            <a:r>
              <a:rPr lang="ko-KR" altLang="en-US" sz="1200" dirty="0"/>
              <a:t> </a:t>
            </a:r>
            <a:r>
              <a:rPr lang="ko-KR" altLang="en-US" sz="1200" dirty="0" err="1"/>
              <a:t>by</a:t>
            </a:r>
            <a:r>
              <a:rPr lang="ko-KR" altLang="en-US" sz="1200" dirty="0"/>
              <a:t> %</a:t>
            </a:r>
            <a:r>
              <a:rPr lang="ko-KR" altLang="en-US" sz="1200" dirty="0" err="1"/>
              <a:t>S</a:t>
            </a:r>
            <a:r>
              <a:rPr lang="ko-KR" altLang="en-US" sz="1200" dirty="0"/>
              <a:t>.\</a:t>
            </a:r>
            <a:r>
              <a:rPr lang="ko-KR" altLang="en-US" sz="1200" dirty="0" err="1"/>
              <a:t>n</a:t>
            </a:r>
            <a:r>
              <a:rPr lang="ko-KR" altLang="en-US" sz="1200" dirty="0"/>
              <a:t>", </a:t>
            </a:r>
            <a:r>
              <a:rPr lang="ko-KR" altLang="en-US" sz="1200" dirty="0" err="1"/>
              <a:t>msg</a:t>
            </a:r>
            <a:r>
              <a:rPr lang="ko-KR" altLang="en-US" sz="1200" dirty="0"/>
              <a:t>);</a:t>
            </a:r>
          </a:p>
          <a:p>
            <a:r>
              <a:rPr lang="ko-KR" altLang="en-US" sz="1200" dirty="0"/>
              <a:t>        }</a:t>
            </a:r>
          </a:p>
          <a:p>
            <a:r>
              <a:rPr lang="ko-KR" altLang="en-US" sz="1200" dirty="0"/>
              <a:t>};</a:t>
            </a:r>
          </a:p>
          <a:p>
            <a:endParaRPr lang="ko-KR" altLang="en-US" sz="1200" dirty="0"/>
          </a:p>
          <a:p>
            <a:r>
              <a:rPr lang="ko-KR" altLang="en-US" sz="1200" dirty="0" err="1">
                <a:solidFill>
                  <a:srgbClr val="FF0000"/>
                </a:solidFill>
              </a:rPr>
              <a:t>CBase</a:t>
            </a:r>
            <a:r>
              <a:rPr lang="ko-KR" altLang="en-US" sz="1200" dirty="0">
                <a:solidFill>
                  <a:srgbClr val="FF0000"/>
                </a:solidFill>
              </a:rPr>
              <a:t> </a:t>
            </a:r>
            <a:r>
              <a:rPr lang="ko-KR" altLang="en-US" sz="1200" dirty="0" err="1">
                <a:solidFill>
                  <a:srgbClr val="FF0000"/>
                </a:solidFill>
              </a:rPr>
              <a:t>gildong</a:t>
            </a:r>
            <a:r>
              <a:rPr lang="ko-KR" altLang="en-US" sz="1200" dirty="0">
                <a:solidFill>
                  <a:srgbClr val="FF0000"/>
                </a:solidFill>
              </a:rPr>
              <a:t>;</a:t>
            </a:r>
          </a:p>
          <a:p>
            <a:endParaRPr lang="ko-KR" altLang="en-US" sz="1200" dirty="0"/>
          </a:p>
          <a:p>
            <a:r>
              <a:rPr lang="ko-KR" altLang="en-US" sz="1200" dirty="0" err="1"/>
              <a:t>void</a:t>
            </a:r>
            <a:r>
              <a:rPr lang="ko-KR" altLang="en-US" sz="1200" dirty="0"/>
              <a:t> </a:t>
            </a:r>
            <a:r>
              <a:rPr lang="ko-KR" altLang="en-US" sz="1200" dirty="0" err="1"/>
              <a:t>main</a:t>
            </a:r>
            <a:r>
              <a:rPr lang="ko-KR" altLang="en-US" sz="1200" dirty="0"/>
              <a:t>()</a:t>
            </a:r>
          </a:p>
          <a:p>
            <a:r>
              <a:rPr lang="ko-KR" altLang="en-US" sz="1200" dirty="0"/>
              <a:t>{</a:t>
            </a:r>
          </a:p>
          <a:p>
            <a:r>
              <a:rPr lang="ko-KR" altLang="en-US" sz="1200" dirty="0"/>
              <a:t>        </a:t>
            </a:r>
            <a:r>
              <a:rPr lang="ko-KR" altLang="en-US" sz="1200" dirty="0" err="1"/>
              <a:t>gildong.WhoAreYou</a:t>
            </a:r>
            <a:r>
              <a:rPr lang="ko-KR" altLang="en-US" sz="1200" dirty="0"/>
              <a:t>();</a:t>
            </a:r>
          </a:p>
          <a:p>
            <a:r>
              <a:rPr lang="ko-KR" altLang="en-US" sz="1200" dirty="0"/>
              <a:t>}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A7FA322B-D7D0-DC3C-8A20-D8A5A0B5399D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2843808" y="1622123"/>
            <a:ext cx="2304256" cy="786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91733F7-1A95-C089-26A8-428429577223}"/>
              </a:ext>
            </a:extLst>
          </p:cNvPr>
          <p:cNvSpPr/>
          <p:nvPr/>
        </p:nvSpPr>
        <p:spPr>
          <a:xfrm>
            <a:off x="2440788" y="1623011"/>
            <a:ext cx="360040" cy="322287"/>
          </a:xfrm>
          <a:prstGeom prst="rect">
            <a:avLst/>
          </a:prstGeom>
          <a:noFill/>
          <a:ln>
            <a:solidFill>
              <a:srgbClr val="FF0000">
                <a:alpha val="77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43980C-EDB2-F272-05BB-95425EB380FA}"/>
              </a:ext>
            </a:extLst>
          </p:cNvPr>
          <p:cNvSpPr txBox="1"/>
          <p:nvPr/>
        </p:nvSpPr>
        <p:spPr>
          <a:xfrm>
            <a:off x="5148064" y="1437457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dirty="0">
                <a:solidFill>
                  <a:schemeClr val="accent4"/>
                </a:solidFill>
                <a:latin typeface="Rix고딕 B" panose="02020603020101020101" pitchFamily="18" charset="-127"/>
                <a:ea typeface="Rix고딕 B" panose="02020603020101020101" pitchFamily="18" charset="-127"/>
                <a:cs typeface="+mj-cs"/>
              </a:rPr>
              <a:t>순수 가상함수</a:t>
            </a:r>
            <a:r>
              <a:rPr lang="en-US" altLang="ko-KR" dirty="0">
                <a:solidFill>
                  <a:schemeClr val="accent4"/>
                </a:solidFill>
                <a:latin typeface="Rix고딕 B" panose="02020603020101020101" pitchFamily="18" charset="-127"/>
                <a:ea typeface="Rix고딕 B" panose="02020603020101020101" pitchFamily="18" charset="-127"/>
                <a:cs typeface="+mj-cs"/>
              </a:rPr>
              <a:t>!</a:t>
            </a:r>
            <a:r>
              <a:rPr lang="ko-KR" altLang="en-US" dirty="0">
                <a:solidFill>
                  <a:schemeClr val="accent4"/>
                </a:solidFill>
                <a:latin typeface="Rix고딕 B" panose="02020603020101020101" pitchFamily="18" charset="-127"/>
                <a:ea typeface="Rix고딕 B" panose="02020603020101020101" pitchFamily="18" charset="-127"/>
                <a:cs typeface="+mj-cs"/>
              </a:rPr>
              <a:t> </a:t>
            </a:r>
            <a:endParaRPr lang="en-US" altLang="ko-KR" dirty="0">
              <a:solidFill>
                <a:schemeClr val="accent4"/>
              </a:solidFill>
              <a:latin typeface="Rix고딕 B" panose="02020603020101020101" pitchFamily="18" charset="-127"/>
              <a:ea typeface="Rix고딕 B" panose="02020603020101020101" pitchFamily="18" charset="-127"/>
              <a:cs typeface="+mj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4068B1-68C4-77C9-D0B5-CBABB0F4C394}"/>
              </a:ext>
            </a:extLst>
          </p:cNvPr>
          <p:cNvSpPr txBox="1"/>
          <p:nvPr/>
        </p:nvSpPr>
        <p:spPr>
          <a:xfrm>
            <a:off x="5255568" y="1806789"/>
            <a:ext cx="3348880" cy="50783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indent="0">
              <a:buSzPct val="85000"/>
              <a:buNone/>
              <a:defRPr sz="3000" b="0" spc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defRPr>
            </a:lvl1pPr>
          </a:lstStyle>
          <a:p>
            <a:pPr marL="123825" indent="-123825" fontAlgn="base" latinLnBrk="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l"/>
            </a:pPr>
            <a:r>
              <a:rPr lang="ko-KR" altLang="en-US" sz="11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rgbClr val="00B0F0">
                    <a:alpha val="72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함수 본체가 없는 </a:t>
            </a:r>
            <a:r>
              <a:rPr lang="ko-KR" altLang="en-US" sz="11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함수로서</a:t>
            </a:r>
            <a:r>
              <a:rPr lang="en-US" altLang="ko-KR" sz="11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1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함수 본체를 재정의 하지 않고 객체를 만들면 오류 발생</a:t>
            </a:r>
            <a:r>
              <a:rPr lang="en-US" altLang="ko-KR" sz="11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!</a:t>
            </a:r>
          </a:p>
          <a:p>
            <a:pPr marL="123825" indent="-123825" fontAlgn="base" latinLnBrk="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l"/>
            </a:pPr>
            <a:r>
              <a:rPr lang="ko-KR" altLang="en-US" sz="11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상속받는 클래스에서 </a:t>
            </a:r>
            <a:r>
              <a:rPr lang="ko-KR" altLang="en-US" sz="11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accent2"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반드시</a:t>
            </a:r>
            <a:r>
              <a:rPr lang="ko-KR" altLang="en-US" sz="11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재정의해야 함</a:t>
            </a:r>
            <a:r>
              <a:rPr lang="en-US" altLang="ko-KR" sz="11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34DB04-CEC5-18B5-60AC-F556F2C3FB07}"/>
              </a:ext>
            </a:extLst>
          </p:cNvPr>
          <p:cNvSpPr txBox="1"/>
          <p:nvPr/>
        </p:nvSpPr>
        <p:spPr>
          <a:xfrm>
            <a:off x="5148064" y="2401667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dirty="0">
                <a:solidFill>
                  <a:schemeClr val="accent1"/>
                </a:solidFill>
                <a:latin typeface="Rix고딕 B" panose="02020603020101020101" pitchFamily="18" charset="-127"/>
                <a:ea typeface="Rix고딕 B" panose="02020603020101020101" pitchFamily="18" charset="-127"/>
                <a:cs typeface="+mj-cs"/>
              </a:rPr>
              <a:t>어떻게 해야 할까</a:t>
            </a:r>
            <a:r>
              <a:rPr lang="en-US" altLang="ko-KR" dirty="0">
                <a:solidFill>
                  <a:schemeClr val="accent1"/>
                </a:solidFill>
                <a:latin typeface="Rix고딕 B" panose="02020603020101020101" pitchFamily="18" charset="-127"/>
                <a:ea typeface="Rix고딕 B" panose="02020603020101020101" pitchFamily="18" charset="-127"/>
                <a:cs typeface="+mj-c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831447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5483C06-14FB-FC05-31E5-9117400FEC78}"/>
              </a:ext>
            </a:extLst>
          </p:cNvPr>
          <p:cNvSpPr txBox="1"/>
          <p:nvPr/>
        </p:nvSpPr>
        <p:spPr>
          <a:xfrm>
            <a:off x="5255568" y="1806789"/>
            <a:ext cx="3348880" cy="33855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indent="0">
              <a:buSzPct val="85000"/>
              <a:buNone/>
              <a:defRPr sz="3000" b="0" spc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defRPr>
            </a:lvl1pPr>
          </a:lstStyle>
          <a:p>
            <a:pPr marL="123825" indent="-123825" fontAlgn="base" latinLnBrk="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l"/>
            </a:pPr>
            <a:r>
              <a:rPr lang="ko-KR" altLang="en-US" sz="11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함수 본체가 없으므로 상속받는 곳에서 </a:t>
            </a:r>
            <a:r>
              <a:rPr lang="ko-KR" altLang="en-US" sz="11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accent2"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반드시</a:t>
            </a:r>
            <a:r>
              <a:rPr lang="ko-KR" altLang="en-US" sz="11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재정의해야 한다</a:t>
            </a:r>
            <a:r>
              <a:rPr lang="en-US" altLang="ko-KR" sz="11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1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그렇지 않으면 오류</a:t>
            </a:r>
            <a:r>
              <a:rPr lang="en-US" altLang="ko-KR" sz="11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9A8683-4F13-6B0C-6BBC-D25C562F21CF}"/>
              </a:ext>
            </a:extLst>
          </p:cNvPr>
          <p:cNvSpPr txBox="1"/>
          <p:nvPr/>
        </p:nvSpPr>
        <p:spPr>
          <a:xfrm>
            <a:off x="683568" y="335845"/>
            <a:ext cx="45720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#include &lt;</a:t>
            </a:r>
            <a:r>
              <a:rPr lang="ko-KR" altLang="en-US" sz="1200" dirty="0" err="1"/>
              <a:t>stdio.h</a:t>
            </a:r>
            <a:r>
              <a:rPr lang="ko-KR" altLang="en-US" sz="1200" dirty="0"/>
              <a:t>&gt;</a:t>
            </a:r>
          </a:p>
          <a:p>
            <a:r>
              <a:rPr lang="ko-KR" altLang="en-US" sz="1200" dirty="0"/>
              <a:t>#include &lt;</a:t>
            </a:r>
            <a:r>
              <a:rPr lang="ko-KR" altLang="en-US" sz="1200" dirty="0" err="1"/>
              <a:t>atlstr.h</a:t>
            </a:r>
            <a:r>
              <a:rPr lang="ko-KR" altLang="en-US" sz="1200" dirty="0"/>
              <a:t>&gt;</a:t>
            </a:r>
          </a:p>
          <a:p>
            <a:endParaRPr lang="ko-KR" altLang="en-US" sz="1200" dirty="0"/>
          </a:p>
          <a:p>
            <a:r>
              <a:rPr lang="ko-KR" altLang="en-US" sz="1200" dirty="0" err="1"/>
              <a:t>class</a:t>
            </a:r>
            <a:r>
              <a:rPr lang="ko-KR" altLang="en-US" sz="1200" dirty="0"/>
              <a:t> </a:t>
            </a:r>
            <a:r>
              <a:rPr lang="ko-KR" altLang="en-US" sz="1200" dirty="0" err="1"/>
              <a:t>CBase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r>
              <a:rPr lang="ko-KR" altLang="en-US" sz="1200" dirty="0"/>
              <a:t>{</a:t>
            </a:r>
          </a:p>
          <a:p>
            <a:r>
              <a:rPr lang="ko-KR" altLang="en-US" sz="1200" dirty="0" err="1"/>
              <a:t>public</a:t>
            </a:r>
            <a:r>
              <a:rPr lang="ko-KR" altLang="en-US" sz="1200" dirty="0"/>
              <a:t>:</a:t>
            </a:r>
          </a:p>
          <a:p>
            <a:r>
              <a:rPr lang="ko-KR" altLang="en-US" sz="1200" dirty="0"/>
              <a:t>        </a:t>
            </a:r>
            <a:r>
              <a:rPr lang="ko-KR" altLang="en-US" sz="1200" dirty="0" err="1"/>
              <a:t>virtual</a:t>
            </a:r>
            <a:r>
              <a:rPr lang="ko-KR" altLang="en-US" sz="1200" dirty="0"/>
              <a:t> </a:t>
            </a:r>
            <a:r>
              <a:rPr lang="ko-KR" altLang="en-US" sz="1200" dirty="0" err="1"/>
              <a:t>CString</a:t>
            </a:r>
            <a:r>
              <a:rPr lang="ko-KR" altLang="en-US" sz="1200" dirty="0"/>
              <a:t> </a:t>
            </a:r>
            <a:r>
              <a:rPr lang="ko-KR" altLang="en-US" sz="1200" dirty="0" err="1"/>
              <a:t>xxx</a:t>
            </a:r>
            <a:r>
              <a:rPr lang="ko-KR" altLang="en-US" sz="1200" dirty="0"/>
              <a:t>() = 0;</a:t>
            </a:r>
          </a:p>
          <a:p>
            <a:endParaRPr lang="ko-KR" altLang="en-US" sz="1200" dirty="0"/>
          </a:p>
          <a:p>
            <a:r>
              <a:rPr lang="ko-KR" altLang="en-US" sz="1200" dirty="0"/>
              <a:t>        </a:t>
            </a:r>
            <a:r>
              <a:rPr lang="ko-KR" altLang="en-US" sz="1200" dirty="0" err="1"/>
              <a:t>void</a:t>
            </a:r>
            <a:r>
              <a:rPr lang="ko-KR" altLang="en-US" sz="1200" dirty="0"/>
              <a:t> </a:t>
            </a:r>
            <a:r>
              <a:rPr lang="ko-KR" altLang="en-US" sz="1200" dirty="0" err="1"/>
              <a:t>WhoAreYou</a:t>
            </a:r>
            <a:r>
              <a:rPr lang="ko-KR" altLang="en-US" sz="1200" dirty="0"/>
              <a:t>() {</a:t>
            </a:r>
          </a:p>
          <a:p>
            <a:r>
              <a:rPr lang="ko-KR" altLang="en-US" sz="1200" dirty="0"/>
              <a:t>	</a:t>
            </a:r>
            <a:r>
              <a:rPr lang="ko-KR" altLang="en-US" sz="1200" dirty="0" err="1"/>
              <a:t>CString</a:t>
            </a:r>
            <a:r>
              <a:rPr lang="ko-KR" altLang="en-US" sz="1200" dirty="0"/>
              <a:t> </a:t>
            </a:r>
            <a:r>
              <a:rPr lang="ko-KR" altLang="en-US" sz="1200" dirty="0" err="1"/>
              <a:t>msg</a:t>
            </a:r>
            <a:r>
              <a:rPr lang="ko-KR" altLang="en-US" sz="1200" dirty="0"/>
              <a:t> = </a:t>
            </a:r>
            <a:r>
              <a:rPr lang="ko-KR" altLang="en-US" sz="1200" dirty="0" err="1"/>
              <a:t>xxx</a:t>
            </a:r>
            <a:r>
              <a:rPr lang="ko-KR" altLang="en-US" sz="1200" dirty="0"/>
              <a:t>();</a:t>
            </a:r>
          </a:p>
          <a:p>
            <a:r>
              <a:rPr lang="ko-KR" altLang="en-US" sz="1200" dirty="0"/>
              <a:t>	</a:t>
            </a:r>
            <a:r>
              <a:rPr lang="ko-KR" altLang="en-US" sz="1200" dirty="0" err="1"/>
              <a:t>printf</a:t>
            </a:r>
            <a:r>
              <a:rPr lang="ko-KR" altLang="en-US" sz="1200" dirty="0"/>
              <a:t>("%</a:t>
            </a:r>
            <a:r>
              <a:rPr lang="ko-KR" altLang="en-US" sz="1200" dirty="0" err="1"/>
              <a:t>S</a:t>
            </a:r>
            <a:r>
              <a:rPr lang="ko-KR" altLang="en-US" sz="1200" dirty="0"/>
              <a:t>\</a:t>
            </a:r>
            <a:r>
              <a:rPr lang="ko-KR" altLang="en-US" sz="1200" dirty="0" err="1"/>
              <a:t>n</a:t>
            </a:r>
            <a:r>
              <a:rPr lang="ko-KR" altLang="en-US" sz="1200" dirty="0"/>
              <a:t>", </a:t>
            </a:r>
            <a:r>
              <a:rPr lang="ko-KR" altLang="en-US" sz="1200" dirty="0" err="1"/>
              <a:t>msg</a:t>
            </a:r>
            <a:r>
              <a:rPr lang="ko-KR" altLang="en-US" sz="1200" dirty="0"/>
              <a:t>);</a:t>
            </a:r>
          </a:p>
          <a:p>
            <a:r>
              <a:rPr lang="ko-KR" altLang="en-US" sz="1200" dirty="0"/>
              <a:t>	</a:t>
            </a:r>
            <a:r>
              <a:rPr lang="ko-KR" altLang="en-US" sz="1200" dirty="0" err="1"/>
              <a:t>printf</a:t>
            </a:r>
            <a:r>
              <a:rPr lang="ko-KR" altLang="en-US" sz="1200" dirty="0"/>
              <a:t>("------------------------\</a:t>
            </a:r>
            <a:r>
              <a:rPr lang="ko-KR" altLang="en-US" sz="1200" dirty="0" err="1"/>
              <a:t>n</a:t>
            </a:r>
            <a:r>
              <a:rPr lang="ko-KR" altLang="en-US" sz="1200" dirty="0"/>
              <a:t>");</a:t>
            </a:r>
          </a:p>
          <a:p>
            <a:r>
              <a:rPr lang="ko-KR" altLang="en-US" sz="1200" dirty="0"/>
              <a:t>	</a:t>
            </a:r>
            <a:r>
              <a:rPr lang="ko-KR" altLang="en-US" sz="1200" dirty="0" err="1"/>
              <a:t>printf</a:t>
            </a:r>
            <a:r>
              <a:rPr lang="ko-KR" altLang="en-US" sz="1200" dirty="0"/>
              <a:t>("</a:t>
            </a:r>
            <a:r>
              <a:rPr lang="ko-KR" altLang="en-US" sz="1200" dirty="0" err="1"/>
              <a:t>Copyright</a:t>
            </a:r>
            <a:r>
              <a:rPr lang="ko-KR" altLang="en-US" sz="1200" dirty="0"/>
              <a:t> (c)\</a:t>
            </a:r>
            <a:r>
              <a:rPr lang="ko-KR" altLang="en-US" sz="1200" dirty="0" err="1"/>
              <a:t>n</a:t>
            </a:r>
            <a:r>
              <a:rPr lang="ko-KR" altLang="en-US" sz="1200" dirty="0"/>
              <a:t>");</a:t>
            </a:r>
          </a:p>
          <a:p>
            <a:r>
              <a:rPr lang="ko-KR" altLang="en-US" sz="1200" dirty="0"/>
              <a:t>	</a:t>
            </a:r>
            <a:r>
              <a:rPr lang="ko-KR" altLang="en-US" sz="1200" dirty="0" err="1"/>
              <a:t>printf</a:t>
            </a:r>
            <a:r>
              <a:rPr lang="ko-KR" altLang="en-US" sz="1200" dirty="0"/>
              <a:t>("2025\</a:t>
            </a:r>
            <a:r>
              <a:rPr lang="ko-KR" altLang="en-US" sz="1200" dirty="0" err="1"/>
              <a:t>n</a:t>
            </a:r>
            <a:r>
              <a:rPr lang="ko-KR" altLang="en-US" sz="1200" dirty="0"/>
              <a:t>");</a:t>
            </a:r>
          </a:p>
          <a:p>
            <a:r>
              <a:rPr lang="ko-KR" altLang="en-US" sz="1200" dirty="0"/>
              <a:t>	</a:t>
            </a:r>
            <a:r>
              <a:rPr lang="ko-KR" altLang="en-US" sz="1200" dirty="0" err="1"/>
              <a:t>printf</a:t>
            </a:r>
            <a:r>
              <a:rPr lang="ko-KR" altLang="en-US" sz="1200" dirty="0"/>
              <a:t>("</a:t>
            </a:r>
            <a:r>
              <a:rPr lang="ko-KR" altLang="en-US" sz="1200" dirty="0" err="1"/>
              <a:t>Jeju</a:t>
            </a:r>
            <a:r>
              <a:rPr lang="ko-KR" altLang="en-US" sz="1200" dirty="0"/>
              <a:t> </a:t>
            </a:r>
            <a:r>
              <a:rPr lang="ko-KR" altLang="en-US" sz="1200" dirty="0" err="1"/>
              <a:t>Island</a:t>
            </a:r>
            <a:r>
              <a:rPr lang="ko-KR" altLang="en-US" sz="1200" dirty="0"/>
              <a:t>\</a:t>
            </a:r>
            <a:r>
              <a:rPr lang="ko-KR" altLang="en-US" sz="1200" dirty="0" err="1"/>
              <a:t>n</a:t>
            </a:r>
            <a:r>
              <a:rPr lang="ko-KR" altLang="en-US" sz="1200" dirty="0"/>
              <a:t>");</a:t>
            </a:r>
          </a:p>
          <a:p>
            <a:r>
              <a:rPr lang="ko-KR" altLang="en-US" sz="1200" dirty="0"/>
              <a:t>	</a:t>
            </a:r>
            <a:r>
              <a:rPr lang="ko-KR" altLang="en-US" sz="1200" dirty="0" err="1"/>
              <a:t>printf</a:t>
            </a:r>
            <a:r>
              <a:rPr lang="ko-KR" altLang="en-US" sz="1200" dirty="0"/>
              <a:t>("</a:t>
            </a:r>
            <a:r>
              <a:rPr lang="ko-KR" altLang="en-US" sz="1200" dirty="0" err="1"/>
              <a:t>Jeju</a:t>
            </a:r>
            <a:r>
              <a:rPr lang="ko-KR" altLang="en-US" sz="1200" dirty="0"/>
              <a:t>\</a:t>
            </a:r>
            <a:r>
              <a:rPr lang="ko-KR" altLang="en-US" sz="1200" dirty="0" err="1"/>
              <a:t>n</a:t>
            </a:r>
            <a:r>
              <a:rPr lang="ko-KR" altLang="en-US" sz="1200" dirty="0"/>
              <a:t>");</a:t>
            </a:r>
          </a:p>
          <a:p>
            <a:r>
              <a:rPr lang="ko-KR" altLang="en-US" sz="1200" dirty="0"/>
              <a:t>	</a:t>
            </a:r>
            <a:r>
              <a:rPr lang="ko-KR" altLang="en-US" sz="1200" dirty="0" err="1"/>
              <a:t>printf</a:t>
            </a:r>
            <a:r>
              <a:rPr lang="ko-KR" altLang="en-US" sz="1200" dirty="0"/>
              <a:t>("All </a:t>
            </a:r>
            <a:r>
              <a:rPr lang="ko-KR" altLang="en-US" sz="1200" dirty="0" err="1"/>
              <a:t>Rights</a:t>
            </a:r>
            <a:r>
              <a:rPr lang="ko-KR" altLang="en-US" sz="1200" dirty="0"/>
              <a:t> </a:t>
            </a:r>
            <a:r>
              <a:rPr lang="ko-KR" altLang="en-US" sz="1200" dirty="0" err="1"/>
              <a:t>Reserved</a:t>
            </a:r>
            <a:r>
              <a:rPr lang="ko-KR" altLang="en-US" sz="1200" dirty="0"/>
              <a:t> </a:t>
            </a:r>
            <a:r>
              <a:rPr lang="ko-KR" altLang="en-US" sz="1200" dirty="0" err="1"/>
              <a:t>by</a:t>
            </a:r>
            <a:r>
              <a:rPr lang="ko-KR" altLang="en-US" sz="1200" dirty="0"/>
              <a:t> %</a:t>
            </a:r>
            <a:r>
              <a:rPr lang="ko-KR" altLang="en-US" sz="1200" dirty="0" err="1"/>
              <a:t>S</a:t>
            </a:r>
            <a:r>
              <a:rPr lang="ko-KR" altLang="en-US" sz="1200" dirty="0"/>
              <a:t>.\</a:t>
            </a:r>
            <a:r>
              <a:rPr lang="ko-KR" altLang="en-US" sz="1200" dirty="0" err="1"/>
              <a:t>n</a:t>
            </a:r>
            <a:r>
              <a:rPr lang="ko-KR" altLang="en-US" sz="1200" dirty="0"/>
              <a:t>", </a:t>
            </a:r>
            <a:r>
              <a:rPr lang="ko-KR" altLang="en-US" sz="1200" dirty="0" err="1"/>
              <a:t>msg</a:t>
            </a:r>
            <a:r>
              <a:rPr lang="ko-KR" altLang="en-US" sz="1200" dirty="0"/>
              <a:t>);</a:t>
            </a:r>
          </a:p>
          <a:p>
            <a:r>
              <a:rPr lang="ko-KR" altLang="en-US" sz="1200" dirty="0"/>
              <a:t>        }</a:t>
            </a:r>
          </a:p>
          <a:p>
            <a:r>
              <a:rPr lang="ko-KR" altLang="en-US" sz="1200" dirty="0"/>
              <a:t>};</a:t>
            </a:r>
          </a:p>
          <a:p>
            <a:endParaRPr lang="ko-KR" altLang="en-US" sz="1200" dirty="0"/>
          </a:p>
          <a:p>
            <a:r>
              <a:rPr lang="ko-KR" altLang="en-US" sz="1200" b="1" dirty="0" err="1">
                <a:solidFill>
                  <a:srgbClr val="00B050"/>
                </a:solidFill>
              </a:rPr>
              <a:t>class</a:t>
            </a:r>
            <a:r>
              <a:rPr lang="ko-KR" altLang="en-US" sz="1200" b="1" dirty="0">
                <a:solidFill>
                  <a:srgbClr val="00B050"/>
                </a:solidFill>
              </a:rPr>
              <a:t> </a:t>
            </a:r>
            <a:r>
              <a:rPr lang="ko-KR" altLang="en-US" sz="1200" b="1" dirty="0" err="1">
                <a:solidFill>
                  <a:srgbClr val="00B050"/>
                </a:solidFill>
              </a:rPr>
              <a:t>CDerived</a:t>
            </a:r>
            <a:r>
              <a:rPr lang="ko-KR" altLang="en-US" sz="1200" b="1" dirty="0">
                <a:solidFill>
                  <a:srgbClr val="00B050"/>
                </a:solidFill>
              </a:rPr>
              <a:t> : </a:t>
            </a:r>
            <a:r>
              <a:rPr lang="ko-KR" altLang="en-US" sz="1200" b="1" dirty="0" err="1">
                <a:solidFill>
                  <a:srgbClr val="00B050"/>
                </a:solidFill>
              </a:rPr>
              <a:t>public</a:t>
            </a:r>
            <a:r>
              <a:rPr lang="ko-KR" altLang="en-US" sz="1200" b="1" dirty="0">
                <a:solidFill>
                  <a:srgbClr val="00B050"/>
                </a:solidFill>
              </a:rPr>
              <a:t> </a:t>
            </a:r>
            <a:r>
              <a:rPr lang="ko-KR" altLang="en-US" sz="1200" b="1" dirty="0" err="1">
                <a:solidFill>
                  <a:srgbClr val="00B050"/>
                </a:solidFill>
              </a:rPr>
              <a:t>CBase</a:t>
            </a:r>
            <a:r>
              <a:rPr lang="ko-KR" altLang="en-US" sz="1200" b="1" dirty="0">
                <a:solidFill>
                  <a:srgbClr val="00B050"/>
                </a:solidFill>
              </a:rPr>
              <a:t> {</a:t>
            </a:r>
          </a:p>
          <a:p>
            <a:r>
              <a:rPr lang="ko-KR" altLang="en-US" sz="1200" b="1" dirty="0" err="1">
                <a:solidFill>
                  <a:srgbClr val="00B050"/>
                </a:solidFill>
              </a:rPr>
              <a:t>public</a:t>
            </a:r>
            <a:r>
              <a:rPr lang="ko-KR" altLang="en-US" sz="1200" b="1" dirty="0">
                <a:solidFill>
                  <a:srgbClr val="00B050"/>
                </a:solidFill>
              </a:rPr>
              <a:t>:</a:t>
            </a:r>
          </a:p>
          <a:p>
            <a:r>
              <a:rPr lang="ko-KR" altLang="en-US" sz="1200" b="1" dirty="0">
                <a:solidFill>
                  <a:srgbClr val="00B050"/>
                </a:solidFill>
              </a:rPr>
              <a:t>        </a:t>
            </a:r>
            <a:r>
              <a:rPr lang="ko-KR" altLang="en-US" sz="1200" b="1" dirty="0" err="1">
                <a:solidFill>
                  <a:srgbClr val="00B050"/>
                </a:solidFill>
              </a:rPr>
              <a:t>CString</a:t>
            </a:r>
            <a:r>
              <a:rPr lang="ko-KR" altLang="en-US" sz="1200" b="1" dirty="0">
                <a:solidFill>
                  <a:srgbClr val="00B050"/>
                </a:solidFill>
              </a:rPr>
              <a:t> </a:t>
            </a:r>
            <a:r>
              <a:rPr lang="ko-KR" altLang="en-US" sz="1200" b="1" dirty="0" err="1">
                <a:solidFill>
                  <a:srgbClr val="00B050"/>
                </a:solidFill>
              </a:rPr>
              <a:t>xxx</a:t>
            </a:r>
            <a:r>
              <a:rPr lang="ko-KR" altLang="en-US" sz="1200" b="1" dirty="0">
                <a:solidFill>
                  <a:srgbClr val="00B050"/>
                </a:solidFill>
              </a:rPr>
              <a:t>() {</a:t>
            </a:r>
          </a:p>
          <a:p>
            <a:r>
              <a:rPr lang="ko-KR" altLang="en-US" sz="1200" b="1" dirty="0">
                <a:solidFill>
                  <a:srgbClr val="00B050"/>
                </a:solidFill>
              </a:rPr>
              <a:t>	</a:t>
            </a:r>
            <a:r>
              <a:rPr lang="ko-KR" altLang="en-US" sz="1200" b="1" dirty="0" err="1">
                <a:solidFill>
                  <a:srgbClr val="00B050"/>
                </a:solidFill>
              </a:rPr>
              <a:t>return</a:t>
            </a:r>
            <a:r>
              <a:rPr lang="ko-KR" altLang="en-US" sz="1200" b="1" dirty="0">
                <a:solidFill>
                  <a:srgbClr val="00B050"/>
                </a:solidFill>
              </a:rPr>
              <a:t> "XXX";</a:t>
            </a:r>
          </a:p>
          <a:p>
            <a:r>
              <a:rPr lang="ko-KR" altLang="en-US" sz="1200" b="1" dirty="0">
                <a:solidFill>
                  <a:srgbClr val="00B050"/>
                </a:solidFill>
              </a:rPr>
              <a:t>        }</a:t>
            </a:r>
          </a:p>
          <a:p>
            <a:r>
              <a:rPr lang="ko-KR" altLang="en-US" sz="1200" b="1" dirty="0">
                <a:solidFill>
                  <a:srgbClr val="00B050"/>
                </a:solidFill>
              </a:rPr>
              <a:t>};</a:t>
            </a:r>
          </a:p>
          <a:p>
            <a:endParaRPr lang="ko-KR" altLang="en-US" sz="1200" dirty="0"/>
          </a:p>
          <a:p>
            <a:r>
              <a:rPr lang="ko-KR" altLang="en-US" sz="1200" b="1" dirty="0" err="1">
                <a:solidFill>
                  <a:srgbClr val="00B050"/>
                </a:solidFill>
              </a:rPr>
              <a:t>CDerived</a:t>
            </a:r>
            <a:r>
              <a:rPr lang="ko-KR" altLang="en-US" sz="1200" b="1" dirty="0">
                <a:solidFill>
                  <a:srgbClr val="00B050"/>
                </a:solidFill>
              </a:rPr>
              <a:t> </a:t>
            </a:r>
            <a:r>
              <a:rPr lang="ko-KR" altLang="en-US" sz="1200" b="1" dirty="0" err="1">
                <a:solidFill>
                  <a:srgbClr val="00B050"/>
                </a:solidFill>
              </a:rPr>
              <a:t>gildong</a:t>
            </a:r>
            <a:r>
              <a:rPr lang="ko-KR" altLang="en-US" sz="1200" b="1" dirty="0">
                <a:solidFill>
                  <a:srgbClr val="00B050"/>
                </a:solidFill>
              </a:rPr>
              <a:t>;</a:t>
            </a:r>
          </a:p>
          <a:p>
            <a:endParaRPr lang="ko-KR" altLang="en-US" sz="1200" dirty="0"/>
          </a:p>
          <a:p>
            <a:r>
              <a:rPr lang="ko-KR" altLang="en-US" sz="1200" dirty="0" err="1"/>
              <a:t>void</a:t>
            </a:r>
            <a:r>
              <a:rPr lang="ko-KR" altLang="en-US" sz="1200" dirty="0"/>
              <a:t> </a:t>
            </a:r>
            <a:r>
              <a:rPr lang="ko-KR" altLang="en-US" sz="1200" dirty="0" err="1"/>
              <a:t>main</a:t>
            </a:r>
            <a:r>
              <a:rPr lang="ko-KR" altLang="en-US" sz="1200" dirty="0"/>
              <a:t>()</a:t>
            </a:r>
          </a:p>
          <a:p>
            <a:r>
              <a:rPr lang="ko-KR" altLang="en-US" sz="1200" dirty="0"/>
              <a:t>{</a:t>
            </a:r>
          </a:p>
          <a:p>
            <a:r>
              <a:rPr lang="ko-KR" altLang="en-US" sz="1200" dirty="0"/>
              <a:t>        </a:t>
            </a:r>
            <a:r>
              <a:rPr lang="ko-KR" altLang="en-US" sz="1200" dirty="0" err="1"/>
              <a:t>gildong.WhoAreYou</a:t>
            </a:r>
            <a:r>
              <a:rPr lang="ko-KR" altLang="en-US" sz="1200" dirty="0"/>
              <a:t>();</a:t>
            </a:r>
          </a:p>
          <a:p>
            <a:r>
              <a:rPr lang="ko-KR" altLang="en-US" sz="1200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8430F9-E87B-B73E-7FA4-53F0D3BC7866}"/>
              </a:ext>
            </a:extLst>
          </p:cNvPr>
          <p:cNvSpPr txBox="1"/>
          <p:nvPr/>
        </p:nvSpPr>
        <p:spPr>
          <a:xfrm>
            <a:off x="5148064" y="1437457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dirty="0">
                <a:solidFill>
                  <a:schemeClr val="accent1"/>
                </a:solidFill>
                <a:latin typeface="Rix고딕 B" panose="02020603020101020101" pitchFamily="18" charset="-127"/>
                <a:ea typeface="Rix고딕 B" panose="02020603020101020101" pitchFamily="18" charset="-127"/>
                <a:cs typeface="+mj-cs"/>
              </a:rPr>
              <a:t>순수 가상함수는</a:t>
            </a:r>
            <a:r>
              <a:rPr lang="en-US" altLang="ko-KR" dirty="0">
                <a:solidFill>
                  <a:schemeClr val="accent1"/>
                </a:solidFill>
                <a:latin typeface="Rix고딕 B" panose="02020603020101020101" pitchFamily="18" charset="-127"/>
                <a:ea typeface="Rix고딕 B" panose="02020603020101020101" pitchFamily="18" charset="-127"/>
                <a:cs typeface="+mj-cs"/>
              </a:rPr>
              <a:t>!</a:t>
            </a:r>
            <a:r>
              <a:rPr lang="ko-KR" altLang="en-US" dirty="0">
                <a:solidFill>
                  <a:schemeClr val="accent1"/>
                </a:solidFill>
                <a:latin typeface="Rix고딕 B" panose="02020603020101020101" pitchFamily="18" charset="-127"/>
                <a:ea typeface="Rix고딕 B" panose="02020603020101020101" pitchFamily="18" charset="-127"/>
                <a:cs typeface="+mj-cs"/>
              </a:rPr>
              <a:t> </a:t>
            </a:r>
            <a:endParaRPr lang="en-US" altLang="ko-KR" dirty="0">
              <a:solidFill>
                <a:schemeClr val="accent1"/>
              </a:solidFill>
              <a:latin typeface="Rix고딕 B" panose="02020603020101020101" pitchFamily="18" charset="-127"/>
              <a:ea typeface="Rix고딕 B" panose="02020603020101020101" pitchFamily="18" charset="-127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ED7F79-7DE5-C489-EFA4-9558AF005F1D}"/>
              </a:ext>
            </a:extLst>
          </p:cNvPr>
          <p:cNvSpPr txBox="1"/>
          <p:nvPr/>
        </p:nvSpPr>
        <p:spPr>
          <a:xfrm>
            <a:off x="5148064" y="3246955"/>
            <a:ext cx="3456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dirty="0">
                <a:solidFill>
                  <a:schemeClr val="accent1"/>
                </a:solidFill>
                <a:latin typeface="Rix고딕 B" panose="02020603020101020101" pitchFamily="18" charset="-127"/>
                <a:ea typeface="Rix고딕 B" panose="02020603020101020101" pitchFamily="18" charset="-127"/>
                <a:cs typeface="+mj-cs"/>
              </a:rPr>
              <a:t>따라서</a:t>
            </a:r>
            <a:r>
              <a:rPr lang="en-US" altLang="ko-KR" dirty="0">
                <a:solidFill>
                  <a:schemeClr val="accent1"/>
                </a:solidFill>
                <a:latin typeface="Rix고딕 B" panose="02020603020101020101" pitchFamily="18" charset="-127"/>
                <a:ea typeface="Rix고딕 B" panose="02020603020101020101" pitchFamily="18" charset="-127"/>
                <a:cs typeface="+mj-cs"/>
              </a:rPr>
              <a:t>, </a:t>
            </a:r>
            <a:r>
              <a:rPr lang="ko-KR" altLang="en-US" dirty="0">
                <a:solidFill>
                  <a:schemeClr val="accent1"/>
                </a:solidFill>
                <a:latin typeface="Rix고딕 B" panose="02020603020101020101" pitchFamily="18" charset="-127"/>
                <a:ea typeface="Rix고딕 B" panose="02020603020101020101" pitchFamily="18" charset="-127"/>
                <a:cs typeface="+mj-cs"/>
              </a:rPr>
              <a:t>순수 가상함수 언제 사용</a:t>
            </a:r>
            <a:r>
              <a:rPr lang="en-US" altLang="ko-KR" dirty="0">
                <a:solidFill>
                  <a:schemeClr val="accent1"/>
                </a:solidFill>
                <a:latin typeface="Rix고딕 B" panose="02020603020101020101" pitchFamily="18" charset="-127"/>
                <a:ea typeface="Rix고딕 B" panose="02020603020101020101" pitchFamily="18" charset="-127"/>
                <a:cs typeface="+mj-cs"/>
              </a:rPr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69A999-7E0E-3E93-EDDA-A7E23E137D96}"/>
              </a:ext>
            </a:extLst>
          </p:cNvPr>
          <p:cNvSpPr txBox="1"/>
          <p:nvPr/>
        </p:nvSpPr>
        <p:spPr>
          <a:xfrm>
            <a:off x="5255568" y="3616287"/>
            <a:ext cx="3348880" cy="33855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indent="0">
              <a:buSzPct val="85000"/>
              <a:buNone/>
              <a:defRPr sz="3000" b="0" spc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defRPr>
            </a:lvl1pPr>
          </a:lstStyle>
          <a:p>
            <a:pPr marL="123825" indent="-123825" fontAlgn="base" latinLnBrk="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l"/>
            </a:pPr>
            <a:r>
              <a:rPr lang="ko-KR" altLang="en-US" sz="11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함수 본체를 작성할 필요없이 껍데기만 미리 작성</a:t>
            </a:r>
            <a:r>
              <a:rPr lang="en-US" altLang="ko-KR" sz="11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1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본체</a:t>
            </a:r>
            <a:r>
              <a:rPr lang="en-US" altLang="ko-KR" sz="11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1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빼고</a:t>
            </a:r>
            <a:r>
              <a:rPr lang="en-US" altLang="ko-KR" sz="11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  <a:r>
              <a:rPr lang="ko-KR" altLang="en-US" sz="11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해 놓고</a:t>
            </a:r>
            <a:r>
              <a:rPr lang="en-US" altLang="ko-KR" sz="11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100" b="1" spc="-5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  <a:alpha val="72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나중에 상속받는 곳에서 재정의하여 작성</a:t>
            </a:r>
          </a:p>
        </p:txBody>
      </p:sp>
    </p:spTree>
    <p:extLst>
      <p:ext uri="{BB962C8B-B14F-4D97-AF65-F5344CB8AC3E}">
        <p14:creationId xmlns:p14="http://schemas.microsoft.com/office/powerpoint/2010/main" val="30459279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상상력 발휘하기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main </a:t>
            </a:r>
            <a:r>
              <a:rPr lang="ko-KR" altLang="en-US" dirty="0"/>
              <a:t>함수가 없는 프로그램은 없다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따라서 </a:t>
            </a:r>
            <a:r>
              <a:rPr lang="en-US" altLang="ko-KR" dirty="0"/>
              <a:t>main</a:t>
            </a:r>
            <a:r>
              <a:rPr lang="ko-KR" altLang="en-US" dirty="0"/>
              <a:t>는 반드시 존재해야 함</a:t>
            </a:r>
            <a:endParaRPr lang="en-US" altLang="ko-KR" dirty="0"/>
          </a:p>
          <a:p>
            <a:pPr lvl="1"/>
            <a:r>
              <a:rPr lang="ko-KR" altLang="en-US" dirty="0"/>
              <a:t>반드시</a:t>
            </a:r>
            <a:r>
              <a:rPr lang="en-US" altLang="ko-KR" dirty="0"/>
              <a:t>(</a:t>
            </a:r>
            <a:r>
              <a:rPr lang="ko-KR" altLang="en-US" dirty="0"/>
              <a:t>항상</a:t>
            </a:r>
            <a:r>
              <a:rPr lang="en-US" altLang="ko-KR" dirty="0"/>
              <a:t>)</a:t>
            </a:r>
            <a:r>
              <a:rPr lang="ko-KR" altLang="en-US" dirty="0"/>
              <a:t> 존재해야</a:t>
            </a:r>
            <a:r>
              <a:rPr lang="en-US" altLang="ko-KR" dirty="0"/>
              <a:t>(</a:t>
            </a:r>
            <a:r>
              <a:rPr lang="ko-KR" altLang="en-US" dirty="0"/>
              <a:t>작성해야</a:t>
            </a:r>
            <a:r>
              <a:rPr lang="en-US" altLang="ko-KR" dirty="0"/>
              <a:t>) </a:t>
            </a:r>
            <a:r>
              <a:rPr lang="ko-KR" altLang="en-US" dirty="0"/>
              <a:t>한다면 </a:t>
            </a:r>
            <a:r>
              <a:rPr lang="en-US" altLang="ko-KR" dirty="0"/>
              <a:t>main </a:t>
            </a:r>
            <a:r>
              <a:rPr lang="ko-KR" altLang="en-US" dirty="0"/>
              <a:t>함수도 라이브러리로 되어 있으면 좋을 듯</a:t>
            </a:r>
            <a:endParaRPr lang="en-US" altLang="ko-KR" dirty="0"/>
          </a:p>
        </p:txBody>
      </p:sp>
      <p:sp>
        <p:nvSpPr>
          <p:cNvPr id="5" name="직사각형 4"/>
          <p:cNvSpPr/>
          <p:nvPr/>
        </p:nvSpPr>
        <p:spPr>
          <a:xfrm>
            <a:off x="1285884" y="3951936"/>
            <a:ext cx="4572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2000" dirty="0"/>
              <a:t>void main()</a:t>
            </a:r>
          </a:p>
          <a:p>
            <a:r>
              <a:rPr lang="en-US" altLang="ko-KR" sz="2000" dirty="0"/>
              <a:t>{</a:t>
            </a:r>
          </a:p>
          <a:p>
            <a:r>
              <a:rPr lang="en-US" altLang="ko-KR" sz="2000" dirty="0"/>
              <a:t>    </a:t>
            </a:r>
            <a:r>
              <a:rPr lang="en-US" altLang="ko-KR" sz="2000" dirty="0" err="1">
                <a:solidFill>
                  <a:srgbClr val="0000FF"/>
                </a:solidFill>
              </a:rPr>
              <a:t>gildong</a:t>
            </a:r>
            <a:r>
              <a:rPr lang="en-US" altLang="ko-KR" sz="2000" dirty="0" err="1"/>
              <a:t>.WhoAreYou</a:t>
            </a:r>
            <a:r>
              <a:rPr lang="en-US" altLang="ko-KR" sz="2000" dirty="0"/>
              <a:t>();</a:t>
            </a:r>
          </a:p>
          <a:p>
            <a:r>
              <a:rPr lang="en-US" altLang="ko-KR" sz="2000" dirty="0"/>
              <a:t>}</a:t>
            </a:r>
          </a:p>
          <a:p>
            <a:endParaRPr lang="en-US" altLang="ko-KR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318342" y="764704"/>
            <a:ext cx="6710042" cy="53245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#include &lt;</a:t>
            </a:r>
            <a:r>
              <a:rPr kumimoji="1" lang="en-US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stdio.h</a:t>
            </a: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&gt;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  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class </a:t>
            </a:r>
            <a:r>
              <a:rPr kumimoji="1" lang="en-US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CBase</a:t>
            </a: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 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{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public: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363538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void </a:t>
            </a:r>
            <a:r>
              <a:rPr kumimoji="1" lang="en-US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WhoAreYou</a:t>
            </a: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() 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363538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{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71755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printf</a:t>
            </a: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("</a:t>
            </a:r>
            <a:r>
              <a:rPr kumimoji="1" lang="en-US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CBase</a:t>
            </a: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!\n");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363538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}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};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  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1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CBase</a:t>
            </a:r>
            <a:r>
              <a:rPr kumimoji="1" lang="en-US" altLang="ko-KR" sz="20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 </a:t>
            </a:r>
            <a:r>
              <a:rPr kumimoji="1" lang="en-US" altLang="ko-KR" sz="2000" b="1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gildong</a:t>
            </a:r>
            <a:r>
              <a:rPr kumimoji="1" lang="en-US" altLang="ko-KR" sz="20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;</a:t>
            </a:r>
            <a:endParaRPr kumimoji="1" lang="en-US" altLang="ko-KR" sz="1400" b="1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  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void main()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{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363538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gildong.WhoAreYou</a:t>
            </a: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();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}</a:t>
            </a:r>
            <a:endParaRPr kumimoji="1" lang="en-US" altLang="ko-KR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187624" y="1328571"/>
            <a:ext cx="4320480" cy="26642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723268" y="1163322"/>
            <a:ext cx="2335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라이브러리 코드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ko-KR" altLang="en-US" dirty="0">
                <a:solidFill>
                  <a:srgbClr val="0000FF"/>
                </a:solidFill>
              </a:rPr>
              <a:t>기존에 있었던 </a:t>
            </a:r>
            <a:r>
              <a:rPr lang="ko-KR" altLang="en-US" dirty="0"/>
              <a:t>코드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652120" y="4032774"/>
            <a:ext cx="27975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라이브러리가 아닌 코드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>
                <a:solidFill>
                  <a:srgbClr val="0000FF"/>
                </a:solidFill>
              </a:rPr>
              <a:t>여러분이 작성하는 </a:t>
            </a:r>
            <a:r>
              <a:rPr lang="ko-KR" altLang="en-US" dirty="0"/>
              <a:t>코드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9" name="오른쪽 중괄호 8"/>
          <p:cNvSpPr/>
          <p:nvPr/>
        </p:nvSpPr>
        <p:spPr>
          <a:xfrm>
            <a:off x="5436096" y="4093660"/>
            <a:ext cx="174796" cy="444245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/>
          <p:cNvCxnSpPr/>
          <p:nvPr/>
        </p:nvCxnSpPr>
        <p:spPr>
          <a:xfrm flipH="1">
            <a:off x="5508104" y="1832627"/>
            <a:ext cx="720080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1187624" y="4653136"/>
            <a:ext cx="4320480" cy="15121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/>
          <p:cNvCxnSpPr/>
          <p:nvPr/>
        </p:nvCxnSpPr>
        <p:spPr>
          <a:xfrm flipH="1">
            <a:off x="4572000" y="1844824"/>
            <a:ext cx="1656184" cy="28083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상상력 발휘하기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라이브러리로 존재하는 코드 상상하기</a:t>
            </a:r>
            <a:endParaRPr lang="en-US" altLang="ko-KR" dirty="0"/>
          </a:p>
          <a:p>
            <a:pPr lvl="1"/>
            <a:r>
              <a:rPr lang="en-US" altLang="ko-KR" dirty="0" err="1"/>
              <a:t>CBase</a:t>
            </a:r>
            <a:r>
              <a:rPr lang="en-US" altLang="ko-KR" dirty="0"/>
              <a:t> </a:t>
            </a:r>
            <a:r>
              <a:rPr lang="ko-KR" altLang="en-US" dirty="0"/>
              <a:t>클래스</a:t>
            </a:r>
            <a:endParaRPr lang="en-US" altLang="ko-KR" dirty="0"/>
          </a:p>
          <a:p>
            <a:pPr lvl="1"/>
            <a:r>
              <a:rPr lang="en-US" altLang="ko-KR" dirty="0"/>
              <a:t>main </a:t>
            </a:r>
            <a:r>
              <a:rPr lang="ko-KR" altLang="en-US" dirty="0"/>
              <a:t>함수</a:t>
            </a:r>
            <a:endParaRPr lang="en-US" altLang="ko-KR" dirty="0"/>
          </a:p>
        </p:txBody>
      </p:sp>
      <p:pic>
        <p:nvPicPr>
          <p:cNvPr id="5" name="Picture 5" descr="C:\Documents and Settings\Administrator\Local Settings\Temporary Internet Files\Content.IE5\ZJ9FV6BV\MCj03456810000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768" y="4286256"/>
            <a:ext cx="928694" cy="78533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상상력 발휘하기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7715200" cy="4525963"/>
          </a:xfrm>
        </p:spPr>
        <p:txBody>
          <a:bodyPr>
            <a:noAutofit/>
          </a:bodyPr>
          <a:lstStyle/>
          <a:p>
            <a:r>
              <a:rPr lang="en-US" altLang="ko-KR" sz="2800" dirty="0" err="1"/>
              <a:t>gildong</a:t>
            </a:r>
            <a:r>
              <a:rPr lang="ko-KR" altLang="en-US" sz="2800" dirty="0"/>
              <a:t>이라는 변수 이름은 누가 정하나</a:t>
            </a:r>
            <a:r>
              <a:rPr lang="en-US" altLang="ko-KR" sz="2800" dirty="0"/>
              <a:t>?</a:t>
            </a:r>
          </a:p>
          <a:p>
            <a:r>
              <a:rPr lang="ko-KR" altLang="en-US" sz="2800" dirty="0"/>
              <a:t>만일 변수를 </a:t>
            </a:r>
            <a:r>
              <a:rPr lang="en-US" altLang="ko-KR" sz="2800" dirty="0" err="1"/>
              <a:t>cheolsu</a:t>
            </a:r>
            <a:r>
              <a:rPr lang="ko-KR" altLang="en-US" sz="2800" dirty="0"/>
              <a:t>라고 하면</a:t>
            </a:r>
            <a:r>
              <a:rPr lang="en-US" altLang="ko-KR" sz="2800" dirty="0"/>
              <a:t>?</a:t>
            </a:r>
          </a:p>
          <a:p>
            <a:r>
              <a:rPr lang="en-US" altLang="ko-KR" sz="2800" dirty="0"/>
              <a:t>main </a:t>
            </a:r>
            <a:r>
              <a:rPr lang="ko-KR" altLang="en-US" sz="2800" dirty="0"/>
              <a:t>함수에 오류 발생</a:t>
            </a:r>
            <a:endParaRPr lang="en-US" altLang="ko-KR" sz="2800" dirty="0"/>
          </a:p>
          <a:p>
            <a:r>
              <a:rPr lang="ko-KR" altLang="en-US" sz="2800" dirty="0"/>
              <a:t>변수이름을 바꾸면 </a:t>
            </a:r>
            <a:r>
              <a:rPr lang="en-US" altLang="ko-KR" sz="2800" dirty="0"/>
              <a:t>main </a:t>
            </a:r>
            <a:r>
              <a:rPr lang="ko-KR" altLang="en-US" sz="2800" dirty="0"/>
              <a:t>함수에 오류가 생겨서 </a:t>
            </a:r>
            <a:r>
              <a:rPr lang="en-US" altLang="ko-KR" sz="2800" dirty="0"/>
              <a:t>main </a:t>
            </a:r>
            <a:r>
              <a:rPr lang="ko-KR" altLang="en-US" sz="2800" dirty="0"/>
              <a:t>함수를 라이브러리화 할 수 없음</a:t>
            </a:r>
            <a:r>
              <a:rPr lang="en-US" altLang="ko-KR" sz="2800" dirty="0"/>
              <a:t>.</a:t>
            </a:r>
          </a:p>
          <a:p>
            <a:r>
              <a:rPr lang="ko-KR" altLang="en-US" sz="2800" dirty="0">
                <a:solidFill>
                  <a:srgbClr val="FF0000"/>
                </a:solidFill>
              </a:rPr>
              <a:t>어떤 변수 이름을 쓰더라도 </a:t>
            </a:r>
            <a:r>
              <a:rPr lang="en-US" altLang="ko-KR" sz="2800" dirty="0">
                <a:solidFill>
                  <a:srgbClr val="FF0000"/>
                </a:solidFill>
              </a:rPr>
              <a:t>main </a:t>
            </a:r>
            <a:r>
              <a:rPr lang="ko-KR" altLang="en-US" sz="2800" dirty="0">
                <a:solidFill>
                  <a:srgbClr val="FF0000"/>
                </a:solidFill>
              </a:rPr>
              <a:t>함수 코드가 바뀌지 않도록 하려면</a:t>
            </a:r>
            <a:r>
              <a:rPr lang="en-US" altLang="ko-KR" sz="2800" dirty="0">
                <a:solidFill>
                  <a:srgbClr val="FF0000"/>
                </a:solidFill>
              </a:rPr>
              <a:t>? → </a:t>
            </a:r>
            <a:r>
              <a:rPr lang="ko-KR" altLang="en-US" sz="2800" dirty="0">
                <a:solidFill>
                  <a:srgbClr val="FF0000"/>
                </a:solidFill>
              </a:rPr>
              <a:t>변수 이름을 직접 언급하면 안됨</a:t>
            </a:r>
            <a:r>
              <a:rPr lang="en-US" altLang="ko-KR" sz="2800" dirty="0">
                <a:solidFill>
                  <a:srgbClr val="FF0000"/>
                </a:solidFill>
              </a:rPr>
              <a:t>.</a:t>
            </a:r>
            <a:endParaRPr lang="ko-KR" alt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49FDA43C-34EA-3C2B-2261-E52B03502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302359"/>
            <a:ext cx="3469682" cy="53245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#include &lt;</a:t>
            </a:r>
            <a:r>
              <a:rPr kumimoji="1" lang="en-US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stdio.h</a:t>
            </a: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&gt;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  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class </a:t>
            </a:r>
            <a:r>
              <a:rPr kumimoji="1" lang="en-US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CBase</a:t>
            </a: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 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{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public: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363538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void </a:t>
            </a:r>
            <a:r>
              <a:rPr kumimoji="1" lang="en-US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WhoAreYou</a:t>
            </a: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() {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71755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printf</a:t>
            </a: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("</a:t>
            </a:r>
            <a:r>
              <a:rPr kumimoji="1" lang="en-US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CBase</a:t>
            </a: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!\n");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363538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}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};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  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dirty="0" err="1">
                <a:solidFill>
                  <a:srgbClr val="000000"/>
                </a:solidFill>
                <a:latin typeface="+mj-lt"/>
                <a:ea typeface="돋움" pitchFamily="50" charset="-127"/>
              </a:rPr>
              <a:t>CBase</a:t>
            </a:r>
            <a:r>
              <a:rPr kumimoji="1" lang="en-US" altLang="ko-KR" sz="2000" dirty="0">
                <a:solidFill>
                  <a:srgbClr val="000000"/>
                </a:solidFill>
                <a:latin typeface="+mj-lt"/>
                <a:ea typeface="돋움" pitchFamily="50" charset="-127"/>
              </a:rPr>
              <a:t> </a:t>
            </a:r>
            <a:r>
              <a:rPr kumimoji="1" lang="en-US" altLang="ko-KR" sz="2000" dirty="0" err="1">
                <a:solidFill>
                  <a:srgbClr val="000000"/>
                </a:solidFill>
                <a:latin typeface="+mj-lt"/>
                <a:ea typeface="돋움" pitchFamily="50" charset="-127"/>
              </a:rPr>
              <a:t>gildong</a:t>
            </a:r>
            <a:r>
              <a:rPr kumimoji="1" lang="en-US" altLang="ko-KR" sz="2000" dirty="0">
                <a:solidFill>
                  <a:srgbClr val="000000"/>
                </a:solidFill>
                <a:latin typeface="+mj-lt"/>
                <a:ea typeface="돋움" pitchFamily="50" charset="-127"/>
              </a:rPr>
              <a:t>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  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void main() {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dirty="0">
                <a:latin typeface="+mj-lt"/>
                <a:ea typeface="돋움" pitchFamily="50" charset="-127"/>
              </a:rPr>
              <a:t>    </a:t>
            </a:r>
            <a:r>
              <a:rPr kumimoji="1" lang="en-US" altLang="ko-KR" sz="2000" dirty="0" err="1">
                <a:latin typeface="+mj-lt"/>
                <a:ea typeface="돋움" pitchFamily="50" charset="-127"/>
              </a:rPr>
              <a:t>CBase</a:t>
            </a:r>
            <a:r>
              <a:rPr kumimoji="1" lang="en-US" altLang="ko-KR" sz="2000" dirty="0">
                <a:latin typeface="+mj-lt"/>
                <a:ea typeface="돋움" pitchFamily="50" charset="-127"/>
              </a:rPr>
              <a:t>* p;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dirty="0">
                <a:solidFill>
                  <a:srgbClr val="0000FF"/>
                </a:solidFill>
                <a:latin typeface="+mj-lt"/>
                <a:ea typeface="돋움" pitchFamily="50" charset="-127"/>
              </a:rPr>
              <a:t>    p = &amp;</a:t>
            </a:r>
            <a:r>
              <a:rPr kumimoji="1" lang="en-US" altLang="ko-KR" sz="2000" dirty="0" err="1">
                <a:solidFill>
                  <a:srgbClr val="0000FF"/>
                </a:solidFill>
                <a:latin typeface="+mj-lt"/>
                <a:ea typeface="돋움" pitchFamily="50" charset="-127"/>
              </a:rPr>
              <a:t>gildong</a:t>
            </a:r>
            <a:r>
              <a:rPr kumimoji="1" lang="en-US" altLang="ko-KR" sz="2000" dirty="0">
                <a:solidFill>
                  <a:srgbClr val="0000FF"/>
                </a:solidFill>
                <a:latin typeface="+mj-lt"/>
                <a:ea typeface="돋움" pitchFamily="50" charset="-127"/>
              </a:rPr>
              <a:t>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dirty="0">
                <a:latin typeface="+mj-lt"/>
                <a:ea typeface="돋움" pitchFamily="50" charset="-127"/>
              </a:rPr>
              <a:t>    p‐&gt;</a:t>
            </a:r>
            <a:r>
              <a:rPr kumimoji="1" lang="en-US" altLang="ko-KR" sz="2000" dirty="0" err="1">
                <a:latin typeface="+mj-lt"/>
                <a:ea typeface="돋움" pitchFamily="50" charset="-127"/>
              </a:rPr>
              <a:t>WhoAreYou</a:t>
            </a:r>
            <a:r>
              <a:rPr kumimoji="1" lang="en-US" altLang="ko-KR" sz="2000" dirty="0">
                <a:latin typeface="+mj-lt"/>
                <a:ea typeface="돋움" pitchFamily="50" charset="-127"/>
              </a:rPr>
              <a:t>();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}</a:t>
            </a:r>
            <a:endParaRPr kumimoji="1" lang="en-US" altLang="ko-KR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57CA8AE1-0731-3868-48DA-20E6C03C7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0750" y="302359"/>
            <a:ext cx="3469682" cy="6555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#include &lt;</a:t>
            </a:r>
            <a:r>
              <a:rPr kumimoji="1" lang="en-US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stdio.h</a:t>
            </a: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&gt;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  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class </a:t>
            </a:r>
            <a:r>
              <a:rPr kumimoji="1" lang="en-US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CBase</a:t>
            </a: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 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{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public: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363538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void </a:t>
            </a:r>
            <a:r>
              <a:rPr kumimoji="1" lang="en-US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WhoAreYou</a:t>
            </a: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() {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71755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printf</a:t>
            </a: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("</a:t>
            </a:r>
            <a:r>
              <a:rPr kumimoji="1" lang="en-US" altLang="ko-K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CBase</a:t>
            </a: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!\n");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363538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}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};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  </a:t>
            </a:r>
            <a:endParaRPr kumimoji="1" lang="en-US" altLang="ko-KR" sz="2000" dirty="0">
              <a:solidFill>
                <a:srgbClr val="000000"/>
              </a:solidFill>
              <a:latin typeface="+mj-lt"/>
              <a:ea typeface="돋움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dirty="0" err="1">
                <a:solidFill>
                  <a:srgbClr val="000000"/>
                </a:solidFill>
                <a:latin typeface="+mj-lt"/>
                <a:ea typeface="돋움" pitchFamily="50" charset="-127"/>
              </a:rPr>
              <a:t>CBase</a:t>
            </a:r>
            <a:r>
              <a:rPr kumimoji="1" lang="en-US" altLang="ko-KR" sz="2000" dirty="0">
                <a:solidFill>
                  <a:srgbClr val="000000"/>
                </a:solidFill>
                <a:latin typeface="+mj-lt"/>
                <a:ea typeface="돋움" pitchFamily="50" charset="-127"/>
              </a:rPr>
              <a:t> </a:t>
            </a:r>
            <a:r>
              <a:rPr kumimoji="1" lang="en-US" altLang="ko-KR" sz="2000" dirty="0" err="1">
                <a:solidFill>
                  <a:srgbClr val="000000"/>
                </a:solidFill>
                <a:latin typeface="+mj-lt"/>
                <a:ea typeface="돋움" pitchFamily="50" charset="-127"/>
              </a:rPr>
              <a:t>gildong</a:t>
            </a:r>
            <a:r>
              <a:rPr kumimoji="1" lang="en-US" altLang="ko-KR" sz="2000" dirty="0">
                <a:solidFill>
                  <a:srgbClr val="000000"/>
                </a:solidFill>
                <a:latin typeface="+mj-lt"/>
                <a:ea typeface="돋움" pitchFamily="50" charset="-127"/>
              </a:rPr>
              <a:t>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ko-KR" sz="2000" dirty="0">
              <a:solidFill>
                <a:srgbClr val="000000"/>
              </a:solidFill>
              <a:latin typeface="+mj-lt"/>
              <a:ea typeface="돋움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dirty="0" err="1">
                <a:solidFill>
                  <a:srgbClr val="0000FF"/>
                </a:solidFill>
                <a:latin typeface="+mj-lt"/>
                <a:ea typeface="돋움" pitchFamily="50" charset="-127"/>
              </a:rPr>
              <a:t>Cbase</a:t>
            </a:r>
            <a:r>
              <a:rPr kumimoji="1" lang="ko-KR" altLang="en-US" sz="2000" dirty="0">
                <a:solidFill>
                  <a:srgbClr val="0000FF"/>
                </a:solidFill>
                <a:latin typeface="+mj-lt"/>
                <a:ea typeface="돋움" pitchFamily="50" charset="-127"/>
              </a:rPr>
              <a:t>* </a:t>
            </a:r>
            <a:r>
              <a:rPr kumimoji="1" lang="en-US" altLang="ko-KR" sz="2000" dirty="0" err="1">
                <a:solidFill>
                  <a:srgbClr val="0000FF"/>
                </a:solidFill>
                <a:latin typeface="+mj-lt"/>
                <a:ea typeface="돋움" pitchFamily="50" charset="-127"/>
              </a:rPr>
              <a:t>AfxGetApp</a:t>
            </a:r>
            <a:r>
              <a:rPr kumimoji="1" lang="en-US" altLang="ko-KR" sz="2000" dirty="0">
                <a:solidFill>
                  <a:srgbClr val="0000FF"/>
                </a:solidFill>
                <a:latin typeface="+mj-lt"/>
                <a:ea typeface="돋움" pitchFamily="50" charset="-127"/>
              </a:rPr>
              <a:t>() {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dirty="0">
                <a:solidFill>
                  <a:srgbClr val="0000FF"/>
                </a:solidFill>
                <a:latin typeface="+mj-lt"/>
                <a:ea typeface="돋움" pitchFamily="50" charset="-127"/>
              </a:rPr>
              <a:t>    return &amp;</a:t>
            </a:r>
            <a:r>
              <a:rPr kumimoji="1" lang="en-US" altLang="ko-KR" sz="2000" dirty="0" err="1">
                <a:solidFill>
                  <a:srgbClr val="0000FF"/>
                </a:solidFill>
                <a:latin typeface="+mj-lt"/>
                <a:ea typeface="돋움" pitchFamily="50" charset="-127"/>
              </a:rPr>
              <a:t>gildong</a:t>
            </a:r>
            <a:r>
              <a:rPr kumimoji="1" lang="en-US" altLang="ko-KR" sz="2000" dirty="0">
                <a:solidFill>
                  <a:srgbClr val="0000FF"/>
                </a:solidFill>
                <a:latin typeface="+mj-lt"/>
                <a:ea typeface="돋움" pitchFamily="50" charset="-127"/>
              </a:rPr>
              <a:t>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dirty="0">
                <a:solidFill>
                  <a:srgbClr val="0000FF"/>
                </a:solidFill>
                <a:latin typeface="+mj-lt"/>
                <a:ea typeface="돋움" pitchFamily="50" charset="-127"/>
              </a:rPr>
              <a:t>}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dirty="0">
                <a:solidFill>
                  <a:srgbClr val="000000"/>
                </a:solidFill>
                <a:latin typeface="+mj-lt"/>
                <a:ea typeface="돋움" pitchFamily="50" charset="-127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dirty="0">
                <a:solidFill>
                  <a:srgbClr val="000000"/>
                </a:solidFill>
                <a:latin typeface="+mj-lt"/>
                <a:ea typeface="돋움" pitchFamily="50" charset="-127"/>
              </a:rPr>
              <a:t>void main() {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dirty="0">
                <a:solidFill>
                  <a:srgbClr val="0000FF"/>
                </a:solidFill>
                <a:latin typeface="+mj-lt"/>
                <a:ea typeface="돋움" pitchFamily="50" charset="-127"/>
              </a:rPr>
              <a:t>    </a:t>
            </a:r>
            <a:r>
              <a:rPr kumimoji="1" lang="en-US" altLang="ko-KR" sz="2000" dirty="0" err="1">
                <a:solidFill>
                  <a:srgbClr val="000000"/>
                </a:solidFill>
                <a:latin typeface="+mj-lt"/>
                <a:ea typeface="돋움" pitchFamily="50" charset="-127"/>
              </a:rPr>
              <a:t>CBase</a:t>
            </a:r>
            <a:r>
              <a:rPr kumimoji="1" lang="en-US" altLang="ko-KR" sz="2000" dirty="0">
                <a:solidFill>
                  <a:srgbClr val="000000"/>
                </a:solidFill>
                <a:latin typeface="+mj-lt"/>
                <a:ea typeface="돋움" pitchFamily="50" charset="-127"/>
              </a:rPr>
              <a:t>* p;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dirty="0">
                <a:solidFill>
                  <a:srgbClr val="0000FF"/>
                </a:solidFill>
                <a:latin typeface="+mj-lt"/>
                <a:ea typeface="돋움" pitchFamily="50" charset="-127"/>
              </a:rPr>
              <a:t>    p = </a:t>
            </a:r>
            <a:r>
              <a:rPr kumimoji="1" lang="en-US" altLang="ko-KR" sz="2000" dirty="0" err="1">
                <a:solidFill>
                  <a:srgbClr val="FF0000"/>
                </a:solidFill>
                <a:latin typeface="+mj-lt"/>
                <a:ea typeface="돋움" pitchFamily="50" charset="-127"/>
              </a:rPr>
              <a:t>Afx</a:t>
            </a:r>
            <a:r>
              <a:rPr kumimoji="1" lang="en-US" altLang="ko-KR" sz="2000" dirty="0" err="1">
                <a:solidFill>
                  <a:srgbClr val="0000FF"/>
                </a:solidFill>
                <a:latin typeface="+mj-lt"/>
                <a:ea typeface="돋움" pitchFamily="50" charset="-127"/>
              </a:rPr>
              <a:t>GetApp</a:t>
            </a:r>
            <a:r>
              <a:rPr kumimoji="1" lang="en-US" altLang="ko-KR" sz="2000" dirty="0">
                <a:solidFill>
                  <a:srgbClr val="0000FF"/>
                </a:solidFill>
                <a:latin typeface="+mj-lt"/>
                <a:ea typeface="돋움" pitchFamily="50" charset="-127"/>
              </a:rPr>
              <a:t>();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dirty="0">
                <a:solidFill>
                  <a:srgbClr val="000000"/>
                </a:solidFill>
                <a:latin typeface="+mj-lt"/>
                <a:ea typeface="돋움" pitchFamily="50" charset="-127"/>
              </a:rPr>
              <a:t>    p‐&gt;</a:t>
            </a:r>
            <a:r>
              <a:rPr kumimoji="1" lang="en-US" altLang="ko-KR" sz="2000" dirty="0" err="1">
                <a:solidFill>
                  <a:srgbClr val="000000"/>
                </a:solidFill>
                <a:latin typeface="+mj-lt"/>
                <a:ea typeface="돋움" pitchFamily="50" charset="-127"/>
              </a:rPr>
              <a:t>WhoAreYou</a:t>
            </a:r>
            <a:r>
              <a:rPr kumimoji="1" lang="en-US" altLang="ko-KR" sz="2000" dirty="0">
                <a:solidFill>
                  <a:srgbClr val="000000"/>
                </a:solidFill>
                <a:latin typeface="+mj-lt"/>
                <a:ea typeface="돋움" pitchFamily="50" charset="-127"/>
              </a:rPr>
              <a:t>();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}</a:t>
            </a:r>
            <a:endParaRPr kumimoji="1" lang="en-US" altLang="ko-KR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</p:txBody>
      </p:sp>
      <p:pic>
        <p:nvPicPr>
          <p:cNvPr id="2" name="Picture 6" descr="arrow">
            <a:extLst>
              <a:ext uri="{FF2B5EF4-FFF2-40B4-BE49-F238E27FC236}">
                <a16:creationId xmlns:a16="http://schemas.microsoft.com/office/drawing/2014/main" id="{0DAB9934-9EFA-6A35-05ED-719C845369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6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444326" y="3059506"/>
            <a:ext cx="4130240" cy="73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A768C6-99BA-D7E8-8C37-90955BEB4757}"/>
              </a:ext>
            </a:extLst>
          </p:cNvPr>
          <p:cNvSpPr txBox="1"/>
          <p:nvPr/>
        </p:nvSpPr>
        <p:spPr>
          <a:xfrm rot="20152490">
            <a:off x="2687138" y="4309575"/>
            <a:ext cx="15139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변수 이름 직접 언급</a:t>
            </a:r>
            <a:endParaRPr lang="ko-KR" altLang="en-US" sz="11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BB87CC-F50C-E3BA-CD0E-791B346205B0}"/>
              </a:ext>
            </a:extLst>
          </p:cNvPr>
          <p:cNvSpPr txBox="1"/>
          <p:nvPr/>
        </p:nvSpPr>
        <p:spPr>
          <a:xfrm rot="20152490">
            <a:off x="7341275" y="5540168"/>
            <a:ext cx="126135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변수 이름을 직접 언급하지 않기</a:t>
            </a:r>
            <a:endParaRPr lang="ko-KR" altLang="en-US" sz="11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61359" y="5843883"/>
            <a:ext cx="2920736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altLang="ko-KR" sz="1600" dirty="0" err="1"/>
              <a:t>Afx</a:t>
            </a:r>
            <a:r>
              <a:rPr lang="en-US" altLang="ko-KR" sz="1600" dirty="0"/>
              <a:t> = Application Framework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0649149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상상력 발휘하기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포인터 이용하기</a:t>
            </a:r>
            <a:endParaRPr lang="en-US" altLang="ko-KR" dirty="0"/>
          </a:p>
          <a:p>
            <a:pPr lvl="1"/>
            <a:r>
              <a:rPr lang="en-US" altLang="ko-KR" dirty="0" err="1"/>
              <a:t>AfxGetApp</a:t>
            </a:r>
            <a:r>
              <a:rPr lang="en-US" altLang="ko-KR" dirty="0"/>
              <a:t> </a:t>
            </a:r>
            <a:r>
              <a:rPr lang="ko-KR" altLang="en-US" dirty="0"/>
              <a:t>함수 </a:t>
            </a:r>
            <a:r>
              <a:rPr lang="en-US" altLang="ko-KR" dirty="0"/>
              <a:t>: </a:t>
            </a:r>
            <a:r>
              <a:rPr lang="en-US" altLang="ko-KR" dirty="0" err="1"/>
              <a:t>CBase</a:t>
            </a:r>
            <a:r>
              <a:rPr lang="en-US" altLang="ko-KR" dirty="0"/>
              <a:t> </a:t>
            </a:r>
            <a:r>
              <a:rPr lang="ko-KR" altLang="en-US" dirty="0"/>
              <a:t>클래스로 만든 전역변수</a:t>
            </a:r>
            <a:r>
              <a:rPr lang="en-US" altLang="ko-KR" dirty="0"/>
              <a:t>(</a:t>
            </a:r>
            <a:r>
              <a:rPr lang="ko-KR" altLang="en-US" dirty="0"/>
              <a:t>객체</a:t>
            </a:r>
            <a:r>
              <a:rPr lang="en-US" altLang="ko-KR" dirty="0"/>
              <a:t>)</a:t>
            </a:r>
            <a:r>
              <a:rPr lang="ko-KR" altLang="en-US" dirty="0"/>
              <a:t> 주소 값을 알아내는 함수</a:t>
            </a:r>
          </a:p>
        </p:txBody>
      </p:sp>
      <p:pic>
        <p:nvPicPr>
          <p:cNvPr id="6" name="Picture 5" descr="C:\Documents and Settings\Administrator\Local Settings\Temporary Internet Files\Content.IE5\ZJ9FV6BV\MCj03456810000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768" y="4286256"/>
            <a:ext cx="928694" cy="78533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상상력 발휘하기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</a:t>
            </a:r>
            <a:r>
              <a:rPr lang="ko-KR" altLang="en-US" dirty="0"/>
              <a:t>함수에서 포인터를 활용한 이유는</a:t>
            </a:r>
            <a:r>
              <a:rPr lang="en-US" altLang="ko-KR" dirty="0"/>
              <a:t>?</a:t>
            </a:r>
          </a:p>
          <a:p>
            <a:pPr marL="363538" indent="0">
              <a:buNone/>
            </a:pPr>
            <a:endParaRPr lang="en-US" altLang="ko-KR" dirty="0"/>
          </a:p>
          <a:p>
            <a:pPr marL="363538" indent="0">
              <a:buNone/>
            </a:pPr>
            <a:r>
              <a:rPr lang="ko-KR" altLang="en-US" dirty="0">
                <a:solidFill>
                  <a:srgbClr val="FF0000"/>
                </a:solidFill>
              </a:rPr>
              <a:t>변수 이름을 직접 사용하지 않으려고</a:t>
            </a:r>
            <a:r>
              <a:rPr lang="en-US" altLang="ko-KR" dirty="0">
                <a:solidFill>
                  <a:srgbClr val="FF0000"/>
                </a:solidFill>
              </a:rPr>
              <a:t>...</a:t>
            </a:r>
          </a:p>
          <a:p>
            <a:pPr marL="363538" indent="0">
              <a:buNone/>
            </a:pPr>
            <a:r>
              <a:rPr lang="en-US" altLang="ko-KR" dirty="0">
                <a:solidFill>
                  <a:srgbClr val="FF0000"/>
                </a:solidFill>
              </a:rPr>
              <a:t>main </a:t>
            </a:r>
            <a:r>
              <a:rPr lang="ko-KR" altLang="en-US" dirty="0">
                <a:solidFill>
                  <a:srgbClr val="FF0000"/>
                </a:solidFill>
              </a:rPr>
              <a:t>함수를 라이브러리로 제공하려고</a:t>
            </a:r>
            <a:r>
              <a:rPr lang="en-US" altLang="ko-KR" dirty="0">
                <a:solidFill>
                  <a:srgbClr val="FF0000"/>
                </a:solidFill>
              </a:rPr>
              <a:t>...</a:t>
            </a:r>
            <a:br>
              <a:rPr lang="en-US" altLang="ko-KR" dirty="0">
                <a:solidFill>
                  <a:srgbClr val="FF0000"/>
                </a:solidFill>
              </a:rPr>
            </a:br>
            <a:endParaRPr lang="en-US" altLang="ko-K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30772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상상력 발휘하기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라이브러리로 존재하는 코드 상상하기</a:t>
            </a:r>
            <a:endParaRPr lang="en-US" altLang="ko-KR" dirty="0"/>
          </a:p>
          <a:p>
            <a:pPr lvl="1"/>
            <a:r>
              <a:rPr lang="en-US" altLang="ko-KR" dirty="0" err="1"/>
              <a:t>CBase</a:t>
            </a:r>
            <a:r>
              <a:rPr lang="en-US" altLang="ko-KR" dirty="0"/>
              <a:t> </a:t>
            </a:r>
            <a:r>
              <a:rPr lang="ko-KR" altLang="en-US" dirty="0"/>
              <a:t>클래스 </a:t>
            </a:r>
            <a:endParaRPr lang="en-US" altLang="ko-KR" dirty="0"/>
          </a:p>
          <a:p>
            <a:pPr lvl="1"/>
            <a:r>
              <a:rPr lang="en-US" altLang="ko-KR" dirty="0"/>
              <a:t>main </a:t>
            </a:r>
            <a:r>
              <a:rPr lang="ko-KR" altLang="en-US" dirty="0"/>
              <a:t>함수 </a:t>
            </a:r>
            <a:endParaRPr lang="en-US" altLang="ko-KR" dirty="0"/>
          </a:p>
          <a:p>
            <a:pPr lvl="1"/>
            <a:r>
              <a:rPr lang="en-US" altLang="ko-KR" dirty="0" err="1"/>
              <a:t>AfxGetApp</a:t>
            </a:r>
            <a:r>
              <a:rPr lang="en-US" altLang="ko-KR" dirty="0"/>
              <a:t> </a:t>
            </a:r>
            <a:r>
              <a:rPr lang="ko-KR" altLang="en-US" dirty="0"/>
              <a:t>함수 </a:t>
            </a:r>
            <a:endParaRPr lang="en-US" altLang="ko-KR" dirty="0"/>
          </a:p>
        </p:txBody>
      </p:sp>
      <p:pic>
        <p:nvPicPr>
          <p:cNvPr id="5" name="Picture 5" descr="C:\Documents and Settings\Administrator\Local Settings\Temporary Internet Files\Content.IE5\ZJ9FV6BV\MCj03456810000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768" y="4286256"/>
            <a:ext cx="928694" cy="78533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 </a:t>
            </a:r>
            <a:r>
              <a:rPr lang="ko-KR" altLang="en-US" dirty="0"/>
              <a:t>가상함수의 위력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ko-KR" altLang="en-US" dirty="0"/>
              <a:t>재정의한 함수가 실행되지 않는다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여기에 </a:t>
            </a:r>
            <a:r>
              <a:rPr lang="en-US" altLang="ko-KR" dirty="0">
                <a:solidFill>
                  <a:srgbClr val="FF0000"/>
                </a:solidFill>
              </a:rPr>
              <a:t>virtual </a:t>
            </a:r>
            <a:r>
              <a:rPr lang="ko-KR" altLang="en-US" dirty="0">
                <a:solidFill>
                  <a:srgbClr val="FF0000"/>
                </a:solidFill>
              </a:rPr>
              <a:t>키워드</a:t>
            </a:r>
            <a:r>
              <a:rPr lang="ko-KR" altLang="en-US" dirty="0"/>
              <a:t>를 붙이는 순간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r>
              <a:rPr lang="ko-KR" altLang="en-US" dirty="0"/>
              <a:t>아주 </a:t>
            </a:r>
            <a:r>
              <a:rPr lang="ko-KR" altLang="en-US" dirty="0">
                <a:solidFill>
                  <a:srgbClr val="FF0000"/>
                </a:solidFill>
              </a:rPr>
              <a:t>놀라운 한 줄짜리 프로그램</a:t>
            </a:r>
            <a:endParaRPr lang="en-US" altLang="ko-KR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endParaRPr lang="en-US" altLang="ko-KR" dirty="0"/>
          </a:p>
          <a:p>
            <a:pPr lvl="1"/>
            <a:endParaRPr lang="en-US" altLang="ko-KR" sz="1600" dirty="0"/>
          </a:p>
          <a:p>
            <a:pPr lvl="1"/>
            <a:r>
              <a:rPr lang="ko-KR" altLang="en-US" dirty="0"/>
              <a:t>눈에 보이지 않는 코드는</a:t>
            </a:r>
            <a:r>
              <a:rPr lang="en-US" altLang="ko-KR" dirty="0"/>
              <a:t>?</a:t>
            </a:r>
          </a:p>
        </p:txBody>
      </p:sp>
      <p:pic>
        <p:nvPicPr>
          <p:cNvPr id="4" name="Picture 5" descr="C:\Documents and Settings\Administrator\Local Settings\Temporary Internet Files\Content.IE5\ZJ9FV6BV\MCj03456810000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43636" y="2285992"/>
            <a:ext cx="928694" cy="785335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BA489C-97ED-6FB1-3BFE-451FB143FF07}"/>
              </a:ext>
            </a:extLst>
          </p:cNvPr>
          <p:cNvSpPr txBox="1"/>
          <p:nvPr/>
        </p:nvSpPr>
        <p:spPr>
          <a:xfrm>
            <a:off x="1187624" y="522920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400">
                <a:solidFill>
                  <a:srgbClr val="0000FF"/>
                </a:solidFill>
                <a:latin typeface="+mj-lt"/>
                <a:ea typeface="돋움" pitchFamily="50" charset="-127"/>
              </a:rPr>
              <a:t>CBase gildong;</a:t>
            </a:r>
            <a:endParaRPr kumimoji="1" lang="en-US" altLang="ko-KR" sz="2400" dirty="0">
              <a:solidFill>
                <a:srgbClr val="0000FF"/>
              </a:solidFill>
              <a:latin typeface="+mj-lt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CE1D79D-B006-D662-3D1D-B984D9101B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7158" y="188640"/>
            <a:ext cx="4543153" cy="6555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돋움" pitchFamily="50" charset="-127"/>
              </a:rPr>
              <a:t>#include &lt;</a:t>
            </a:r>
            <a:r>
              <a:rPr kumimoji="1" lang="en-US" altLang="ko-KR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돋움" pitchFamily="50" charset="-127"/>
              </a:rPr>
              <a:t>stdio.h</a:t>
            </a:r>
            <a:r>
              <a:rPr kumimoji="1"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돋움" pitchFamily="50" charset="-127"/>
              </a:rPr>
              <a:t>&gt;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sng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  </a:t>
            </a:r>
            <a:endParaRPr kumimoji="1" lang="en-US" altLang="ko-KR" sz="1400" b="0" i="0" u="none" strike="sngStrike" cap="none" normalizeH="0" baseline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class </a:t>
            </a:r>
            <a:r>
              <a:rPr kumimoji="1" lang="en-US" altLang="ko-KR" sz="2000" b="0" i="0" u="none" cap="none" normalizeH="0" baseline="0" dirty="0" err="1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CBase</a:t>
            </a:r>
            <a:r>
              <a:rPr kumimoji="1" lang="en-US" altLang="ko-KR" sz="2000" b="0" i="0" u="non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 </a:t>
            </a:r>
            <a:endParaRPr kumimoji="1" lang="en-US" altLang="ko-KR" sz="1400" b="0" i="0" u="none" cap="none" normalizeH="0" baseline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{</a:t>
            </a:r>
            <a:endParaRPr kumimoji="1" lang="en-US" altLang="ko-KR" sz="1400" b="0" i="0" u="none" cap="none" normalizeH="0" baseline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public:</a:t>
            </a:r>
            <a:endParaRPr kumimoji="1" lang="en-US" altLang="ko-KR" sz="1400" b="0" i="0" u="none" cap="none" normalizeH="0" baseline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363538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dirty="0">
                <a:solidFill>
                  <a:srgbClr val="FF0000"/>
                </a:solidFill>
                <a:latin typeface="+mj-lt"/>
                <a:ea typeface="돋움" pitchFamily="50" charset="-127"/>
                <a:cs typeface="굴림" pitchFamily="50" charset="-127"/>
              </a:rPr>
              <a:t>v</a:t>
            </a:r>
            <a:r>
              <a:rPr kumimoji="1" lang="en-US" altLang="ko-KR" sz="2000" b="0" i="0" u="non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irtual</a:t>
            </a:r>
            <a:r>
              <a:rPr kumimoji="1" lang="en-US" altLang="ko-KR" sz="2000" b="0" i="0" u="non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 void </a:t>
            </a:r>
            <a:r>
              <a:rPr kumimoji="1" lang="en-US" altLang="ko-KR" sz="2000" b="0" i="0" u="none" cap="none" normalizeH="0" baseline="0" dirty="0" err="1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WhoAreYou</a:t>
            </a:r>
            <a:r>
              <a:rPr kumimoji="1" lang="en-US" altLang="ko-KR" sz="2000" b="0" i="0" u="non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() {</a:t>
            </a:r>
            <a:endParaRPr kumimoji="1" lang="en-US" altLang="ko-KR" sz="1400" b="0" i="0" u="none" cap="none" normalizeH="0" baseline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71755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cap="none" normalizeH="0" baseline="0" dirty="0" err="1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printf</a:t>
            </a:r>
            <a:r>
              <a:rPr kumimoji="1" lang="en-US" altLang="ko-KR" sz="2000" b="0" i="0" u="non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("</a:t>
            </a:r>
            <a:r>
              <a:rPr kumimoji="1" lang="en-US" altLang="ko-KR" sz="2000" b="0" i="0" u="none" cap="none" normalizeH="0" baseline="0" dirty="0" err="1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CBase</a:t>
            </a:r>
            <a:r>
              <a:rPr kumimoji="1" lang="en-US" altLang="ko-KR" sz="2000" b="0" i="0" u="non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!\n");</a:t>
            </a:r>
            <a:endParaRPr kumimoji="1" lang="en-US" altLang="ko-KR" sz="1400" b="0" i="0" u="none" cap="none" normalizeH="0" baseline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363538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}</a:t>
            </a:r>
            <a:endParaRPr kumimoji="1" lang="en-US" altLang="ko-KR" sz="1400" b="0" i="0" u="none" cap="none" normalizeH="0" baseline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};</a:t>
            </a:r>
            <a:endParaRPr kumimoji="1" lang="en-US" altLang="ko-KR" sz="1400" b="0" i="0" u="none" cap="none" normalizeH="0" baseline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  </a:t>
            </a:r>
            <a:endParaRPr kumimoji="1" lang="en-US" altLang="ko-KR" sz="2000" dirty="0">
              <a:solidFill>
                <a:srgbClr val="000000"/>
              </a:solidFill>
              <a:latin typeface="+mj-lt"/>
              <a:ea typeface="돋움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1" dirty="0" err="1">
                <a:solidFill>
                  <a:srgbClr val="0000FF"/>
                </a:solidFill>
                <a:latin typeface="+mj-lt"/>
                <a:ea typeface="돋움" pitchFamily="50" charset="-127"/>
              </a:rPr>
              <a:t>CBase</a:t>
            </a:r>
            <a:r>
              <a:rPr kumimoji="1" lang="en-US" altLang="ko-KR" sz="2000" b="1" dirty="0">
                <a:solidFill>
                  <a:srgbClr val="0000FF"/>
                </a:solidFill>
                <a:latin typeface="+mj-lt"/>
                <a:ea typeface="돋움" pitchFamily="50" charset="-127"/>
              </a:rPr>
              <a:t> </a:t>
            </a:r>
            <a:r>
              <a:rPr kumimoji="1" lang="en-US" altLang="ko-KR" sz="2000" b="1" dirty="0" err="1">
                <a:solidFill>
                  <a:srgbClr val="0000FF"/>
                </a:solidFill>
                <a:latin typeface="+mj-lt"/>
                <a:ea typeface="돋움" pitchFamily="50" charset="-127"/>
              </a:rPr>
              <a:t>gildong</a:t>
            </a:r>
            <a:r>
              <a:rPr kumimoji="1" lang="en-US" altLang="ko-KR" sz="2000" b="1" dirty="0">
                <a:solidFill>
                  <a:srgbClr val="0000FF"/>
                </a:solidFill>
                <a:latin typeface="+mj-lt"/>
                <a:ea typeface="돋움" pitchFamily="50" charset="-127"/>
              </a:rPr>
              <a:t>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ko-KR" sz="2000" dirty="0">
              <a:latin typeface="+mj-lt"/>
              <a:ea typeface="돋움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dirty="0" err="1">
                <a:solidFill>
                  <a:schemeClr val="bg1">
                    <a:lumMod val="85000"/>
                  </a:schemeClr>
                </a:solidFill>
                <a:latin typeface="+mj-lt"/>
                <a:ea typeface="돋움" pitchFamily="50" charset="-127"/>
              </a:rPr>
              <a:t>Cbase</a:t>
            </a:r>
            <a:r>
              <a:rPr kumimoji="1" lang="ko-KR" altLang="en-US" sz="2000" dirty="0">
                <a:solidFill>
                  <a:schemeClr val="bg1">
                    <a:lumMod val="85000"/>
                  </a:schemeClr>
                </a:solidFill>
                <a:latin typeface="+mj-lt"/>
                <a:ea typeface="돋움" pitchFamily="50" charset="-127"/>
              </a:rPr>
              <a:t>* </a:t>
            </a:r>
            <a:r>
              <a:rPr kumimoji="1" lang="en-US" altLang="ko-KR" sz="2000" dirty="0" err="1">
                <a:solidFill>
                  <a:schemeClr val="bg1">
                    <a:lumMod val="85000"/>
                  </a:schemeClr>
                </a:solidFill>
                <a:latin typeface="+mj-lt"/>
                <a:ea typeface="돋움" pitchFamily="50" charset="-127"/>
              </a:rPr>
              <a:t>AfxGetApp</a:t>
            </a:r>
            <a:r>
              <a:rPr kumimoji="1" lang="en-US" altLang="ko-KR" sz="2000" dirty="0">
                <a:solidFill>
                  <a:schemeClr val="bg1">
                    <a:lumMod val="85000"/>
                  </a:schemeClr>
                </a:solidFill>
                <a:latin typeface="+mj-lt"/>
                <a:ea typeface="돋움" pitchFamily="50" charset="-127"/>
              </a:rPr>
              <a:t>() {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dirty="0">
                <a:solidFill>
                  <a:schemeClr val="bg1">
                    <a:lumMod val="85000"/>
                  </a:schemeClr>
                </a:solidFill>
                <a:latin typeface="+mj-lt"/>
                <a:ea typeface="돋움" pitchFamily="50" charset="-127"/>
              </a:rPr>
              <a:t>    return &amp;</a:t>
            </a:r>
            <a:r>
              <a:rPr kumimoji="1" lang="en-US" altLang="ko-KR" sz="2000" dirty="0" err="1">
                <a:solidFill>
                  <a:schemeClr val="bg1">
                    <a:lumMod val="85000"/>
                  </a:schemeClr>
                </a:solidFill>
                <a:latin typeface="+mj-lt"/>
                <a:ea typeface="돋움" pitchFamily="50" charset="-127"/>
              </a:rPr>
              <a:t>gildong</a:t>
            </a:r>
            <a:r>
              <a:rPr kumimoji="1" lang="en-US" altLang="ko-KR" sz="2000" dirty="0">
                <a:solidFill>
                  <a:schemeClr val="bg1">
                    <a:lumMod val="85000"/>
                  </a:schemeClr>
                </a:solidFill>
                <a:latin typeface="+mj-lt"/>
                <a:ea typeface="돋움" pitchFamily="50" charset="-127"/>
              </a:rPr>
              <a:t>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dirty="0">
                <a:solidFill>
                  <a:schemeClr val="bg1">
                    <a:lumMod val="85000"/>
                  </a:schemeClr>
                </a:solidFill>
                <a:latin typeface="+mj-lt"/>
                <a:ea typeface="돋움" pitchFamily="50" charset="-127"/>
              </a:rPr>
              <a:t>}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dirty="0">
                <a:solidFill>
                  <a:schemeClr val="bg1">
                    <a:lumMod val="85000"/>
                  </a:schemeClr>
                </a:solidFill>
                <a:latin typeface="+mj-lt"/>
                <a:ea typeface="돋움" pitchFamily="50" charset="-127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dirty="0">
                <a:solidFill>
                  <a:schemeClr val="bg1">
                    <a:lumMod val="85000"/>
                  </a:schemeClr>
                </a:solidFill>
                <a:latin typeface="+mj-lt"/>
                <a:ea typeface="돋움" pitchFamily="50" charset="-127"/>
              </a:rPr>
              <a:t>void main() {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dirty="0">
                <a:solidFill>
                  <a:schemeClr val="bg1">
                    <a:lumMod val="85000"/>
                  </a:schemeClr>
                </a:solidFill>
                <a:latin typeface="+mj-lt"/>
                <a:ea typeface="돋움" pitchFamily="50" charset="-127"/>
              </a:rPr>
              <a:t>    </a:t>
            </a:r>
            <a:r>
              <a:rPr kumimoji="1" lang="en-US" altLang="ko-KR" sz="2000" dirty="0" err="1">
                <a:solidFill>
                  <a:schemeClr val="bg1">
                    <a:lumMod val="85000"/>
                  </a:schemeClr>
                </a:solidFill>
                <a:latin typeface="+mj-lt"/>
                <a:ea typeface="돋움" pitchFamily="50" charset="-127"/>
              </a:rPr>
              <a:t>CBase</a:t>
            </a:r>
            <a:r>
              <a:rPr kumimoji="1" lang="en-US" altLang="ko-KR" sz="2000" dirty="0">
                <a:solidFill>
                  <a:schemeClr val="bg1">
                    <a:lumMod val="85000"/>
                  </a:schemeClr>
                </a:solidFill>
                <a:latin typeface="+mj-lt"/>
                <a:ea typeface="돋움" pitchFamily="50" charset="-127"/>
              </a:rPr>
              <a:t>* p;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dirty="0">
                <a:solidFill>
                  <a:schemeClr val="bg1">
                    <a:lumMod val="85000"/>
                  </a:schemeClr>
                </a:solidFill>
                <a:latin typeface="+mj-lt"/>
                <a:ea typeface="돋움" pitchFamily="50" charset="-127"/>
              </a:rPr>
              <a:t>    p = </a:t>
            </a:r>
            <a:r>
              <a:rPr kumimoji="1" lang="en-US" altLang="ko-KR" sz="2000" dirty="0" err="1">
                <a:solidFill>
                  <a:schemeClr val="bg1">
                    <a:lumMod val="85000"/>
                  </a:schemeClr>
                </a:solidFill>
                <a:latin typeface="+mj-lt"/>
                <a:ea typeface="돋움" pitchFamily="50" charset="-127"/>
              </a:rPr>
              <a:t>AfxGetApp</a:t>
            </a:r>
            <a:r>
              <a:rPr kumimoji="1" lang="en-US" altLang="ko-KR" sz="2000" dirty="0">
                <a:solidFill>
                  <a:schemeClr val="bg1">
                    <a:lumMod val="85000"/>
                  </a:schemeClr>
                </a:solidFill>
                <a:latin typeface="+mj-lt"/>
                <a:ea typeface="돋움" pitchFamily="50" charset="-127"/>
              </a:rPr>
              <a:t>();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dirty="0">
                <a:solidFill>
                  <a:schemeClr val="bg1">
                    <a:lumMod val="85000"/>
                  </a:schemeClr>
                </a:solidFill>
                <a:latin typeface="+mj-lt"/>
                <a:ea typeface="돋움" pitchFamily="50" charset="-127"/>
              </a:rPr>
              <a:t>    p‐&gt;</a:t>
            </a:r>
            <a:r>
              <a:rPr kumimoji="1" lang="en-US" altLang="ko-KR" sz="2000" dirty="0" err="1">
                <a:solidFill>
                  <a:schemeClr val="bg1">
                    <a:lumMod val="85000"/>
                  </a:schemeClr>
                </a:solidFill>
                <a:latin typeface="+mj-lt"/>
                <a:ea typeface="돋움" pitchFamily="50" charset="-127"/>
              </a:rPr>
              <a:t>WhoAreYou</a:t>
            </a:r>
            <a:r>
              <a:rPr kumimoji="1" lang="en-US" altLang="ko-KR" sz="2000" dirty="0">
                <a:solidFill>
                  <a:schemeClr val="bg1">
                    <a:lumMod val="85000"/>
                  </a:schemeClr>
                </a:solidFill>
                <a:latin typeface="+mj-lt"/>
                <a:ea typeface="돋움" pitchFamily="50" charset="-127"/>
              </a:rPr>
              <a:t>();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+mj-lt"/>
                <a:ea typeface="돋움" pitchFamily="50" charset="-127"/>
                <a:cs typeface="굴림" pitchFamily="50" charset="-127"/>
              </a:rPr>
              <a:t>}</a:t>
            </a:r>
            <a:endParaRPr kumimoji="1" lang="en-US" altLang="ko-KR" sz="4800" b="0" i="0" u="none" cap="none" normalizeH="0" baseline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824592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55576" y="1321584"/>
            <a:ext cx="5338936" cy="4525963"/>
          </a:xfrm>
        </p:spPr>
        <p:txBody>
          <a:bodyPr>
            <a:normAutofit fontScale="85000" lnSpcReduction="10000"/>
          </a:bodyPr>
          <a:lstStyle/>
          <a:p>
            <a:r>
              <a:rPr lang="ko-KR" altLang="en-US" dirty="0"/>
              <a:t>상속과 </a:t>
            </a:r>
            <a:r>
              <a:rPr lang="en-US" altLang="ko-KR" dirty="0"/>
              <a:t>Is-a </a:t>
            </a:r>
            <a:r>
              <a:rPr lang="ko-KR" altLang="en-US" dirty="0"/>
              <a:t>관계 </a:t>
            </a:r>
            <a:r>
              <a:rPr lang="en-US" altLang="ko-KR" dirty="0"/>
              <a:t>(</a:t>
            </a:r>
            <a:r>
              <a:rPr lang="ko-KR" altLang="en-US" dirty="0"/>
              <a:t>타원과 원 관계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>
                <a:solidFill>
                  <a:srgbClr val="0000FF"/>
                </a:solidFill>
              </a:rPr>
              <a:t>타원</a:t>
            </a:r>
            <a:r>
              <a:rPr lang="ko-KR" altLang="en-US" dirty="0"/>
              <a:t>은 </a:t>
            </a:r>
            <a:r>
              <a:rPr lang="ko-KR" altLang="en-US" dirty="0">
                <a:solidFill>
                  <a:srgbClr val="0000FF"/>
                </a:solidFill>
              </a:rPr>
              <a:t>원</a:t>
            </a:r>
            <a:r>
              <a:rPr lang="ko-KR" altLang="en-US" dirty="0"/>
              <a:t>이다</a:t>
            </a:r>
            <a:r>
              <a:rPr lang="en-US" altLang="ko-KR" dirty="0"/>
              <a:t>. Ellipse </a:t>
            </a:r>
            <a:r>
              <a:rPr lang="en-US" altLang="ko-KR" dirty="0">
                <a:solidFill>
                  <a:srgbClr val="FF0000"/>
                </a:solidFill>
              </a:rPr>
              <a:t>is a </a:t>
            </a:r>
            <a:r>
              <a:rPr lang="en-US" altLang="ko-KR" dirty="0"/>
              <a:t>Circle.</a:t>
            </a:r>
          </a:p>
          <a:p>
            <a:pPr lvl="1"/>
            <a:r>
              <a:rPr lang="ko-KR" altLang="en-US" dirty="0">
                <a:solidFill>
                  <a:srgbClr val="0000FF"/>
                </a:solidFill>
              </a:rPr>
              <a:t>남자</a:t>
            </a:r>
            <a:r>
              <a:rPr lang="ko-KR" altLang="en-US" dirty="0"/>
              <a:t>는 </a:t>
            </a:r>
            <a:r>
              <a:rPr lang="ko-KR" altLang="en-US" dirty="0">
                <a:solidFill>
                  <a:srgbClr val="0000FF"/>
                </a:solidFill>
              </a:rPr>
              <a:t>사람</a:t>
            </a:r>
            <a:r>
              <a:rPr lang="ko-KR" altLang="en-US" dirty="0"/>
              <a:t>이다</a:t>
            </a:r>
            <a:r>
              <a:rPr lang="en-US" altLang="ko-KR" dirty="0"/>
              <a:t>. Man </a:t>
            </a:r>
            <a:r>
              <a:rPr lang="en-US" altLang="ko-KR" dirty="0">
                <a:solidFill>
                  <a:srgbClr val="FF0000"/>
                </a:solidFill>
              </a:rPr>
              <a:t>is a</a:t>
            </a:r>
            <a:r>
              <a:rPr lang="en-US" altLang="ko-KR" dirty="0"/>
              <a:t> Human.</a:t>
            </a:r>
          </a:p>
          <a:p>
            <a:pPr lvl="1"/>
            <a:r>
              <a:rPr lang="en-US" altLang="ko-KR" dirty="0" err="1"/>
              <a:t>Cderived</a:t>
            </a:r>
            <a:r>
              <a:rPr lang="ko-KR" altLang="en-US" dirty="0"/>
              <a:t>는 </a:t>
            </a:r>
            <a:r>
              <a:rPr lang="en-US" altLang="ko-KR" dirty="0" err="1"/>
              <a:t>Cbase</a:t>
            </a:r>
            <a:r>
              <a:rPr lang="ko-KR" altLang="en-US" dirty="0"/>
              <a:t>이다</a:t>
            </a:r>
            <a:r>
              <a:rPr lang="en-US" altLang="ko-KR" dirty="0"/>
              <a:t>. </a:t>
            </a:r>
          </a:p>
          <a:p>
            <a:pPr lvl="1"/>
            <a:r>
              <a:rPr lang="ko-KR" altLang="en-US" dirty="0">
                <a:solidFill>
                  <a:srgbClr val="FF0000"/>
                </a:solidFill>
              </a:rPr>
              <a:t>왼쪽</a:t>
            </a:r>
            <a:r>
              <a:rPr lang="ko-KR" altLang="en-US" dirty="0"/>
              <a:t> 것은 </a:t>
            </a:r>
            <a:r>
              <a:rPr lang="ko-KR" altLang="en-US" dirty="0">
                <a:solidFill>
                  <a:srgbClr val="FF0000"/>
                </a:solidFill>
              </a:rPr>
              <a:t>오른쪽</a:t>
            </a:r>
            <a:r>
              <a:rPr lang="ko-KR" altLang="en-US" dirty="0"/>
              <a:t> 것이다</a:t>
            </a:r>
            <a:r>
              <a:rPr lang="en-US" altLang="ko-KR" dirty="0"/>
              <a:t>(</a:t>
            </a:r>
            <a:r>
              <a:rPr lang="ko-KR" altLang="en-US" dirty="0"/>
              <a:t>클래스 상속에서</a:t>
            </a:r>
            <a:r>
              <a:rPr lang="en-US" altLang="ko-KR" dirty="0"/>
              <a:t>).</a:t>
            </a:r>
          </a:p>
          <a:p>
            <a:pPr lvl="1"/>
            <a:r>
              <a:rPr lang="ko-KR" altLang="en-US" dirty="0">
                <a:solidFill>
                  <a:srgbClr val="FF0000"/>
                </a:solidFill>
              </a:rPr>
              <a:t>아래</a:t>
            </a:r>
            <a:r>
              <a:rPr lang="ko-KR" altLang="en-US" dirty="0"/>
              <a:t> 것은 </a:t>
            </a:r>
            <a:r>
              <a:rPr lang="ko-KR" altLang="en-US" dirty="0">
                <a:solidFill>
                  <a:srgbClr val="FF0000"/>
                </a:solidFill>
              </a:rPr>
              <a:t>위</a:t>
            </a:r>
            <a:r>
              <a:rPr lang="ko-KR" altLang="en-US" dirty="0"/>
              <a:t>의 것이다</a:t>
            </a:r>
            <a:r>
              <a:rPr lang="en-US" altLang="ko-KR" dirty="0"/>
              <a:t>(UML</a:t>
            </a:r>
            <a:r>
              <a:rPr lang="ko-KR" altLang="en-US" dirty="0"/>
              <a:t>에서</a:t>
            </a:r>
            <a:r>
              <a:rPr lang="en-US" altLang="ko-KR" dirty="0"/>
              <a:t>).</a:t>
            </a:r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r>
              <a:rPr lang="ko-KR" altLang="en-US" dirty="0"/>
              <a:t>특화</a:t>
            </a:r>
            <a:r>
              <a:rPr lang="en-US" altLang="ko-KR" dirty="0"/>
              <a:t>(specialization)</a:t>
            </a:r>
            <a:r>
              <a:rPr lang="ko-KR" altLang="en-US" dirty="0"/>
              <a:t>와 일반화</a:t>
            </a:r>
            <a:r>
              <a:rPr lang="en-US" altLang="ko-KR" dirty="0"/>
              <a:t>(generalization)</a:t>
            </a:r>
          </a:p>
          <a:p>
            <a:pPr>
              <a:buNone/>
            </a:pP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A4EE25-0C34-21E8-9FA4-D4ED52B06AF4}"/>
              </a:ext>
            </a:extLst>
          </p:cNvPr>
          <p:cNvSpPr txBox="1"/>
          <p:nvPr/>
        </p:nvSpPr>
        <p:spPr>
          <a:xfrm>
            <a:off x="6516216" y="859942"/>
            <a:ext cx="237626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class </a:t>
            </a:r>
            <a:r>
              <a:rPr lang="en-US" altLang="ko-KR" sz="1400" dirty="0">
                <a:solidFill>
                  <a:schemeClr val="accent2"/>
                </a:solidFill>
              </a:rPr>
              <a:t>Ellipse</a:t>
            </a:r>
            <a:r>
              <a:rPr lang="en-US" altLang="ko-KR" sz="1400" dirty="0"/>
              <a:t> : public Circle </a:t>
            </a:r>
          </a:p>
          <a:p>
            <a:r>
              <a:rPr lang="en-US" altLang="ko-KR" sz="1400" dirty="0"/>
              <a:t>{</a:t>
            </a:r>
          </a:p>
          <a:p>
            <a:endParaRPr lang="en-US" altLang="ko-KR" sz="1400" dirty="0"/>
          </a:p>
          <a:p>
            <a:r>
              <a:rPr lang="en-US" altLang="ko-KR" sz="1400" dirty="0"/>
              <a:t>}</a:t>
            </a:r>
            <a:endParaRPr lang="ko-KR" alt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40F7DC-F97C-5A46-B2C4-B34F0F4DF830}"/>
              </a:ext>
            </a:extLst>
          </p:cNvPr>
          <p:cNvSpPr txBox="1"/>
          <p:nvPr/>
        </p:nvSpPr>
        <p:spPr>
          <a:xfrm>
            <a:off x="6516216" y="1814049"/>
            <a:ext cx="237626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class </a:t>
            </a:r>
            <a:r>
              <a:rPr lang="en-US" altLang="ko-KR" sz="1400" dirty="0">
                <a:solidFill>
                  <a:schemeClr val="accent2"/>
                </a:solidFill>
              </a:rPr>
              <a:t>Man</a:t>
            </a:r>
            <a:r>
              <a:rPr lang="en-US" altLang="ko-KR" sz="1400" dirty="0"/>
              <a:t> : public Human</a:t>
            </a:r>
          </a:p>
          <a:p>
            <a:r>
              <a:rPr lang="en-US" altLang="ko-KR" sz="1400" dirty="0"/>
              <a:t>{</a:t>
            </a:r>
          </a:p>
          <a:p>
            <a:endParaRPr lang="en-US" altLang="ko-KR" sz="1400" dirty="0"/>
          </a:p>
          <a:p>
            <a:r>
              <a:rPr lang="en-US" altLang="ko-KR" sz="1400" dirty="0"/>
              <a:t>}</a:t>
            </a:r>
            <a:endParaRPr lang="ko-KR" alt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6AE774-A818-51FF-65EF-7158ABB1219F}"/>
              </a:ext>
            </a:extLst>
          </p:cNvPr>
          <p:cNvSpPr txBox="1"/>
          <p:nvPr/>
        </p:nvSpPr>
        <p:spPr>
          <a:xfrm>
            <a:off x="6516216" y="2768156"/>
            <a:ext cx="237626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class </a:t>
            </a:r>
            <a:r>
              <a:rPr lang="en-US" altLang="ko-KR" sz="1400" dirty="0">
                <a:solidFill>
                  <a:schemeClr val="accent2"/>
                </a:solidFill>
              </a:rPr>
              <a:t>Derived</a:t>
            </a:r>
            <a:r>
              <a:rPr lang="en-US" altLang="ko-KR" sz="1400" dirty="0"/>
              <a:t> : public Base</a:t>
            </a:r>
          </a:p>
          <a:p>
            <a:r>
              <a:rPr lang="en-US" altLang="ko-KR" sz="1400" dirty="0"/>
              <a:t>{</a:t>
            </a:r>
          </a:p>
          <a:p>
            <a:endParaRPr lang="en-US" altLang="ko-KR" sz="1400" dirty="0"/>
          </a:p>
          <a:p>
            <a:r>
              <a:rPr lang="en-US" altLang="ko-KR" sz="1400" dirty="0"/>
              <a:t>}</a:t>
            </a:r>
            <a:endParaRPr lang="ko-KR" altLang="en-US" sz="1400" dirty="0"/>
          </a:p>
        </p:txBody>
      </p:sp>
      <p:pic>
        <p:nvPicPr>
          <p:cNvPr id="1026" name="Picture 2" descr="Class Diagram Inheritance Example | 클래스 다이어그램 Template">
            <a:extLst>
              <a:ext uri="{FF2B5EF4-FFF2-40B4-BE49-F238E27FC236}">
                <a16:creationId xmlns:a16="http://schemas.microsoft.com/office/drawing/2014/main" id="{1045CD5A-FBA3-9008-C380-2F58CC253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8522" y="3722263"/>
            <a:ext cx="2723958" cy="1443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DE227A44-80AB-B349-D966-F0571B580B4F}"/>
              </a:ext>
            </a:extLst>
          </p:cNvPr>
          <p:cNvCxnSpPr>
            <a:cxnSpLocks/>
          </p:cNvCxnSpPr>
          <p:nvPr/>
        </p:nvCxnSpPr>
        <p:spPr>
          <a:xfrm>
            <a:off x="5123408" y="4107218"/>
            <a:ext cx="1368152" cy="274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MFC</a:t>
            </a:r>
            <a:r>
              <a:rPr lang="ko-KR" altLang="en-US" dirty="0"/>
              <a:t>와 가상함수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한 </a:t>
            </a:r>
            <a:r>
              <a:rPr lang="ko-KR" altLang="en-US" dirty="0" err="1"/>
              <a:t>줄짜리</a:t>
            </a:r>
            <a:r>
              <a:rPr lang="ko-KR" altLang="en-US" dirty="0"/>
              <a:t> 놀라운</a:t>
            </a:r>
            <a:r>
              <a:rPr lang="en-US" altLang="ko-KR" dirty="0"/>
              <a:t> MCF </a:t>
            </a:r>
            <a:r>
              <a:rPr lang="ko-KR" altLang="en-US" dirty="0"/>
              <a:t>프로그램 코드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lvl="1"/>
            <a:r>
              <a:rPr lang="ko-KR" altLang="en-US" dirty="0"/>
              <a:t>눈에 보이지 않는 코드는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코드가 마음에 들지 않으면</a:t>
            </a:r>
            <a:r>
              <a:rPr lang="en-US" altLang="ko-KR" dirty="0"/>
              <a:t>? </a:t>
            </a:r>
            <a:r>
              <a:rPr lang="ko-KR" altLang="en-US" dirty="0"/>
              <a:t>무엇인가를 표시하려면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6" name="Picture 5" descr="C:\Documents and Settings\Administrator\Local Settings\Temporary Internet Files\Content.IE5\ZJ9FV6BV\MCj03456810000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48264" y="4865132"/>
            <a:ext cx="928694" cy="785335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B621DEC-6953-BC8A-E5AD-B1B206C001E3}"/>
              </a:ext>
            </a:extLst>
          </p:cNvPr>
          <p:cNvSpPr txBox="1"/>
          <p:nvPr/>
        </p:nvSpPr>
        <p:spPr>
          <a:xfrm>
            <a:off x="1224136" y="2276872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0000FF"/>
                </a:solidFill>
              </a:rPr>
              <a:t>#include &lt;</a:t>
            </a:r>
            <a:r>
              <a:rPr lang="en-US" altLang="ko-KR" sz="2400" dirty="0" err="1">
                <a:solidFill>
                  <a:srgbClr val="0000FF"/>
                </a:solidFill>
              </a:rPr>
              <a:t>afxwin.h</a:t>
            </a:r>
            <a:r>
              <a:rPr lang="en-US" altLang="ko-KR" sz="2400" dirty="0">
                <a:solidFill>
                  <a:srgbClr val="0000FF"/>
                </a:solidFill>
              </a:rPr>
              <a:t>&gt;</a:t>
            </a:r>
          </a:p>
          <a:p>
            <a:r>
              <a:rPr lang="en-US" altLang="ko-KR" sz="2400" dirty="0" err="1">
                <a:solidFill>
                  <a:srgbClr val="0000FF"/>
                </a:solidFill>
              </a:rPr>
              <a:t>CWinApp</a:t>
            </a:r>
            <a:r>
              <a:rPr lang="en-US" altLang="ko-KR" sz="2400" dirty="0">
                <a:solidFill>
                  <a:srgbClr val="0000FF"/>
                </a:solidFill>
              </a:rPr>
              <a:t> </a:t>
            </a:r>
            <a:r>
              <a:rPr lang="en-US" altLang="ko-KR" sz="2400" dirty="0" err="1">
                <a:solidFill>
                  <a:srgbClr val="0000FF"/>
                </a:solidFill>
              </a:rPr>
              <a:t>gildong</a:t>
            </a:r>
            <a:r>
              <a:rPr lang="en-US" altLang="ko-KR" sz="2400" dirty="0">
                <a:solidFill>
                  <a:srgbClr val="0000FF"/>
                </a:solidFill>
              </a:rPr>
              <a:t>;</a:t>
            </a:r>
            <a:endParaRPr lang="ko-KR" altLang="en-US" sz="24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C1966711-E102-5C2A-F1DB-F2D3838D0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143" y="1124744"/>
            <a:ext cx="7485714" cy="5180952"/>
          </a:xfrm>
          <a:prstGeom prst="rect">
            <a:avLst/>
          </a:prstGeom>
        </p:spPr>
      </p:pic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3AF980D7-7F49-49AF-7F99-A4A85272F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4525963"/>
          </a:xfrm>
        </p:spPr>
        <p:txBody>
          <a:bodyPr/>
          <a:lstStyle/>
          <a:p>
            <a:r>
              <a:rPr lang="ko-KR" altLang="en-US" dirty="0"/>
              <a:t>프로젝트 </a:t>
            </a:r>
            <a:r>
              <a:rPr lang="en-US" altLang="ko-KR" dirty="0"/>
              <a:t>| </a:t>
            </a:r>
            <a:r>
              <a:rPr lang="ko-KR" altLang="en-US" dirty="0"/>
              <a:t>속성</a:t>
            </a:r>
          </a:p>
        </p:txBody>
      </p:sp>
    </p:spTree>
    <p:extLst>
      <p:ext uri="{BB962C8B-B14F-4D97-AF65-F5344CB8AC3E}">
        <p14:creationId xmlns:p14="http://schemas.microsoft.com/office/powerpoint/2010/main" val="5771594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2433B42-B47B-44EC-2E7A-D87D5EEB0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143" y="838524"/>
            <a:ext cx="7485714" cy="51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5489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115616" y="908720"/>
            <a:ext cx="691276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dirty="0"/>
              <a:t>#include &lt;</a:t>
            </a:r>
            <a:r>
              <a:rPr lang="en-US" altLang="ko-KR" sz="2400" dirty="0" err="1"/>
              <a:t>afxwin.h</a:t>
            </a:r>
            <a:r>
              <a:rPr lang="en-US" altLang="ko-KR" sz="2400" dirty="0"/>
              <a:t>&gt;</a:t>
            </a:r>
          </a:p>
          <a:p>
            <a:endParaRPr lang="ko-KR" altLang="en-US" sz="2400" dirty="0"/>
          </a:p>
          <a:p>
            <a:r>
              <a:rPr lang="en-US" altLang="ko-KR" sz="2400" dirty="0"/>
              <a:t>class </a:t>
            </a:r>
            <a:r>
              <a:rPr lang="en-US" altLang="ko-KR" sz="2400" dirty="0" err="1"/>
              <a:t>CDerived</a:t>
            </a:r>
            <a:r>
              <a:rPr lang="en-US" altLang="ko-KR" sz="2400" dirty="0"/>
              <a:t>  : public </a:t>
            </a:r>
            <a:r>
              <a:rPr lang="en-US" altLang="ko-KR" sz="2400" dirty="0" err="1">
                <a:solidFill>
                  <a:srgbClr val="0000FF"/>
                </a:solidFill>
              </a:rPr>
              <a:t>CWinApp</a:t>
            </a:r>
            <a:endParaRPr lang="en-US" altLang="ko-KR" sz="2400" dirty="0">
              <a:solidFill>
                <a:srgbClr val="0000FF"/>
              </a:solidFill>
            </a:endParaRPr>
          </a:p>
          <a:p>
            <a:r>
              <a:rPr lang="en-US" altLang="ko-KR" sz="2400" dirty="0"/>
              <a:t>{</a:t>
            </a:r>
          </a:p>
          <a:p>
            <a:pPr marL="85725"/>
            <a:r>
              <a:rPr lang="en-US" altLang="ko-KR" sz="2400" dirty="0"/>
              <a:t>public:</a:t>
            </a:r>
          </a:p>
          <a:p>
            <a:pPr marL="442913"/>
            <a:r>
              <a:rPr lang="en-US" altLang="ko-KR" sz="2400" dirty="0"/>
              <a:t>BOOL </a:t>
            </a:r>
            <a:r>
              <a:rPr lang="en-US" altLang="ko-KR" sz="2400" dirty="0" err="1">
                <a:solidFill>
                  <a:srgbClr val="0000FF"/>
                </a:solidFill>
              </a:rPr>
              <a:t>InitInstance</a:t>
            </a:r>
            <a:r>
              <a:rPr lang="en-US" altLang="ko-KR" sz="2400" dirty="0"/>
              <a:t>() {</a:t>
            </a:r>
          </a:p>
          <a:p>
            <a:pPr marL="985838"/>
            <a:r>
              <a:rPr lang="en-US" altLang="ko-KR" sz="2400" dirty="0" err="1"/>
              <a:t>AfxMessageBox</a:t>
            </a:r>
            <a:r>
              <a:rPr lang="en-US" altLang="ko-KR" sz="2400" dirty="0"/>
              <a:t>(_T("Hello, World!"));</a:t>
            </a:r>
          </a:p>
          <a:p>
            <a:pPr marL="985838"/>
            <a:r>
              <a:rPr lang="en-US" altLang="ko-KR" sz="2400" dirty="0"/>
              <a:t>return TRUE;</a:t>
            </a:r>
          </a:p>
          <a:p>
            <a:pPr marL="442913"/>
            <a:r>
              <a:rPr lang="en-US" altLang="ko-KR" sz="2400" dirty="0"/>
              <a:t>}</a:t>
            </a:r>
          </a:p>
          <a:p>
            <a:r>
              <a:rPr lang="en-US" altLang="ko-KR" sz="2400" dirty="0"/>
              <a:t>};</a:t>
            </a:r>
          </a:p>
          <a:p>
            <a:endParaRPr lang="ko-KR" altLang="en-US" sz="2400" dirty="0"/>
          </a:p>
          <a:p>
            <a:r>
              <a:rPr lang="en-US" altLang="ko-KR" sz="2400" dirty="0" err="1"/>
              <a:t>CDerived</a:t>
            </a:r>
            <a:r>
              <a:rPr lang="en-US" altLang="ko-KR" sz="2400" dirty="0"/>
              <a:t> </a:t>
            </a:r>
            <a:r>
              <a:rPr lang="en-US" altLang="ko-KR" sz="2400" dirty="0" err="1"/>
              <a:t>gildong</a:t>
            </a:r>
            <a:r>
              <a:rPr lang="en-US" altLang="ko-KR" sz="2400" dirty="0"/>
              <a:t>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274767-D65F-A793-7CCC-8D532C73AFE0}"/>
              </a:ext>
            </a:extLst>
          </p:cNvPr>
          <p:cNvSpPr txBox="1"/>
          <p:nvPr/>
        </p:nvSpPr>
        <p:spPr>
          <a:xfrm>
            <a:off x="4644008" y="1194132"/>
            <a:ext cx="1018227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2400">
                <a:solidFill>
                  <a:srgbClr val="FF0000"/>
                </a:solidFill>
              </a:rPr>
              <a:t>CBase</a:t>
            </a:r>
            <a:endParaRPr lang="ko-KR" altLang="en-US" sz="240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F23B75-07AC-FB27-0CE9-24ADB01242B1}"/>
              </a:ext>
            </a:extLst>
          </p:cNvPr>
          <p:cNvSpPr txBox="1"/>
          <p:nvPr/>
        </p:nvSpPr>
        <p:spPr>
          <a:xfrm>
            <a:off x="2483768" y="2348880"/>
            <a:ext cx="1747530" cy="44627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2300">
                <a:solidFill>
                  <a:srgbClr val="FF0000"/>
                </a:solidFill>
              </a:rPr>
              <a:t>WhoAreYou</a:t>
            </a:r>
            <a:endParaRPr lang="ko-KR" altLang="en-US" sz="2300">
              <a:solidFill>
                <a:srgbClr val="FF0000"/>
              </a:solidFill>
            </a:endParaRPr>
          </a:p>
        </p:txBody>
      </p:sp>
      <p:pic>
        <p:nvPicPr>
          <p:cNvPr id="6" name="_x139183888" descr="EMB00001030062c">
            <a:extLst>
              <a:ext uri="{FF2B5EF4-FFF2-40B4-BE49-F238E27FC236}">
                <a16:creationId xmlns:a16="http://schemas.microsoft.com/office/drawing/2014/main" id="{D5B05D76-7F8F-3F97-3318-1D96F930B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84168" y="4581128"/>
            <a:ext cx="1291176" cy="100013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가상함수와 응용 프레임워크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응용 프레임워크는 </a:t>
            </a:r>
            <a:endParaRPr lang="en-US" altLang="ko-KR" dirty="0"/>
          </a:p>
          <a:p>
            <a:pPr lvl="1"/>
            <a:r>
              <a:rPr lang="ko-KR" altLang="en-US" dirty="0"/>
              <a:t>한 줄짜리 프로그램에 숨겨져 있는</a:t>
            </a:r>
            <a:r>
              <a:rPr lang="en-US" altLang="ko-KR" dirty="0"/>
              <a:t>(!)</a:t>
            </a:r>
            <a:r>
              <a:rPr lang="ko-KR" altLang="en-US" dirty="0"/>
              <a:t> 거대한 코드 덩어리</a:t>
            </a:r>
            <a:endParaRPr lang="en-US" altLang="ko-KR" dirty="0"/>
          </a:p>
          <a:p>
            <a:pPr lvl="1"/>
            <a:r>
              <a:rPr lang="ko-KR" altLang="en-US" dirty="0"/>
              <a:t>가상함수 재정의로 응용 프레임워크 실행 흐름을 원하는 대로 바꿀 수 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</a:p>
        </p:txBody>
      </p:sp>
      <p:pic>
        <p:nvPicPr>
          <p:cNvPr id="5" name="Picture 5" descr="C:\Documents and Settings\Administrator\Local Settings\Temporary Internet Files\Content.IE5\ZJ9FV6BV\MCj03456810000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86644" y="4429132"/>
            <a:ext cx="928694" cy="785335"/>
          </a:xfrm>
          <a:prstGeom prst="rect">
            <a:avLst/>
          </a:prstGeom>
          <a:noFill/>
        </p:spPr>
      </p:pic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5601" name="_x139183728" descr="EMB00001030063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85852" y="4369755"/>
            <a:ext cx="1645857" cy="1916765"/>
          </a:xfrm>
          <a:prstGeom prst="rect">
            <a:avLst/>
          </a:prstGeom>
          <a:noFill/>
        </p:spPr>
      </p:pic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5603" name="_x139183408" descr="EMB00001030063a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57620" y="4392555"/>
            <a:ext cx="2714644" cy="191676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가상함수와 응용 프레임워크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가상함수 포인터 테이블</a:t>
            </a:r>
          </a:p>
        </p:txBody>
      </p:sp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8" name="Picture 5" descr="C:\Documents and Settings\Administrator\Local Settings\Temporary Internet Files\Content.IE5\ZJ9FV6BV\MCj03456810000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49599" y="4470493"/>
            <a:ext cx="928694" cy="785335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65322F-DCE1-4979-CF8B-0B480A486053}"/>
              </a:ext>
            </a:extLst>
          </p:cNvPr>
          <p:cNvSpPr txBox="1"/>
          <p:nvPr/>
        </p:nvSpPr>
        <p:spPr>
          <a:xfrm>
            <a:off x="1982907" y="3354056"/>
            <a:ext cx="720080" cy="276999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/>
              <a:t>vtptr</a:t>
            </a:r>
            <a:endParaRPr lang="ko-KR" altLang="en-US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03C72DA-CE82-D077-229F-7D045CC9DB65}"/>
              </a:ext>
            </a:extLst>
          </p:cNvPr>
          <p:cNvSpPr/>
          <p:nvPr/>
        </p:nvSpPr>
        <p:spPr>
          <a:xfrm>
            <a:off x="1766883" y="2922132"/>
            <a:ext cx="1152128" cy="840509"/>
          </a:xfrm>
          <a:prstGeom prst="roundRect">
            <a:avLst>
              <a:gd name="adj" fmla="val 3947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51F52E-5C56-2D30-8BD5-903E9EAE5EEE}"/>
              </a:ext>
            </a:extLst>
          </p:cNvPr>
          <p:cNvSpPr txBox="1"/>
          <p:nvPr/>
        </p:nvSpPr>
        <p:spPr>
          <a:xfrm>
            <a:off x="1979712" y="2636912"/>
            <a:ext cx="7232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/>
              <a:t>gildong</a:t>
            </a:r>
            <a:endParaRPr lang="ko-KR" alt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A3D4FA-1C34-E77F-9C25-054D592B040F}"/>
              </a:ext>
            </a:extLst>
          </p:cNvPr>
          <p:cNvSpPr txBox="1"/>
          <p:nvPr/>
        </p:nvSpPr>
        <p:spPr>
          <a:xfrm>
            <a:off x="3652630" y="3287660"/>
            <a:ext cx="1152128" cy="230832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err="1"/>
              <a:t>WhoAreYou</a:t>
            </a:r>
            <a:r>
              <a:rPr lang="ko-KR" altLang="en-US" sz="900" dirty="0"/>
              <a:t> 주소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160DF1-5603-31A9-6F10-6262BF9B9DF0}"/>
              </a:ext>
            </a:extLst>
          </p:cNvPr>
          <p:cNvSpPr txBox="1"/>
          <p:nvPr/>
        </p:nvSpPr>
        <p:spPr>
          <a:xfrm>
            <a:off x="5538376" y="2924756"/>
            <a:ext cx="1553903" cy="230832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/>
              <a:t>Base::</a:t>
            </a:r>
            <a:r>
              <a:rPr lang="en-US" altLang="ko-KR" sz="900" dirty="0" err="1"/>
              <a:t>WhoAreYou</a:t>
            </a:r>
            <a:endParaRPr lang="ko-KR" altLang="en-US" sz="900" dirty="0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C9CE9EA0-5625-A339-9F14-C75601F57C11}"/>
              </a:ext>
            </a:extLst>
          </p:cNvPr>
          <p:cNvCxnSpPr>
            <a:stCxn id="4" idx="3"/>
            <a:endCxn id="17" idx="1"/>
          </p:cNvCxnSpPr>
          <p:nvPr/>
        </p:nvCxnSpPr>
        <p:spPr>
          <a:xfrm flipV="1">
            <a:off x="2702987" y="3403076"/>
            <a:ext cx="949643" cy="89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321972E0-B949-4BCC-9F50-C332680BEB24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 flipV="1">
            <a:off x="4804758" y="3040172"/>
            <a:ext cx="733618" cy="362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768E8E1-797A-1500-0216-084960351AD7}"/>
              </a:ext>
            </a:extLst>
          </p:cNvPr>
          <p:cNvSpPr txBox="1"/>
          <p:nvPr/>
        </p:nvSpPr>
        <p:spPr>
          <a:xfrm>
            <a:off x="1982907" y="4920137"/>
            <a:ext cx="720080" cy="276999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/>
              <a:t>vtptr</a:t>
            </a:r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B5B5D1CF-D85E-8F08-5AB6-A6F9B378A1C0}"/>
              </a:ext>
            </a:extLst>
          </p:cNvPr>
          <p:cNvSpPr/>
          <p:nvPr/>
        </p:nvSpPr>
        <p:spPr>
          <a:xfrm>
            <a:off x="1766883" y="4488213"/>
            <a:ext cx="1152128" cy="840509"/>
          </a:xfrm>
          <a:prstGeom prst="roundRect">
            <a:avLst>
              <a:gd name="adj" fmla="val 3947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9747649-3173-57AA-A9E5-C74F65B7BE85}"/>
              </a:ext>
            </a:extLst>
          </p:cNvPr>
          <p:cNvSpPr txBox="1"/>
          <p:nvPr/>
        </p:nvSpPr>
        <p:spPr>
          <a:xfrm>
            <a:off x="1979712" y="4202993"/>
            <a:ext cx="7232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/>
              <a:t>gildong</a:t>
            </a:r>
            <a:endParaRPr lang="ko-KR" altLang="en-US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837EE9-9ED6-DACF-F80E-EFBB88D86A36}"/>
              </a:ext>
            </a:extLst>
          </p:cNvPr>
          <p:cNvSpPr txBox="1"/>
          <p:nvPr/>
        </p:nvSpPr>
        <p:spPr>
          <a:xfrm>
            <a:off x="3652630" y="4853741"/>
            <a:ext cx="1152128" cy="230832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err="1"/>
              <a:t>WhoAreYou</a:t>
            </a:r>
            <a:r>
              <a:rPr lang="ko-KR" altLang="en-US" sz="900" dirty="0"/>
              <a:t> 주소</a:t>
            </a: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4E94A34B-D7EA-B270-9C14-B7B9261A8779}"/>
              </a:ext>
            </a:extLst>
          </p:cNvPr>
          <p:cNvCxnSpPr>
            <a:stCxn id="24" idx="3"/>
            <a:endCxn id="27" idx="1"/>
          </p:cNvCxnSpPr>
          <p:nvPr/>
        </p:nvCxnSpPr>
        <p:spPr>
          <a:xfrm flipV="1">
            <a:off x="2702987" y="4969157"/>
            <a:ext cx="949643" cy="89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4CE59BF6-E99B-0945-05AA-8F01A44A79E9}"/>
              </a:ext>
            </a:extLst>
          </p:cNvPr>
          <p:cNvCxnSpPr>
            <a:cxnSpLocks/>
            <a:stCxn id="27" idx="3"/>
            <a:endCxn id="36" idx="1"/>
          </p:cNvCxnSpPr>
          <p:nvPr/>
        </p:nvCxnSpPr>
        <p:spPr>
          <a:xfrm>
            <a:off x="4804758" y="4969157"/>
            <a:ext cx="733618" cy="94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3388E00-0E98-6249-8AEF-24D338AFC3BE}"/>
              </a:ext>
            </a:extLst>
          </p:cNvPr>
          <p:cNvSpPr txBox="1"/>
          <p:nvPr/>
        </p:nvSpPr>
        <p:spPr>
          <a:xfrm>
            <a:off x="5538376" y="4560087"/>
            <a:ext cx="1553903" cy="230832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/>
              <a:t>Base::</a:t>
            </a:r>
            <a:r>
              <a:rPr lang="en-US" altLang="ko-KR" sz="900" dirty="0" err="1"/>
              <a:t>WhoAreYou</a:t>
            </a:r>
            <a:endParaRPr lang="ko-KR" altLang="en-US" sz="9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2120EED-17AD-EFD9-4D4E-08771F38876F}"/>
              </a:ext>
            </a:extLst>
          </p:cNvPr>
          <p:cNvSpPr txBox="1"/>
          <p:nvPr/>
        </p:nvSpPr>
        <p:spPr>
          <a:xfrm>
            <a:off x="5538376" y="4863160"/>
            <a:ext cx="1553903" cy="230832"/>
          </a:xfrm>
          <a:prstGeom prst="rect">
            <a:avLst/>
          </a:prstGeom>
          <a:solidFill>
            <a:schemeClr val="accent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/>
              <a:t>Derived::</a:t>
            </a:r>
            <a:r>
              <a:rPr lang="en-US" altLang="ko-KR" sz="900" dirty="0" err="1"/>
              <a:t>WhoAreYou</a:t>
            </a:r>
            <a:endParaRPr lang="ko-KR" altLang="en-US" sz="9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0A24CC-2EBF-EBA3-11C7-9C06CEBB99C7}"/>
              </a:ext>
            </a:extLst>
          </p:cNvPr>
          <p:cNvSpPr txBox="1"/>
          <p:nvPr/>
        </p:nvSpPr>
        <p:spPr>
          <a:xfrm>
            <a:off x="3652630" y="3527876"/>
            <a:ext cx="149543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>
                <a:solidFill>
                  <a:srgbClr val="FF0000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가상함수 포인터 테이블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9F0895-BF6B-F371-9179-D1E757CFB89B}"/>
              </a:ext>
            </a:extLst>
          </p:cNvPr>
          <p:cNvSpPr txBox="1"/>
          <p:nvPr/>
        </p:nvSpPr>
        <p:spPr>
          <a:xfrm>
            <a:off x="3652629" y="5085764"/>
            <a:ext cx="149543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>
                <a:solidFill>
                  <a:srgbClr val="FF0000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가상함수 포인터 테이블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 </a:t>
            </a:r>
            <a:r>
              <a:rPr lang="ko-KR" altLang="en-US" dirty="0"/>
              <a:t>코드 분할 및 정리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Lib.h</a:t>
            </a:r>
            <a:endParaRPr lang="en-US" altLang="ko-KR" dirty="0"/>
          </a:p>
          <a:p>
            <a:pPr lvl="1"/>
            <a:r>
              <a:rPr lang="en-US" altLang="ko-KR" dirty="0" err="1"/>
              <a:t>CBase</a:t>
            </a:r>
            <a:r>
              <a:rPr lang="en-US" altLang="ko-KR" dirty="0"/>
              <a:t> </a:t>
            </a:r>
            <a:r>
              <a:rPr lang="ko-KR" altLang="en-US" dirty="0"/>
              <a:t>클래스</a:t>
            </a:r>
            <a:endParaRPr lang="en-US" altLang="ko-KR" dirty="0"/>
          </a:p>
          <a:p>
            <a:r>
              <a:rPr lang="en-US" altLang="ko-KR" dirty="0"/>
              <a:t>Lib.cpp</a:t>
            </a:r>
          </a:p>
          <a:p>
            <a:pPr lvl="1"/>
            <a:r>
              <a:rPr lang="en-US" altLang="ko-KR" dirty="0"/>
              <a:t>main</a:t>
            </a:r>
          </a:p>
          <a:p>
            <a:pPr lvl="1"/>
            <a:r>
              <a:rPr lang="en-US" altLang="ko-KR" dirty="0" err="1"/>
              <a:t>AfxGetApp</a:t>
            </a:r>
            <a:endParaRPr lang="en-US" altLang="ko-KR" dirty="0"/>
          </a:p>
          <a:p>
            <a:r>
              <a:rPr lang="en-US" altLang="ko-KR" dirty="0"/>
              <a:t>My.cpp</a:t>
            </a:r>
          </a:p>
          <a:p>
            <a:pPr lvl="1"/>
            <a:r>
              <a:rPr lang="ko-KR" altLang="en-US" dirty="0"/>
              <a:t>한 줄짜리 코드 </a:t>
            </a:r>
            <a:r>
              <a:rPr lang="en-US" altLang="ko-KR" dirty="0"/>
              <a:t>(</a:t>
            </a:r>
            <a:r>
              <a:rPr lang="ko-KR" altLang="en-US" dirty="0"/>
              <a:t>객체 정의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4" name="Picture 5" descr="C:\Documents and Settings\Administrator\Local Settings\Temporary Internet Files\Content.IE5\ZJ9FV6BV\MCj03456810000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86644" y="4429132"/>
            <a:ext cx="928694" cy="78533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MFC </a:t>
            </a:r>
            <a:r>
              <a:rPr lang="ko-KR" altLang="en-US" dirty="0"/>
              <a:t>라이브러리 이용하기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MFC </a:t>
            </a:r>
            <a:r>
              <a:rPr lang="ko-KR" altLang="en-US" dirty="0"/>
              <a:t>라이브러리에 이미 있는 코드들</a:t>
            </a:r>
            <a:endParaRPr lang="en-US" altLang="ko-KR" dirty="0"/>
          </a:p>
          <a:p>
            <a:pPr lvl="1"/>
            <a:r>
              <a:rPr lang="en-US" altLang="ko-KR" dirty="0" err="1"/>
              <a:t>CWinApp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/>
              <a:t>main</a:t>
            </a:r>
          </a:p>
          <a:p>
            <a:pPr lvl="1"/>
            <a:r>
              <a:rPr lang="en-US" altLang="ko-KR" dirty="0" err="1"/>
              <a:t>AfxGetApp</a:t>
            </a:r>
            <a:endParaRPr lang="en-US" altLang="ko-KR" dirty="0"/>
          </a:p>
          <a:p>
            <a:r>
              <a:rPr lang="ko-KR" altLang="en-US" dirty="0"/>
              <a:t>프로젝트 속성 설정하기</a:t>
            </a:r>
            <a:endParaRPr lang="en-US" altLang="ko-KR" dirty="0"/>
          </a:p>
        </p:txBody>
      </p:sp>
      <p:pic>
        <p:nvPicPr>
          <p:cNvPr id="4" name="Picture 5" descr="C:\Documents and Settings\Administrator\Local Settings\Temporary Internet Files\Content.IE5\ZJ9FV6BV\MCj03456810000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86644" y="4429132"/>
            <a:ext cx="928694" cy="78533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33D313-7EF6-F6FA-3084-88B256C3B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 Visual C++ </a:t>
            </a:r>
            <a:r>
              <a:rPr lang="ko-KR" altLang="en-US" dirty="0"/>
              <a:t>프로그래밍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CF762E-ED60-E51A-7F5B-81B24CF8C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MFC</a:t>
            </a:r>
            <a:r>
              <a:rPr lang="ko-KR" altLang="en-US" sz="2400" dirty="0"/>
              <a:t> 라이브러리 </a:t>
            </a:r>
            <a:r>
              <a:rPr lang="en-US" altLang="ko-KR" sz="2400" dirty="0"/>
              <a:t>+ </a:t>
            </a:r>
            <a:r>
              <a:rPr lang="ko-KR" altLang="en-US" sz="2400" dirty="0"/>
              <a:t>코드 생성 마법사</a:t>
            </a: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프로젝트</a:t>
            </a:r>
            <a:r>
              <a:rPr lang="en-US" altLang="ko-KR" sz="2400" dirty="0"/>
              <a:t> | </a:t>
            </a:r>
            <a:r>
              <a:rPr lang="ko-KR" altLang="en-US" sz="2400" dirty="0"/>
              <a:t>클래스</a:t>
            </a:r>
            <a:r>
              <a:rPr lang="en-US" altLang="ko-KR" sz="2400" dirty="0"/>
              <a:t> </a:t>
            </a:r>
            <a:r>
              <a:rPr lang="ko-KR" altLang="en-US" sz="2400" dirty="0"/>
              <a:t>마법사 선택</a:t>
            </a:r>
            <a:endParaRPr lang="en-US" altLang="ko-KR" sz="2400" dirty="0"/>
          </a:p>
          <a:p>
            <a:r>
              <a:rPr lang="en-US" altLang="ko-KR" sz="2400" dirty="0" err="1"/>
              <a:t>MainFrame</a:t>
            </a:r>
            <a:r>
              <a:rPr lang="en-US" altLang="ko-KR" sz="2400" dirty="0"/>
              <a:t> </a:t>
            </a:r>
            <a:r>
              <a:rPr lang="ko-KR" altLang="en-US" sz="2400" dirty="0"/>
              <a:t>클래스 선택</a:t>
            </a:r>
            <a:r>
              <a:rPr lang="en-US" altLang="ko-KR" sz="2400" dirty="0"/>
              <a:t>, </a:t>
            </a:r>
            <a:r>
              <a:rPr lang="ko-KR" altLang="en-US" sz="2400" dirty="0"/>
              <a:t>가상함수 탭 선택</a:t>
            </a:r>
            <a:r>
              <a:rPr lang="en-US" altLang="ko-KR" sz="2400" dirty="0"/>
              <a:t>, </a:t>
            </a:r>
            <a:r>
              <a:rPr lang="en-US" altLang="ko-KR" sz="2400" dirty="0" err="1"/>
              <a:t>ActivateFrame</a:t>
            </a:r>
            <a:r>
              <a:rPr lang="en-US" altLang="ko-KR" sz="2400" dirty="0"/>
              <a:t> </a:t>
            </a:r>
            <a:r>
              <a:rPr lang="ko-KR" altLang="en-US" sz="2400" dirty="0"/>
              <a:t>멤버함수 </a:t>
            </a:r>
            <a:r>
              <a:rPr lang="ko-KR" altLang="en-US" sz="2400" dirty="0" err="1"/>
              <a:t>오버라이딩</a:t>
            </a:r>
            <a:r>
              <a:rPr lang="ko-KR" altLang="en-US" sz="2400" dirty="0"/>
              <a:t> 후 아래 코드</a:t>
            </a:r>
            <a:endParaRPr lang="en-US" altLang="ko-KR" sz="2400" dirty="0"/>
          </a:p>
          <a:p>
            <a:endParaRPr lang="en-US" altLang="ko-KR" sz="2400" dirty="0"/>
          </a:p>
          <a:p>
            <a:endParaRPr lang="ko-KR" altLang="en-US" sz="2400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515FE7E7-A5A7-1DDD-14C3-7A6D6F5A518F}"/>
              </a:ext>
            </a:extLst>
          </p:cNvPr>
          <p:cNvSpPr txBox="1">
            <a:spLocks/>
          </p:cNvSpPr>
          <p:nvPr/>
        </p:nvSpPr>
        <p:spPr>
          <a:xfrm>
            <a:off x="827584" y="2060848"/>
            <a:ext cx="6491064" cy="1642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8288" indent="-268288">
              <a:buFont typeface="+mj-lt"/>
              <a:buAutoNum type="arabicPeriod"/>
            </a:pPr>
            <a:r>
              <a:rPr lang="en-US" altLang="ko-KR" sz="1800" dirty="0">
                <a:solidFill>
                  <a:srgbClr val="0000FF"/>
                </a:solidFill>
              </a:rPr>
              <a:t>Visual Studio Installer </a:t>
            </a:r>
            <a:r>
              <a:rPr lang="ko-KR" altLang="en-US" sz="1800" dirty="0">
                <a:solidFill>
                  <a:srgbClr val="0000FF"/>
                </a:solidFill>
              </a:rPr>
              <a:t>실행 </a:t>
            </a:r>
            <a:r>
              <a:rPr lang="en-US" altLang="ko-KR" sz="1800" dirty="0">
                <a:solidFill>
                  <a:srgbClr val="0000FF"/>
                </a:solidFill>
              </a:rPr>
              <a:t>| ‘</a:t>
            </a:r>
            <a:r>
              <a:rPr lang="ko-KR" altLang="en-US" sz="1800" dirty="0">
                <a:solidFill>
                  <a:srgbClr val="0000FF"/>
                </a:solidFill>
              </a:rPr>
              <a:t>수정</a:t>
            </a:r>
            <a:r>
              <a:rPr lang="en-US" altLang="ko-KR" sz="1800" dirty="0">
                <a:solidFill>
                  <a:srgbClr val="0000FF"/>
                </a:solidFill>
              </a:rPr>
              <a:t>’ </a:t>
            </a:r>
            <a:r>
              <a:rPr lang="ko-KR" altLang="en-US" sz="1800" dirty="0">
                <a:solidFill>
                  <a:srgbClr val="0000FF"/>
                </a:solidFill>
              </a:rPr>
              <a:t>버튼 클릭</a:t>
            </a:r>
            <a:endParaRPr lang="en-US" altLang="ko-KR" sz="1800" dirty="0">
              <a:solidFill>
                <a:srgbClr val="0000FF"/>
              </a:solidFill>
            </a:endParaRPr>
          </a:p>
          <a:p>
            <a:pPr marL="268288" indent="-268288">
              <a:buFont typeface="+mj-lt"/>
              <a:buAutoNum type="arabicPeriod"/>
            </a:pPr>
            <a:r>
              <a:rPr lang="ko-KR" altLang="en-US" sz="1800" dirty="0">
                <a:solidFill>
                  <a:srgbClr val="0000FF"/>
                </a:solidFill>
              </a:rPr>
              <a:t>오른쪽 </a:t>
            </a:r>
            <a:r>
              <a:rPr lang="en-US" altLang="ko-KR" sz="1800" dirty="0">
                <a:solidFill>
                  <a:srgbClr val="0000FF"/>
                </a:solidFill>
              </a:rPr>
              <a:t>‘</a:t>
            </a:r>
            <a:r>
              <a:rPr lang="ko-KR" altLang="en-US" sz="1800" dirty="0">
                <a:solidFill>
                  <a:srgbClr val="0000FF"/>
                </a:solidFill>
              </a:rPr>
              <a:t>설치 세부 정보</a:t>
            </a:r>
            <a:r>
              <a:rPr lang="en-US" altLang="ko-KR" sz="1800" dirty="0">
                <a:solidFill>
                  <a:srgbClr val="0000FF"/>
                </a:solidFill>
              </a:rPr>
              <a:t>’</a:t>
            </a:r>
            <a:r>
              <a:rPr lang="ko-KR" altLang="en-US" sz="1800" dirty="0">
                <a:solidFill>
                  <a:srgbClr val="0000FF"/>
                </a:solidFill>
              </a:rPr>
              <a:t>에서 </a:t>
            </a:r>
            <a:r>
              <a:rPr lang="en-US" altLang="ko-KR" sz="1800" dirty="0">
                <a:solidFill>
                  <a:srgbClr val="0000FF"/>
                </a:solidFill>
              </a:rPr>
              <a:t>x64/x86</a:t>
            </a:r>
            <a:r>
              <a:rPr lang="ko-KR" altLang="en-US" sz="1800" dirty="0">
                <a:solidFill>
                  <a:srgbClr val="0000FF"/>
                </a:solidFill>
              </a:rPr>
              <a:t>용 </a:t>
            </a:r>
            <a:r>
              <a:rPr lang="en-US" altLang="ko-KR" sz="1800" dirty="0">
                <a:solidFill>
                  <a:srgbClr val="0000FF"/>
                </a:solidFill>
              </a:rPr>
              <a:t>C++ MFC</a:t>
            </a:r>
            <a:r>
              <a:rPr lang="ko-KR" altLang="en-US" sz="1800" dirty="0">
                <a:solidFill>
                  <a:srgbClr val="0000FF"/>
                </a:solidFill>
              </a:rPr>
              <a:t> 선택</a:t>
            </a:r>
            <a:endParaRPr lang="en-US" altLang="ko-KR" sz="1800" dirty="0">
              <a:solidFill>
                <a:srgbClr val="0000FF"/>
              </a:solidFill>
            </a:endParaRPr>
          </a:p>
          <a:p>
            <a:pPr marL="268288" indent="-268288">
              <a:buFont typeface="+mj-lt"/>
              <a:buAutoNum type="arabicPeriod"/>
            </a:pPr>
            <a:r>
              <a:rPr lang="ko-KR" altLang="en-US" sz="1800" dirty="0">
                <a:solidFill>
                  <a:srgbClr val="0000FF"/>
                </a:solidFill>
              </a:rPr>
              <a:t>오른쪽 맨 아래 </a:t>
            </a:r>
            <a:r>
              <a:rPr lang="en-US" altLang="ko-KR" sz="1800" dirty="0">
                <a:solidFill>
                  <a:srgbClr val="0000FF"/>
                </a:solidFill>
              </a:rPr>
              <a:t>‘</a:t>
            </a:r>
            <a:r>
              <a:rPr lang="ko-KR" altLang="en-US" sz="1800" dirty="0">
                <a:solidFill>
                  <a:srgbClr val="0000FF"/>
                </a:solidFill>
              </a:rPr>
              <a:t>수정</a:t>
            </a:r>
            <a:r>
              <a:rPr lang="en-US" altLang="ko-KR" sz="1800" dirty="0">
                <a:solidFill>
                  <a:srgbClr val="0000FF"/>
                </a:solidFill>
              </a:rPr>
              <a:t>’ </a:t>
            </a:r>
            <a:r>
              <a:rPr lang="ko-KR" altLang="en-US" sz="1800" dirty="0">
                <a:solidFill>
                  <a:srgbClr val="0000FF"/>
                </a:solidFill>
              </a:rPr>
              <a:t>버튼 클릭</a:t>
            </a:r>
            <a:endParaRPr lang="en-US" altLang="ko-KR" sz="1800" dirty="0">
              <a:solidFill>
                <a:srgbClr val="0000FF"/>
              </a:solidFill>
            </a:endParaRPr>
          </a:p>
          <a:p>
            <a:pPr marL="268288" indent="-268288">
              <a:buFont typeface="+mj-lt"/>
              <a:buAutoNum type="arabicPeriod"/>
            </a:pPr>
            <a:r>
              <a:rPr lang="ko-KR" altLang="en-US" sz="1800" dirty="0">
                <a:solidFill>
                  <a:srgbClr val="0000FF"/>
                </a:solidFill>
              </a:rPr>
              <a:t>비주얼 스튜디오 실행 </a:t>
            </a:r>
            <a:r>
              <a:rPr lang="en-US" altLang="ko-KR" sz="1800" dirty="0">
                <a:solidFill>
                  <a:srgbClr val="0000FF"/>
                </a:solidFill>
              </a:rPr>
              <a:t>| ‘MFC </a:t>
            </a:r>
            <a:r>
              <a:rPr lang="ko-KR" altLang="en-US" sz="1800" dirty="0">
                <a:solidFill>
                  <a:srgbClr val="0000FF"/>
                </a:solidFill>
              </a:rPr>
              <a:t>앱</a:t>
            </a:r>
            <a:r>
              <a:rPr lang="en-US" altLang="ko-KR" sz="1800" dirty="0">
                <a:solidFill>
                  <a:srgbClr val="0000FF"/>
                </a:solidFill>
              </a:rPr>
              <a:t>’ </a:t>
            </a:r>
            <a:r>
              <a:rPr lang="ko-KR" altLang="en-US" sz="1800" dirty="0">
                <a:solidFill>
                  <a:srgbClr val="0000FF"/>
                </a:solidFill>
              </a:rPr>
              <a:t>프로젝트</a:t>
            </a:r>
            <a:r>
              <a:rPr lang="en-US" altLang="ko-KR" sz="1800" dirty="0">
                <a:solidFill>
                  <a:srgbClr val="0000FF"/>
                </a:solidFill>
              </a:rPr>
              <a:t> </a:t>
            </a:r>
            <a:r>
              <a:rPr lang="ko-KR" altLang="en-US" sz="1800" dirty="0">
                <a:solidFill>
                  <a:srgbClr val="0000FF"/>
                </a:solidFill>
              </a:rPr>
              <a:t>선택</a:t>
            </a:r>
            <a:endParaRPr lang="en-US" altLang="ko-KR" sz="1800" dirty="0">
              <a:solidFill>
                <a:srgbClr val="0000FF"/>
              </a:solidFill>
            </a:endParaRPr>
          </a:p>
          <a:p>
            <a:pPr marL="268288" indent="-268288">
              <a:buFont typeface="+mj-lt"/>
              <a:buAutoNum type="arabicPeriod"/>
            </a:pPr>
            <a:endParaRPr lang="ko-KR" altLang="en-US" sz="1800" dirty="0">
              <a:solidFill>
                <a:srgbClr val="0000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8129BE-B24B-9342-FF9B-1F16A7403932}"/>
              </a:ext>
            </a:extLst>
          </p:cNvPr>
          <p:cNvSpPr txBox="1"/>
          <p:nvPr/>
        </p:nvSpPr>
        <p:spPr>
          <a:xfrm>
            <a:off x="971600" y="4891005"/>
            <a:ext cx="77152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//1. </a:t>
            </a:r>
            <a:r>
              <a:rPr lang="ko-KR" altLang="en-US" sz="1100" dirty="0"/>
              <a:t>처음 실행될 때</a:t>
            </a:r>
            <a:r>
              <a:rPr lang="en-US" altLang="ko-KR" sz="1100" dirty="0"/>
              <a:t>(</a:t>
            </a:r>
            <a:r>
              <a:rPr lang="en-US" altLang="ko-KR" sz="1100" dirty="0" err="1"/>
              <a:t>nCmdShow</a:t>
            </a:r>
            <a:r>
              <a:rPr lang="ko-KR" altLang="en-US" sz="1100" dirty="0"/>
              <a:t>가 </a:t>
            </a:r>
            <a:r>
              <a:rPr lang="en-US" altLang="ko-KR" sz="1100" dirty="0"/>
              <a:t>-1) </a:t>
            </a:r>
            <a:r>
              <a:rPr lang="ko-KR" altLang="en-US" sz="1100" dirty="0"/>
              <a:t>창 상태를 </a:t>
            </a:r>
            <a:r>
              <a:rPr lang="ko-KR" altLang="en-US" sz="1100" dirty="0" err="1"/>
              <a:t>노멀로</a:t>
            </a:r>
            <a:r>
              <a:rPr lang="ko-KR" altLang="en-US" sz="1100" dirty="0"/>
              <a:t> 강제 설정</a:t>
            </a:r>
          </a:p>
          <a:p>
            <a:r>
              <a:rPr lang="en-US" altLang="ko-KR" sz="1100" dirty="0"/>
              <a:t>if (</a:t>
            </a:r>
            <a:r>
              <a:rPr lang="en-US" altLang="ko-KR" sz="1100" dirty="0" err="1"/>
              <a:t>nCmdShow</a:t>
            </a:r>
            <a:r>
              <a:rPr lang="en-US" altLang="ko-KR" sz="1100" dirty="0"/>
              <a:t> == -1) </a:t>
            </a:r>
          </a:p>
          <a:p>
            <a:r>
              <a:rPr lang="en-US" altLang="ko-KR" sz="1100" dirty="0"/>
              <a:t>{</a:t>
            </a:r>
          </a:p>
          <a:p>
            <a:r>
              <a:rPr lang="en-US" altLang="ko-KR" sz="1100" dirty="0"/>
              <a:t>    </a:t>
            </a:r>
            <a:r>
              <a:rPr lang="en-US" altLang="ko-KR" sz="1100" dirty="0" err="1"/>
              <a:t>nCmdShow</a:t>
            </a:r>
            <a:r>
              <a:rPr lang="en-US" altLang="ko-KR" sz="1100" dirty="0"/>
              <a:t> = SW_SHOWNORMAL;</a:t>
            </a:r>
          </a:p>
          <a:p>
            <a:r>
              <a:rPr lang="en-US" altLang="ko-KR" sz="1100" dirty="0"/>
              <a:t>}</a:t>
            </a:r>
          </a:p>
          <a:p>
            <a:endParaRPr lang="en-US" altLang="ko-KR" sz="1100" dirty="0"/>
          </a:p>
          <a:p>
            <a:r>
              <a:rPr lang="en-US" altLang="ko-KR" sz="1100" dirty="0"/>
              <a:t>// 2. </a:t>
            </a:r>
            <a:r>
              <a:rPr lang="ko-KR" altLang="en-US" sz="1100" dirty="0"/>
              <a:t>원하는 크기로 윈도우 위치</a:t>
            </a:r>
            <a:r>
              <a:rPr lang="en-US" altLang="ko-KR" sz="1100" dirty="0"/>
              <a:t>/</a:t>
            </a:r>
            <a:r>
              <a:rPr lang="ko-KR" altLang="en-US" sz="1100" dirty="0"/>
              <a:t>크기 조정 </a:t>
            </a:r>
            <a:r>
              <a:rPr lang="en-US" altLang="ko-KR" sz="1100" dirty="0"/>
              <a:t>(500x700)</a:t>
            </a:r>
          </a:p>
          <a:p>
            <a:r>
              <a:rPr lang="en-US" altLang="ko-KR" sz="1100" dirty="0" err="1"/>
              <a:t>SetWindowPos</a:t>
            </a:r>
            <a:r>
              <a:rPr lang="en-US" altLang="ko-KR" sz="1100" dirty="0"/>
              <a:t>(NULL, 0, 0, 500, 700, SWP_NOMOVE | SWP_NOZORDER | SWP_ACTIVATE);</a:t>
            </a:r>
            <a:endParaRPr lang="ko-KR" altLang="en-US" sz="11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A704C47-9F73-D96C-0E29-5A2373F18F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5013" y="5008475"/>
            <a:ext cx="1643635" cy="605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23738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12. </a:t>
            </a:r>
            <a:r>
              <a:rPr lang="ko-KR" altLang="en-US" dirty="0"/>
              <a:t>객체를 보라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전역</a:t>
            </a:r>
            <a:r>
              <a:rPr lang="en-US" altLang="ko-KR" dirty="0"/>
              <a:t> </a:t>
            </a:r>
            <a:r>
              <a:rPr lang="ko-KR" altLang="en-US" dirty="0"/>
              <a:t>객체</a:t>
            </a:r>
            <a:r>
              <a:rPr lang="en-US" altLang="ko-KR" dirty="0"/>
              <a:t> </a:t>
            </a:r>
            <a:r>
              <a:rPr lang="en-US" altLang="ko-KR" dirty="0" err="1"/>
              <a:t>gildong</a:t>
            </a:r>
            <a:r>
              <a:rPr lang="en-US" altLang="ko-KR" dirty="0"/>
              <a:t>(</a:t>
            </a:r>
            <a:r>
              <a:rPr lang="en-US" altLang="ko-KR" dirty="0" err="1">
                <a:solidFill>
                  <a:srgbClr val="FF0000"/>
                </a:solidFill>
              </a:rPr>
              <a:t>thsApp</a:t>
            </a:r>
            <a:r>
              <a:rPr lang="en-US" altLang="ko-KR" dirty="0"/>
              <a:t>)</a:t>
            </a:r>
            <a:r>
              <a:rPr lang="ko-KR" altLang="en-US" dirty="0"/>
              <a:t>이를 찾아라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클래스를 보지 말고 객체를 보라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클래스 지향이 아닌 객체 지향 프로그래밍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8458</TotalTime>
  <Words>2371</Words>
  <Application>Microsoft Office PowerPoint</Application>
  <PresentationFormat>화면 슬라이드 쇼(4:3)</PresentationFormat>
  <Paragraphs>552</Paragraphs>
  <Slides>36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8" baseType="lpstr">
      <vt:lpstr>KoPub돋움체 Bold</vt:lpstr>
      <vt:lpstr>Rix고딕 B</vt:lpstr>
      <vt:lpstr>Rix고딕 M</vt:lpstr>
      <vt:lpstr>굴림</vt:lpstr>
      <vt:lpstr>나눔고딕</vt:lpstr>
      <vt:lpstr>돋움</vt:lpstr>
      <vt:lpstr>돋움체</vt:lpstr>
      <vt:lpstr>에스코어 드림 4 Regular</vt:lpstr>
      <vt:lpstr>Arial</vt:lpstr>
      <vt:lpstr>Cambria Math</vt:lpstr>
      <vt:lpstr>Wingdings</vt:lpstr>
      <vt:lpstr>Office 테마</vt:lpstr>
      <vt:lpstr>제6장  응용 프레임워크와  가상함수의 만남</vt:lpstr>
      <vt:lpstr>1. 응용 프로그램들이 비슷한 이유</vt:lpstr>
      <vt:lpstr>1. 응용 프로그램들이 비슷한 이유</vt:lpstr>
      <vt:lpstr>이미 많은 코드(응용 프레임워크)가  준비되어 있다.    여기에 살만 붙이자.     이제부터 우리가 공부할 내용은? → 응용 프레임워크 이해 → 살을 붙이는 방법</vt:lpstr>
      <vt:lpstr>2. Console4 프로젝트 생성</vt:lpstr>
      <vt:lpstr>3. CBase를 항상 작성해야 한다면</vt:lpstr>
      <vt:lpstr>PowerPoint 프레젠테이션</vt:lpstr>
      <vt:lpstr>4. 마음에 들지 않으면?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5. 상상력 발휘하기</vt:lpstr>
      <vt:lpstr>PowerPoint 프레젠테이션</vt:lpstr>
      <vt:lpstr>5. 상상력 발휘하기</vt:lpstr>
      <vt:lpstr>5. 상상력 발휘하기</vt:lpstr>
      <vt:lpstr>PowerPoint 프레젠테이션</vt:lpstr>
      <vt:lpstr>5. 상상력 발휘하기</vt:lpstr>
      <vt:lpstr>5. 상상력 발휘하기</vt:lpstr>
      <vt:lpstr>5. 상상력 발휘하기</vt:lpstr>
      <vt:lpstr>6. 가상함수의 위력</vt:lpstr>
      <vt:lpstr>PowerPoint 프레젠테이션</vt:lpstr>
      <vt:lpstr>PowerPoint 프레젠테이션</vt:lpstr>
      <vt:lpstr>7. MFC와 가상함수</vt:lpstr>
      <vt:lpstr>PowerPoint 프레젠테이션</vt:lpstr>
      <vt:lpstr>PowerPoint 프레젠테이션</vt:lpstr>
      <vt:lpstr>PowerPoint 프레젠테이션</vt:lpstr>
      <vt:lpstr>8. 가상함수와 응용 프레임워크</vt:lpstr>
      <vt:lpstr>8. 가상함수와 응용 프레임워크</vt:lpstr>
      <vt:lpstr>9. 코드 분할 및 정리</vt:lpstr>
      <vt:lpstr>10. MFC 라이브러리 이용하기</vt:lpstr>
      <vt:lpstr>11. Visual C++ 프로그래밍</vt:lpstr>
      <vt:lpstr>12. 객체를 보라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Microsoft Corporation</dc:creator>
  <cp:lastModifiedBy>변영철</cp:lastModifiedBy>
  <cp:revision>184</cp:revision>
  <dcterms:created xsi:type="dcterms:W3CDTF">2006-10-05T04:04:58Z</dcterms:created>
  <dcterms:modified xsi:type="dcterms:W3CDTF">2026-04-02T00:59:16Z</dcterms:modified>
</cp:coreProperties>
</file>